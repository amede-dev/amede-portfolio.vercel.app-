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13.svg" ContentType="image/sv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57.png" ContentType="image/png"/>
  <Override PartName="/ppt/media/image18.png" ContentType="image/png"/>
  <Override PartName="/ppt/media/image17.svg" ContentType="image/svg"/>
  <Override PartName="/ppt/media/image16.png" ContentType="image/png"/>
  <Override PartName="/ppt/media/image14.png" ContentType="image/png"/>
  <Override PartName="/ppt/media/image2.svg" ContentType="image/svg"/>
  <Override PartName="/ppt/media/image10.png" ContentType="image/png"/>
  <Override PartName="/ppt/media/image47.png" ContentType="image/png"/>
  <Override PartName="/ppt/media/image4.png" ContentType="image/png"/>
  <Override PartName="/ppt/media/image36.png" ContentType="image/png"/>
  <Override PartName="/ppt/media/image5.svg" ContentType="image/svg"/>
  <Override PartName="/ppt/media/image8.png" ContentType="image/png"/>
  <Override PartName="/ppt/media/image3.png" ContentType="image/png"/>
  <Override PartName="/ppt/media/image35.png" ContentType="image/png"/>
  <Override PartName="/ppt/media/image12.png" ContentType="image/png"/>
  <Override PartName="/ppt/media/image49.png" ContentType="image/png"/>
  <Override PartName="/ppt/media/image45.png" ContentType="image/png"/>
  <Override PartName="/ppt/media/image46.png" ContentType="image/png"/>
  <Override PartName="/ppt/media/image50.png" ContentType="image/png"/>
  <Override PartName="/ppt/media/image11.png" ContentType="image/png"/>
  <Override PartName="/ppt/media/image48.png" ContentType="image/png"/>
  <Override PartName="/ppt/media/image51.png" ContentType="image/png"/>
  <Override PartName="/ppt/media/image52.png" ContentType="image/png"/>
  <Override PartName="/ppt/media/image41.png" ContentType="image/png"/>
  <Override PartName="/ppt/media/image39.png" ContentType="image/png"/>
  <Override PartName="/ppt/media/image53.png" ContentType="image/png"/>
  <Override PartName="/ppt/media/image42.png" ContentType="image/png"/>
  <Override PartName="/ppt/media/image15.png" ContentType="image/png"/>
  <Override PartName="/ppt/media/image7.svg" ContentType="image/svg"/>
  <Override PartName="/ppt/media/image54.png" ContentType="image/png"/>
  <Override PartName="/ppt/media/image43.png" ContentType="image/png"/>
  <Override PartName="/ppt/media/image55.png" ContentType="image/png"/>
  <Override PartName="/ppt/media/image44.png" ContentType="image/png"/>
  <Override PartName="/ppt/media/image9.svg" ContentType="image/svg"/>
  <Override PartName="/ppt/media/image56.png" ContentType="image/png"/>
  <Override PartName="/ppt/media/image40.png" ContentType="image/png"/>
  <Override PartName="/ppt/media/image6.png" ContentType="image/png"/>
  <Override PartName="/ppt/media/image38.png" ContentType="image/png"/>
  <Override PartName="/ppt/media/image37.png" ContentType="image/png"/>
  <Override PartName="/ppt/media/image34.png" ContentType="image/png"/>
  <Override PartName="/ppt/media/image32.png" ContentType="image/png"/>
  <Override PartName="/ppt/media/image31.png" ContentType="image/png"/>
  <Override PartName="/ppt/media/image30.png" ContentType="image/png"/>
  <Override PartName="/ppt/media/image1.png" ContentType="image/png"/>
  <Override PartName="/ppt/media/image33.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Cliquez pour déplacer la diapo</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0BE5F146-801C-43A2-A247-5133C6E9BD99}"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593" name="PlaceHolder 2"/>
          <p:cNvSpPr>
            <a:spLocks noGrp="1"/>
          </p:cNvSpPr>
          <p:nvPr>
            <p:ph type="dt" idx="3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594" name="PlaceHolder 3"/>
          <p:cNvSpPr>
            <a:spLocks noGrp="1"/>
          </p:cNvSpPr>
          <p:nvPr>
            <p:ph type="sldImg"/>
          </p:nvPr>
        </p:nvSpPr>
        <p:spPr>
          <a:xfrm>
            <a:off x="2857680" y="512640"/>
            <a:ext cx="3428640" cy="2566800"/>
          </a:xfrm>
          <a:prstGeom prst="rect">
            <a:avLst/>
          </a:prstGeom>
          <a:ln w="0">
            <a:noFill/>
          </a:ln>
        </p:spPr>
      </p:sp>
      <p:sp>
        <p:nvSpPr>
          <p:cNvPr id="595"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Bonjour à tous. Aujourd'hui, nous sommes le groupe 9 et abordons le chapitre 8 : la sécurité Web IoT. présenter par moi je suis RAKOTONANDRASANA Amedé et ma collègue LAHISAMBATRA Armando alex row-man andré</a:t>
            </a:r>
            <a:endParaRPr b="0" lang="fr-FR" sz="2000" spc="-1" strike="noStrike">
              <a:solidFill>
                <a:srgbClr val="000000"/>
              </a:solidFill>
              <a:latin typeface="Arial"/>
            </a:endParaRPr>
          </a:p>
        </p:txBody>
      </p:sp>
      <p:sp>
        <p:nvSpPr>
          <p:cNvPr id="596" name="PlaceHolder 5"/>
          <p:cNvSpPr>
            <a:spLocks noGrp="1"/>
          </p:cNvSpPr>
          <p:nvPr>
            <p:ph type="ftr" idx="38"/>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597" name="PlaceHolder 6"/>
          <p:cNvSpPr>
            <a:spLocks noGrp="1"/>
          </p:cNvSpPr>
          <p:nvPr>
            <p:ph type="sldNum" idx="3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599" name="PlaceHolder 2"/>
          <p:cNvSpPr>
            <a:spLocks noGrp="1"/>
          </p:cNvSpPr>
          <p:nvPr>
            <p:ph type="dt" idx="4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00" name="PlaceHolder 3"/>
          <p:cNvSpPr>
            <a:spLocks noGrp="1"/>
          </p:cNvSpPr>
          <p:nvPr>
            <p:ph type="sldImg"/>
          </p:nvPr>
        </p:nvSpPr>
        <p:spPr>
          <a:xfrm>
            <a:off x="2857680" y="512640"/>
            <a:ext cx="3428640" cy="2566800"/>
          </a:xfrm>
          <a:prstGeom prst="rect">
            <a:avLst/>
          </a:prstGeom>
          <a:ln w="0">
            <a:noFill/>
          </a:ln>
        </p:spPr>
      </p:sp>
      <p:sp>
        <p:nvSpPr>
          <p:cNvPr id="601"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Voici le plan de notre chapitre, organisé en six grandes parties. Nous commencerons par le contexte et les enjeux de l'IoT,Nous verrons ensuite les principales menaces,Nous étudierons les protocoles de sécurité . Puis nous aborderons l'authentification et l'identité. Nous parlerons ensuite du chiffrement des données, qu'il soit symétrique. Et nous terminerons par les bonnes pratiques et les standards reconnus comme le NIST.</a:t>
            </a:r>
            <a:endParaRPr b="0" lang="fr-FR" sz="2000" spc="-1" strike="noStrike">
              <a:solidFill>
                <a:srgbClr val="000000"/>
              </a:solidFill>
              <a:latin typeface="Arial"/>
            </a:endParaRPr>
          </a:p>
        </p:txBody>
      </p:sp>
      <p:sp>
        <p:nvSpPr>
          <p:cNvPr id="602" name="PlaceHolder 5"/>
          <p:cNvSpPr>
            <a:spLocks noGrp="1"/>
          </p:cNvSpPr>
          <p:nvPr>
            <p:ph type="ftr" idx="41"/>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03" name="PlaceHolder 6"/>
          <p:cNvSpPr>
            <a:spLocks noGrp="1"/>
          </p:cNvSpPr>
          <p:nvPr>
            <p:ph type="sldNum" idx="4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05" name="PlaceHolder 2"/>
          <p:cNvSpPr>
            <a:spLocks noGrp="1"/>
          </p:cNvSpPr>
          <p:nvPr>
            <p:ph type="dt" idx="4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06" name="PlaceHolder 3"/>
          <p:cNvSpPr>
            <a:spLocks noGrp="1"/>
          </p:cNvSpPr>
          <p:nvPr>
            <p:ph type="sldImg"/>
          </p:nvPr>
        </p:nvSpPr>
        <p:spPr>
          <a:xfrm>
            <a:off x="2857680" y="512640"/>
            <a:ext cx="3428640" cy="2566800"/>
          </a:xfrm>
          <a:prstGeom prst="rect">
            <a:avLst/>
          </a:prstGeom>
          <a:ln w="0">
            <a:noFill/>
          </a:ln>
        </p:spPr>
      </p:sp>
      <p:sp>
        <p:nvSpPr>
          <p:cNvPr id="607"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 ici en 2030, il y aura 30 milliards d'appareils connectés dans le monde. Mais 75% des réseaux intégrant des objets IoT ne sont pas correctement sécurisés, et 57% des appareils présentent des vulnérabilités critiques.</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Pour comprendre ces failles, il faut regarder l'architecture  d'un système IoT, organisée en trois couches.1- perception c'est le matériel physique.2- réseau assure la communication via Wi-Fi... qui relient les objets à Internet. Enfin,3- application, correspond aux plateformes.</a:t>
            </a:r>
            <a:endParaRPr b="0" lang="fr-FR" sz="2000" spc="-1" strike="noStrike">
              <a:solidFill>
                <a:srgbClr val="000000"/>
              </a:solidFill>
              <a:latin typeface="Arial"/>
            </a:endParaRPr>
          </a:p>
        </p:txBody>
      </p:sp>
      <p:sp>
        <p:nvSpPr>
          <p:cNvPr id="608" name="PlaceHolder 5"/>
          <p:cNvSpPr>
            <a:spLocks noGrp="1"/>
          </p:cNvSpPr>
          <p:nvPr>
            <p:ph type="ftr" idx="44"/>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09" name="PlaceHolder 6"/>
          <p:cNvSpPr>
            <a:spLocks noGrp="1"/>
          </p:cNvSpPr>
          <p:nvPr>
            <p:ph type="sldNum" idx="4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11" name="PlaceHolder 2"/>
          <p:cNvSpPr>
            <a:spLocks noGrp="1"/>
          </p:cNvSpPr>
          <p:nvPr>
            <p:ph type="dt" idx="4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12" name="PlaceHolder 3"/>
          <p:cNvSpPr>
            <a:spLocks noGrp="1"/>
          </p:cNvSpPr>
          <p:nvPr>
            <p:ph type="sldImg"/>
          </p:nvPr>
        </p:nvSpPr>
        <p:spPr>
          <a:xfrm>
            <a:off x="2857680" y="512640"/>
            <a:ext cx="3428640" cy="2566800"/>
          </a:xfrm>
          <a:prstGeom prst="rect">
            <a:avLst/>
          </a:prstGeom>
          <a:ln w="0">
            <a:noFill/>
          </a:ln>
        </p:spPr>
      </p:sp>
      <p:sp>
        <p:nvSpPr>
          <p:cNvPr id="613"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voici les  dix menaces les plus critiques spécifiques à l'IoT. En tête, on retrouve les mots de passe faibles,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-Viennent ensuite les services réseau non sécurisés, les interfaces d'écosystème non sécurisées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t>
            </a:r>
            <a:r>
              <a:rPr b="0" lang="en-US" sz="2000" spc="-1" strike="noStrike">
                <a:solidFill>
                  <a:srgbClr val="000000"/>
                </a:solidFill>
                <a:latin typeface="Arial"/>
              </a:rPr>
              <a:t>l'absence de mécanismes de mise à jour, et l'utilisation de composants obsolètes ou non sécurisés.on trouve une protection insuffisante de la vie privée, un transfert et stockage de données non sécurisé, un manque de gestion des appareils une fois déployés, des paramètres par défaut non sécurisés, et enfin l'absence de durcissement physique</a:t>
            </a:r>
            <a:endParaRPr b="0" lang="fr-FR" sz="2000" spc="-1" strike="noStrike">
              <a:solidFill>
                <a:srgbClr val="000000"/>
              </a:solidFill>
              <a:latin typeface="Arial"/>
            </a:endParaRPr>
          </a:p>
        </p:txBody>
      </p:sp>
      <p:sp>
        <p:nvSpPr>
          <p:cNvPr id="614" name="PlaceHolder 5"/>
          <p:cNvSpPr>
            <a:spLocks noGrp="1"/>
          </p:cNvSpPr>
          <p:nvPr>
            <p:ph type="ftr" idx="47"/>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15" name="PlaceHolder 6"/>
          <p:cNvSpPr>
            <a:spLocks noGrp="1"/>
          </p:cNvSpPr>
          <p:nvPr>
            <p:ph type="sldNum" idx="4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17" name="PlaceHolder 2"/>
          <p:cNvSpPr>
            <a:spLocks noGrp="1"/>
          </p:cNvSpPr>
          <p:nvPr>
            <p:ph type="dt" idx="49"/>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18" name="PlaceHolder 3"/>
          <p:cNvSpPr>
            <a:spLocks noGrp="1"/>
          </p:cNvSpPr>
          <p:nvPr>
            <p:ph type="sldImg"/>
          </p:nvPr>
        </p:nvSpPr>
        <p:spPr>
          <a:xfrm>
            <a:off x="2857680" y="512640"/>
            <a:ext cx="3428640" cy="2566800"/>
          </a:xfrm>
          <a:prstGeom prst="rect">
            <a:avLst/>
          </a:prstGeom>
          <a:ln w="0">
            <a:noFill/>
          </a:ln>
        </p:spPr>
      </p:sp>
      <p:sp>
        <p:nvSpPr>
          <p:cNvPr id="619"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voici les quatres grandes familles de vecteurs d'attaque. Premièrement, les attaques Man-in-the-Middle, où un attaquant intercepte le trafic non chiffré, injecte des commandes malveillantes... Deuxièmement, les attaques par déni de service, qui saturent les ressources limitées des objets IoT...</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Troisièmement, les attaques ciblant le firmware : extraction et analyse du firmware, backdoors cachées dans des composants tiers... Enfin, l'exploitation des APIs Web via des injections SQL ou NoSQL.</a:t>
            </a:r>
            <a:endParaRPr b="0" lang="fr-FR" sz="2000" spc="-1" strike="noStrike">
              <a:solidFill>
                <a:srgbClr val="000000"/>
              </a:solidFill>
              <a:latin typeface="Arial"/>
            </a:endParaRPr>
          </a:p>
        </p:txBody>
      </p:sp>
      <p:sp>
        <p:nvSpPr>
          <p:cNvPr id="620" name="PlaceHolder 5"/>
          <p:cNvSpPr>
            <a:spLocks noGrp="1"/>
          </p:cNvSpPr>
          <p:nvPr>
            <p:ph type="ftr" idx="50"/>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21" name="PlaceHolder 6"/>
          <p:cNvSpPr>
            <a:spLocks noGrp="1"/>
          </p:cNvSpPr>
          <p:nvPr>
            <p:ph type="sldNum" idx="51"/>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23" name="PlaceHolder 2"/>
          <p:cNvSpPr>
            <a:spLocks noGrp="1"/>
          </p:cNvSpPr>
          <p:nvPr>
            <p:ph type="dt" idx="52"/>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24" name="PlaceHolder 3"/>
          <p:cNvSpPr>
            <a:spLocks noGrp="1"/>
          </p:cNvSpPr>
          <p:nvPr>
            <p:ph type="sldImg"/>
          </p:nvPr>
        </p:nvSpPr>
        <p:spPr>
          <a:xfrm>
            <a:off x="2857680" y="512640"/>
            <a:ext cx="3428640" cy="2566800"/>
          </a:xfrm>
          <a:prstGeom prst="rect">
            <a:avLst/>
          </a:prstGeom>
          <a:ln w="0">
            <a:noFill/>
          </a:ln>
        </p:spPr>
      </p:sp>
      <p:sp>
        <p:nvSpPr>
          <p:cNvPr id="625"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Passons maintenant aux protocoles utilisés pour sécuriser les communications IoT</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MQTT sur TLS, sur le port 8883</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CoAP sur DTLS, port 5684, est adapté aux appareils très contraints et fonctionne sur UDP, mais il reste moins mature que TLS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HTTPS/REST, le protocole le plus répandu sur le port 443, bénéficie d'un écosystème riche avec OAuth2 et JWT natifs</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Enfin, AMQP sur TLS offre des transactions fiables et une file persistante chiffrée, mais il est  plutôt recommandé côté cloud.</a:t>
            </a:r>
            <a:endParaRPr b="0" lang="fr-FR" sz="2000" spc="-1" strike="noStrike">
              <a:solidFill>
                <a:srgbClr val="000000"/>
              </a:solidFill>
              <a:latin typeface="Arial"/>
            </a:endParaRPr>
          </a:p>
        </p:txBody>
      </p:sp>
      <p:sp>
        <p:nvSpPr>
          <p:cNvPr id="626" name="PlaceHolder 5"/>
          <p:cNvSpPr>
            <a:spLocks noGrp="1"/>
          </p:cNvSpPr>
          <p:nvPr>
            <p:ph type="ftr" idx="53"/>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27" name="PlaceHolder 6"/>
          <p:cNvSpPr>
            <a:spLocks noGrp="1"/>
          </p:cNvSpPr>
          <p:nvPr>
            <p:ph type="sldNum" idx="54"/>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29" name="PlaceHolder 2"/>
          <p:cNvSpPr>
            <a:spLocks noGrp="1"/>
          </p:cNvSpPr>
          <p:nvPr>
            <p:ph type="dt" idx="55"/>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30" name="PlaceHolder 3"/>
          <p:cNvSpPr>
            <a:spLocks noGrp="1"/>
          </p:cNvSpPr>
          <p:nvPr>
            <p:ph type="sldImg"/>
          </p:nvPr>
        </p:nvSpPr>
        <p:spPr>
          <a:xfrm>
            <a:off x="2857680" y="512640"/>
            <a:ext cx="3428640" cy="2566800"/>
          </a:xfrm>
          <a:prstGeom prst="rect">
            <a:avLst/>
          </a:prstGeom>
          <a:ln w="0">
            <a:noFill/>
          </a:ln>
        </p:spPr>
      </p:sp>
      <p:sp>
        <p:nvSpPr>
          <p:cNvPr id="631"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TLS et DTLS forment le socle du chiffrement dans l'IoT. À gauche, on voit le déroulement simplifié d'une négociation TLS 1.3 : le client envoie un ClientHello avec les groupes cryptographiques supportés, le serveur répond avec un ServerHello et son certificat, puis vient l'étape de vérification du certificat, et enfin l'échange se termine avec des données chiffrées.</a:t>
            </a:r>
            <a:endParaRPr b="0" lang="fr-FR" sz="2000" spc="-1" strike="noStrike">
              <a:solidFill>
                <a:srgbClr val="000000"/>
              </a:solidFill>
              <a:latin typeface="Arial"/>
            </a:endParaRPr>
          </a:p>
          <a:p>
            <a:pPr marL="216000" indent="0">
              <a:lnSpc>
                <a:spcPct val="100000"/>
              </a:lnSpc>
              <a:buNone/>
            </a:pP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À droite, un tableau compare TLS et DTLS</a:t>
            </a:r>
            <a:endParaRPr b="0" lang="fr-FR" sz="2000" spc="-1" strike="noStrike">
              <a:solidFill>
                <a:srgbClr val="000000"/>
              </a:solidFill>
              <a:latin typeface="Arial"/>
            </a:endParaRPr>
          </a:p>
        </p:txBody>
      </p:sp>
      <p:sp>
        <p:nvSpPr>
          <p:cNvPr id="632" name="PlaceHolder 5"/>
          <p:cNvSpPr>
            <a:spLocks noGrp="1"/>
          </p:cNvSpPr>
          <p:nvPr>
            <p:ph type="ftr" idx="56"/>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33" name="PlaceHolder 6"/>
          <p:cNvSpPr>
            <a:spLocks noGrp="1"/>
          </p:cNvSpPr>
          <p:nvPr>
            <p:ph type="sldNum" idx="57"/>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35" name="PlaceHolder 2"/>
          <p:cNvSpPr>
            <a:spLocks noGrp="1"/>
          </p:cNvSpPr>
          <p:nvPr>
            <p:ph type="dt" idx="58"/>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36" name="PlaceHolder 3"/>
          <p:cNvSpPr>
            <a:spLocks noGrp="1"/>
          </p:cNvSpPr>
          <p:nvPr>
            <p:ph type="sldImg"/>
          </p:nvPr>
        </p:nvSpPr>
        <p:spPr>
          <a:xfrm>
            <a:off x="2857680" y="512640"/>
            <a:ext cx="3428640" cy="2566800"/>
          </a:xfrm>
          <a:prstGeom prst="rect">
            <a:avLst/>
          </a:prstGeom>
          <a:ln w="0">
            <a:noFill/>
          </a:ln>
        </p:spPr>
      </p:sp>
      <p:sp>
        <p:nvSpPr>
          <p:cNvPr id="637"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L'authentification repose beaucoup sur les JSON Web Tokens. Un JWT est composé de trois parties : un header qui précise l'algorithme de signature, un payload qui contient les informations comme l'identifiant de l'appareil, l'émetteur et les droits d'accès,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et une signature qui garantit l'intégrité du tout.</a:t>
            </a:r>
            <a:endParaRPr b="0" lang="fr-FR" sz="2000" spc="-1" strike="noStrike">
              <a:solidFill>
                <a:srgbClr val="000000"/>
              </a:solidFill>
              <a:latin typeface="Arial"/>
            </a:endParaRPr>
          </a:p>
          <a:p>
            <a:pPr marL="216000" indent="0">
              <a:lnSpc>
                <a:spcPct val="100000"/>
              </a:lnSpc>
              <a:buNone/>
            </a:pP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À droite, on voit le flux OAuth 2.0 adapté à l'IoT, </a:t>
            </a:r>
            <a:endParaRPr b="0" lang="fr-FR" sz="2000" spc="-1" strike="noStrike">
              <a:solidFill>
                <a:srgbClr val="000000"/>
              </a:solidFill>
              <a:latin typeface="Arial"/>
            </a:endParaRPr>
          </a:p>
        </p:txBody>
      </p:sp>
      <p:sp>
        <p:nvSpPr>
          <p:cNvPr id="638" name="PlaceHolder 5"/>
          <p:cNvSpPr>
            <a:spLocks noGrp="1"/>
          </p:cNvSpPr>
          <p:nvPr>
            <p:ph type="ftr" idx="59"/>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39" name="PlaceHolder 6"/>
          <p:cNvSpPr>
            <a:spLocks noGrp="1"/>
          </p:cNvSpPr>
          <p:nvPr>
            <p:ph type="sldNum" idx="60"/>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41" name="PlaceHolder 2"/>
          <p:cNvSpPr>
            <a:spLocks noGrp="1"/>
          </p:cNvSpPr>
          <p:nvPr>
            <p:ph type="dt" idx="61"/>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42" name="PlaceHolder 3"/>
          <p:cNvSpPr>
            <a:spLocks noGrp="1"/>
          </p:cNvSpPr>
          <p:nvPr>
            <p:ph type="sldImg"/>
          </p:nvPr>
        </p:nvSpPr>
        <p:spPr>
          <a:xfrm>
            <a:off x="2857680" y="512640"/>
            <a:ext cx="3428640" cy="2566800"/>
          </a:xfrm>
          <a:prstGeom prst="rect">
            <a:avLst/>
          </a:prstGeom>
          <a:ln w="0">
            <a:noFill/>
          </a:ln>
        </p:spPr>
      </p:sp>
      <p:sp>
        <p:nvSpPr>
          <p:cNvPr id="643"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Pour le chiffrement,Le chiffrement symétrique, comme AES-256-GCM, est très rapide et adapté aux données en transit, mais pose le problème de la distribution sécurisée de la clé.</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Le chiffrement asymétrique, comme RSA-2048 ou ECDH, évite d'avoir un secret partagé initial mais..</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légere comme ChaCha20-Poly1305, rapides même sans accélération matérielle AES</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Enfin, le hachage, avec SHA-256 ou HMAC, sert à garantir l'intégrité des données et à signer les JWT mais...</a:t>
            </a:r>
            <a:endParaRPr b="0" lang="fr-FR" sz="2000" spc="-1" strike="noStrike">
              <a:solidFill>
                <a:srgbClr val="000000"/>
              </a:solidFill>
              <a:latin typeface="Arial"/>
            </a:endParaRPr>
          </a:p>
        </p:txBody>
      </p:sp>
      <p:sp>
        <p:nvSpPr>
          <p:cNvPr id="644" name="PlaceHolder 5"/>
          <p:cNvSpPr>
            <a:spLocks noGrp="1"/>
          </p:cNvSpPr>
          <p:nvPr>
            <p:ph type="ftr" idx="62"/>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45" name="PlaceHolder 6"/>
          <p:cNvSpPr>
            <a:spLocks noGrp="1"/>
          </p:cNvSpPr>
          <p:nvPr>
            <p:ph type="sldNum" idx="63"/>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47" name="PlaceHolder 2"/>
          <p:cNvSpPr>
            <a:spLocks noGrp="1"/>
          </p:cNvSpPr>
          <p:nvPr>
            <p:ph type="dt" idx="64"/>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48" name="PlaceHolder 3"/>
          <p:cNvSpPr>
            <a:spLocks noGrp="1"/>
          </p:cNvSpPr>
          <p:nvPr>
            <p:ph type="sldImg"/>
          </p:nvPr>
        </p:nvSpPr>
        <p:spPr>
          <a:xfrm>
            <a:off x="2857680" y="512640"/>
            <a:ext cx="3428640" cy="2566800"/>
          </a:xfrm>
          <a:prstGeom prst="rect">
            <a:avLst/>
          </a:prstGeom>
          <a:ln w="0">
            <a:noFill/>
          </a:ln>
        </p:spPr>
      </p:sp>
      <p:sp>
        <p:nvSpPr>
          <p:cNvPr id="649"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Voici nos recommandations. Côté conception, il faut intégrer l'authentification forte dès le démarrage via un Secure Boot,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Côté déploiement, il est impératif de changer tous les mots de passe par défaut,</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Pour la communication, on recommande TLS 1.3 minimum en désactivant les anciennes versions</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t>
            </a:r>
            <a:r>
              <a:rPr b="0" lang="en-US" sz="2000" spc="-1" strike="noStrike">
                <a:solidFill>
                  <a:srgbClr val="000000"/>
                </a:solidFill>
                <a:latin typeface="Arial"/>
              </a:rPr>
              <a:t>Enfin, il existe des standards de référence à connaître : le NIST SP 800-213 pour les entreprises</a:t>
            </a:r>
            <a:endParaRPr b="0" lang="fr-FR" sz="2000" spc="-1" strike="noStrike">
              <a:solidFill>
                <a:srgbClr val="000000"/>
              </a:solidFill>
              <a:latin typeface="Arial"/>
            </a:endParaRPr>
          </a:p>
        </p:txBody>
      </p:sp>
      <p:sp>
        <p:nvSpPr>
          <p:cNvPr id="650" name="PlaceHolder 5"/>
          <p:cNvSpPr>
            <a:spLocks noGrp="1"/>
          </p:cNvSpPr>
          <p:nvPr>
            <p:ph type="ftr" idx="65"/>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51" name="PlaceHolder 6"/>
          <p:cNvSpPr>
            <a:spLocks noGrp="1"/>
          </p:cNvSpPr>
          <p:nvPr>
            <p:ph type="sldNum" idx="66"/>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53" name="PlaceHolder 2"/>
          <p:cNvSpPr>
            <a:spLocks noGrp="1"/>
          </p:cNvSpPr>
          <p:nvPr>
            <p:ph type="dt" idx="6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54" name="PlaceHolder 3"/>
          <p:cNvSpPr>
            <a:spLocks noGrp="1"/>
          </p:cNvSpPr>
          <p:nvPr>
            <p:ph type="sldImg"/>
          </p:nvPr>
        </p:nvSpPr>
        <p:spPr>
          <a:xfrm>
            <a:off x="2857680" y="512640"/>
            <a:ext cx="3428640" cy="2566800"/>
          </a:xfrm>
          <a:prstGeom prst="rect">
            <a:avLst/>
          </a:prstGeom>
          <a:ln w="0">
            <a:noFill/>
          </a:ln>
        </p:spPr>
      </p:sp>
      <p:sp>
        <p:nvSpPr>
          <p:cNvPr id="655"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Nous allons maintenant illustrer concrètement ces menaces à travers quatre démonstrations : une attaque Man-in-the-Middle sur MQTT, une falsification de JWT, une analyse de firmware, et enfin un durcissement de configuration TLS. Chaque démonstration suit le même schéma : on montre la vulnérabilité, puis la correction.</a:t>
            </a:r>
            <a:endParaRPr b="0" lang="fr-FR" sz="2000" spc="-1" strike="noStrike">
              <a:solidFill>
                <a:srgbClr val="000000"/>
              </a:solidFill>
              <a:latin typeface="Arial"/>
            </a:endParaRPr>
          </a:p>
        </p:txBody>
      </p:sp>
      <p:sp>
        <p:nvSpPr>
          <p:cNvPr id="656" name="PlaceHolder 5"/>
          <p:cNvSpPr>
            <a:spLocks noGrp="1"/>
          </p:cNvSpPr>
          <p:nvPr>
            <p:ph type="ftr" idx="68"/>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57" name="PlaceHolder 6"/>
          <p:cNvSpPr>
            <a:spLocks noGrp="1"/>
          </p:cNvSpPr>
          <p:nvPr>
            <p:ph type="sldNum" idx="6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59" name="PlaceHolder 2"/>
          <p:cNvSpPr>
            <a:spLocks noGrp="1"/>
          </p:cNvSpPr>
          <p:nvPr>
            <p:ph type="dt" idx="7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60" name="PlaceHolder 3"/>
          <p:cNvSpPr>
            <a:spLocks noGrp="1"/>
          </p:cNvSpPr>
          <p:nvPr>
            <p:ph type="sldImg"/>
          </p:nvPr>
        </p:nvSpPr>
        <p:spPr>
          <a:xfrm>
            <a:off x="2857680" y="512640"/>
            <a:ext cx="3428640" cy="2566800"/>
          </a:xfrm>
          <a:prstGeom prst="rect">
            <a:avLst/>
          </a:prstGeom>
          <a:ln w="0">
            <a:noFill/>
          </a:ln>
        </p:spPr>
      </p:sp>
      <p:sp>
        <p:nvSpPr>
          <p:cNvPr id="661"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Notre premier scénario montre ce qui se passe quand un capteur IoT publie des données via MQTT sans TLS, sur le port 1883 par défaut. Un attaquant placé sur le même réseau, avec un simple outil comme Wireshark, peut intercepter tout le trafic entre le capteur et le broker MQTT.</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Avant, sur le port 1883 non chiffré, les données  : n'importe qui sur le réseau peut les lire. Après, en basculant sur le port 8883 avec TLS, ce même trafic devient illisible sans la clé privée. Nous démontrons ce contraste en direct au terminal.</a:t>
            </a:r>
            <a:endParaRPr b="0" lang="fr-FR" sz="2000" spc="-1" strike="noStrike">
              <a:solidFill>
                <a:srgbClr val="000000"/>
              </a:solidFill>
              <a:latin typeface="Arial"/>
            </a:endParaRPr>
          </a:p>
        </p:txBody>
      </p:sp>
      <p:sp>
        <p:nvSpPr>
          <p:cNvPr id="662" name="PlaceHolder 5"/>
          <p:cNvSpPr>
            <a:spLocks noGrp="1"/>
          </p:cNvSpPr>
          <p:nvPr>
            <p:ph type="ftr" idx="71"/>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63" name="PlaceHolder 6"/>
          <p:cNvSpPr>
            <a:spLocks noGrp="1"/>
          </p:cNvSpPr>
          <p:nvPr>
            <p:ph type="sldNum" idx="7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65" name="PlaceHolder 2"/>
          <p:cNvSpPr>
            <a:spLocks noGrp="1"/>
          </p:cNvSpPr>
          <p:nvPr>
            <p:ph type="dt" idx="7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66" name="PlaceHolder 3"/>
          <p:cNvSpPr>
            <a:spLocks noGrp="1"/>
          </p:cNvSpPr>
          <p:nvPr>
            <p:ph type="sldImg"/>
          </p:nvPr>
        </p:nvSpPr>
        <p:spPr>
          <a:xfrm>
            <a:off x="2857680" y="512640"/>
            <a:ext cx="3428640" cy="2566800"/>
          </a:xfrm>
          <a:prstGeom prst="rect">
            <a:avLst/>
          </a:prstGeom>
          <a:ln w="0">
            <a:noFill/>
          </a:ln>
        </p:spPr>
      </p:sp>
      <p:sp>
        <p:nvSpPr>
          <p:cNvPr id="667"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Notre deuxième démonstration concerne  l'implémentation des JWT : certaines APIs mal configurées acceptent un token avec l'algorithme "none", nous générons un token contenant alg: none et role: admin, sans aucune signature et ce token reste syntaxiquement valide et accepté par le serveur vulnérable. Cela permet à un attaquant de s'octroyer des droits administrateur sans aucune authentification réelle.</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correction consiste à configurer le serveur pour qu'il exige un algorithme de signature obligatoire, comme HS256</a:t>
            </a:r>
            <a:endParaRPr b="0" lang="fr-FR" sz="2000" spc="-1" strike="noStrike">
              <a:solidFill>
                <a:srgbClr val="000000"/>
              </a:solidFill>
              <a:latin typeface="Arial"/>
            </a:endParaRPr>
          </a:p>
        </p:txBody>
      </p:sp>
      <p:sp>
        <p:nvSpPr>
          <p:cNvPr id="668" name="PlaceHolder 5"/>
          <p:cNvSpPr>
            <a:spLocks noGrp="1"/>
          </p:cNvSpPr>
          <p:nvPr>
            <p:ph type="ftr" idx="74"/>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69" name="PlaceHolder 6"/>
          <p:cNvSpPr>
            <a:spLocks noGrp="1"/>
          </p:cNvSpPr>
          <p:nvPr>
            <p:ph type="sldNum" idx="7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71" name="PlaceHolder 2"/>
          <p:cNvSpPr>
            <a:spLocks noGrp="1"/>
          </p:cNvSpPr>
          <p:nvPr>
            <p:ph type="dt" idx="7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72" name="PlaceHolder 3"/>
          <p:cNvSpPr>
            <a:spLocks noGrp="1"/>
          </p:cNvSpPr>
          <p:nvPr>
            <p:ph type="sldImg"/>
          </p:nvPr>
        </p:nvSpPr>
        <p:spPr>
          <a:xfrm>
            <a:off x="2857680" y="512640"/>
            <a:ext cx="3428640" cy="2566800"/>
          </a:xfrm>
          <a:prstGeom prst="rect">
            <a:avLst/>
          </a:prstGeom>
          <a:ln w="0">
            <a:noFill/>
          </a:ln>
        </p:spPr>
      </p:sp>
      <p:sp>
        <p:nvSpPr>
          <p:cNvPr id="673"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troisième démonstration s'intéresse à l'analyse de firmware. En utilisant l'outil binwalk.</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Une simple recherche de mots-clés comme "password", "secret" ou "api_key" dans les fichiers extraits permet de retrouver, dans notre cas, un mot de passe MQTT et une clé AES en clair directement dans les fichiers de configuration.</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Pour éviter cela, plusieurs contre-mesures existent : le Secure Boot ; le chiffrement du firmware;l'obfuscation; l'usage  Secrets Manager ; et enfin analyse SAST</a:t>
            </a:r>
            <a:endParaRPr b="0" lang="fr-FR" sz="2000" spc="-1" strike="noStrike">
              <a:solidFill>
                <a:srgbClr val="000000"/>
              </a:solidFill>
              <a:latin typeface="Arial"/>
            </a:endParaRPr>
          </a:p>
        </p:txBody>
      </p:sp>
      <p:sp>
        <p:nvSpPr>
          <p:cNvPr id="674" name="PlaceHolder 5"/>
          <p:cNvSpPr>
            <a:spLocks noGrp="1"/>
          </p:cNvSpPr>
          <p:nvPr>
            <p:ph type="ftr" idx="77"/>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75" name="PlaceHolder 6"/>
          <p:cNvSpPr>
            <a:spLocks noGrp="1"/>
          </p:cNvSpPr>
          <p:nvPr>
            <p:ph type="sldNum" idx="7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77" name="PlaceHolder 2"/>
          <p:cNvSpPr>
            <a:spLocks noGrp="1"/>
          </p:cNvSpPr>
          <p:nvPr>
            <p:ph type="dt" idx="79"/>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78" name="PlaceHolder 3"/>
          <p:cNvSpPr>
            <a:spLocks noGrp="1"/>
          </p:cNvSpPr>
          <p:nvPr>
            <p:ph type="sldImg"/>
          </p:nvPr>
        </p:nvSpPr>
        <p:spPr>
          <a:xfrm>
            <a:off x="2857680" y="512640"/>
            <a:ext cx="3428640" cy="2566800"/>
          </a:xfrm>
          <a:prstGeom prst="rect">
            <a:avLst/>
          </a:prstGeom>
          <a:ln w="0">
            <a:noFill/>
          </a:ln>
        </p:spPr>
      </p:sp>
      <p:sp>
        <p:nvSpPr>
          <p:cNvPr id="679"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Notre dernière démonstration porte sur l'audit et configuration TLS. À l'aide de l'outil testssl.sh, nous auditons un serveur et constatons que TLS 1.0 et 1.1 sont encore actifs, avec le chiffrements faibles comme RC4 et 3DES — ce qui donne une note de sécurité médiocre.</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Après correction, on limite le serveur à TLS 1.3 uniquement, on désactive tous les chiffrements faibles, et on active HSTS pour forcer les connexions sécurisées ainsi que l'OCSP pour la vérification des certificats.</a:t>
            </a:r>
            <a:endParaRPr b="0" lang="fr-FR" sz="2000" spc="-1" strike="noStrike">
              <a:solidFill>
                <a:srgbClr val="000000"/>
              </a:solidFill>
              <a:latin typeface="Arial"/>
            </a:endParaRPr>
          </a:p>
        </p:txBody>
      </p:sp>
      <p:sp>
        <p:nvSpPr>
          <p:cNvPr id="680" name="PlaceHolder 5"/>
          <p:cNvSpPr>
            <a:spLocks noGrp="1"/>
          </p:cNvSpPr>
          <p:nvPr>
            <p:ph type="ftr" idx="80"/>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81" name="PlaceHolder 6"/>
          <p:cNvSpPr>
            <a:spLocks noGrp="1"/>
          </p:cNvSpPr>
          <p:nvPr>
            <p:ph type="sldNum" idx="81"/>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pc="-1" strike="noStrike">
              <a:solidFill>
                <a:schemeClr val="dk1"/>
              </a:solidFill>
              <a:latin typeface="+mn-lt"/>
              <a:ea typeface="+mn-ea"/>
            </a:endParaRPr>
          </a:p>
        </p:txBody>
      </p:sp>
      <p:sp>
        <p:nvSpPr>
          <p:cNvPr id="683" name="PlaceHolder 2"/>
          <p:cNvSpPr>
            <a:spLocks noGrp="1"/>
          </p:cNvSpPr>
          <p:nvPr>
            <p:ph type="dt" idx="82"/>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1.7.2013</a:t>
            </a:r>
            <a:endParaRPr b="0" lang="fr-FR" sz="1200" spc="-1" strike="noStrike">
              <a:solidFill>
                <a:srgbClr val="000000"/>
              </a:solidFill>
              <a:latin typeface="Times New Roman"/>
            </a:endParaRPr>
          </a:p>
        </p:txBody>
      </p:sp>
      <p:sp>
        <p:nvSpPr>
          <p:cNvPr id="684" name="PlaceHolder 3"/>
          <p:cNvSpPr>
            <a:spLocks noGrp="1"/>
          </p:cNvSpPr>
          <p:nvPr>
            <p:ph type="sldImg"/>
          </p:nvPr>
        </p:nvSpPr>
        <p:spPr>
          <a:xfrm>
            <a:off x="2857680" y="512640"/>
            <a:ext cx="3428640" cy="2566800"/>
          </a:xfrm>
          <a:prstGeom prst="rect">
            <a:avLst/>
          </a:prstGeom>
          <a:ln w="0">
            <a:noFill/>
          </a:ln>
        </p:spPr>
      </p:sp>
      <p:sp>
        <p:nvSpPr>
          <p:cNvPr id="685"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pour conclure,l'IoT multiplie les surfaces d'attaque : la sécurité doit se penser couche par couche.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Deuxièmement, chiffrer n'est pas une option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Troisièmement, il faut valider strictement chaque identité : .Quatrièmement, protéger les secrets dès la conception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Cinquièmement, il faut auditer et durcir en continu : </a:t>
            </a:r>
            <a:endParaRPr b="0" lang="fr-FR"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Et enfin, sixièmement, il vaut mieux s'appuyer sur des standards reconnus .</a:t>
            </a:r>
            <a:endParaRPr b="0" lang="fr-FR" sz="2000" spc="-1" strike="noStrike">
              <a:solidFill>
                <a:srgbClr val="000000"/>
              </a:solidFill>
              <a:latin typeface="Arial"/>
            </a:endParaRPr>
          </a:p>
        </p:txBody>
      </p:sp>
      <p:sp>
        <p:nvSpPr>
          <p:cNvPr id="686" name="PlaceHolder 5"/>
          <p:cNvSpPr>
            <a:spLocks noGrp="1"/>
          </p:cNvSpPr>
          <p:nvPr>
            <p:ph type="ftr" idx="83"/>
          </p:nvPr>
        </p:nvSpPr>
        <p:spPr>
          <a:xfrm>
            <a:off x="0" y="6502320"/>
            <a:ext cx="3962160" cy="340920"/>
          </a:xfrm>
          <a:prstGeom prst="rect">
            <a:avLst/>
          </a:prstGeom>
          <a:noFill/>
          <a:ln w="0">
            <a:noFill/>
          </a:ln>
        </p:spPr>
        <p:txBody>
          <a:bodyPr lIns="91440" rIns="91440" tIns="45720" bIns="45720" anchor="b">
            <a:noAutofit/>
          </a:bodyPr>
          <a:p>
            <a:pPr indent="0">
              <a:buNone/>
            </a:pPr>
            <a:endParaRPr b="0" lang="fr-FR" sz="1200" spc="-1" strike="noStrike">
              <a:solidFill>
                <a:srgbClr val="000000"/>
              </a:solidFill>
              <a:latin typeface="Times New Roman"/>
            </a:endParaRPr>
          </a:p>
        </p:txBody>
      </p:sp>
      <p:sp>
        <p:nvSpPr>
          <p:cNvPr id="687" name="PlaceHolder 6"/>
          <p:cNvSpPr>
            <a:spLocks noGrp="1"/>
          </p:cNvSpPr>
          <p:nvPr>
            <p:ph type="sldNum" idx="84"/>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pc="-1" strike="noStrike">
                <a:solidFill>
                  <a:srgbClr val="000000"/>
                </a:solidFill>
                <a:latin typeface="Times New Roman"/>
              </a:defRPr>
            </a:lvl1pPr>
          </a:lstStyle>
          <a:p>
            <a:pPr indent="0" algn="r">
              <a:lnSpc>
                <a:spcPct val="100000"/>
              </a:lnSpc>
              <a:buNone/>
            </a:pPr>
            <a:r>
              <a:rPr b="0" lang="cs-CZ" sz="1200" spc="-1" strike="noStrike">
                <a:solidFill>
                  <a:srgbClr val="000000"/>
                </a:solidFill>
                <a:latin typeface="Times New Roman"/>
              </a:rPr>
              <a:t>‹</a:t>
            </a:r>
            <a:r>
              <a:rPr b="0" lang="cs-CZ" sz="1200" spc="-1" strike="noStrike">
                <a:solidFill>
                  <a:srgbClr val="000000"/>
                </a:solidFill>
                <a:latin typeface="Times New Roman"/>
              </a:rPr>
              <a:t>#›</a:t>
            </a:r>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08E5DE3-B0C1-4C57-B9F7-D64BBB874908}"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1915CE8-1D56-41DB-B705-DD88D177BECC}"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63F1A92-AA97-4A4F-AC30-B9AD81D77240}"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7949C6-F761-4256-A2CD-217480CB3CFE}"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38A9CD4-1887-4E43-8E9F-017994EFE893}" type="slidenum">
              <a:t>&lt;#&gt;</a:t>
            </a:fld>
          </a:p>
        </p:txBody>
      </p:sp>
      <p:sp>
        <p:nvSpPr>
          <p:cNvPr id="4" name="PlaceHolder 3"/>
          <p:cNvSpPr>
            <a:spLocks noGrp="1"/>
          </p:cNvSpPr>
          <p:nvPr>
            <p:ph type="dt" idx="1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7296F68-A169-4F75-8E56-367F6B85BB38}" type="slidenum">
              <a:t>&lt;#&gt;</a:t>
            </a:fld>
          </a:p>
        </p:txBody>
      </p:sp>
      <p:sp>
        <p:nvSpPr>
          <p:cNvPr id="7" name="PlaceHolder 6"/>
          <p:cNvSpPr>
            <a:spLocks noGrp="1"/>
          </p:cNvSpPr>
          <p:nvPr>
            <p:ph type="dt" idx="16"/>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3BAA0F3-B904-485C-9D17-FB396AE399FD}" type="slidenum">
              <a:t>&lt;#&gt;</a:t>
            </a:fld>
          </a:p>
        </p:txBody>
      </p:sp>
      <p:sp>
        <p:nvSpPr>
          <p:cNvPr id="4" name="PlaceHolder 3"/>
          <p:cNvSpPr>
            <a:spLocks noGrp="1"/>
          </p:cNvSpPr>
          <p:nvPr>
            <p:ph type="dt" idx="19"/>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3ED2EF2-9784-4200-A321-B12611E5BB2A}"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9224248-61C4-4B3C-8240-B14A05FF4D81}"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127FEB14-3A84-4EF8-8392-71E7CFC986D5}"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B13258CD-3412-4147-89CB-AFA6AB2B4707}" type="slidenum">
              <a:t>&lt;#&gt;</a:t>
            </a:fld>
          </a:p>
        </p:txBody>
      </p:sp>
      <p:sp>
        <p:nvSpPr>
          <p:cNvPr id="4" name="PlaceHolder 3"/>
          <p:cNvSpPr>
            <a:spLocks noGrp="1"/>
          </p:cNvSpPr>
          <p:nvPr>
            <p:ph type="dt" idx="3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B83437C-D01C-4F4E-8DF8-2D417DB3A6F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0EE2618-A14F-4E13-AAA7-40E6B5BC818B}"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ti</a:t>
            </a:r>
            <a:r>
              <a:rPr b="0" lang="en-US" sz="4400" spc="-1" strike="noStrike">
                <a:solidFill>
                  <a:schemeClr val="dk1"/>
                </a:solidFill>
                <a:latin typeface="Calibri"/>
              </a:rPr>
              <a:t>tl</a:t>
            </a:r>
            <a:r>
              <a:rPr b="0" lang="en-US" sz="4400" spc="-1" strike="noStrike">
                <a:solidFill>
                  <a:schemeClr val="dk1"/>
                </a:solidFill>
                <a:latin typeface="Calibri"/>
              </a:rPr>
              <a:t>e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3448086F-6C56-4112-8030-C690D904E76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7F0847F-125E-4019-A7B0-50C6A19CBF0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a:t>
            </a:r>
            <a:r>
              <a:rPr b="1" lang="en-US" sz="4000" spc="-1" strike="noStrike" cap="all">
                <a:solidFill>
                  <a:schemeClr val="dk1"/>
                </a:solidFill>
                <a:latin typeface="Calibri"/>
              </a:rPr>
              <a:t>edit </a:t>
            </a:r>
            <a:r>
              <a:rPr b="1" lang="en-US" sz="4000" spc="-1" strike="noStrike" cap="all">
                <a:solidFill>
                  <a:schemeClr val="dk1"/>
                </a:solidFill>
                <a:latin typeface="Calibri"/>
              </a:rPr>
              <a:t>Master </a:t>
            </a:r>
            <a:r>
              <a:rPr b="1" lang="en-US" sz="4000" spc="-1" strike="noStrike" cap="all">
                <a:solidFill>
                  <a:schemeClr val="dk1"/>
                </a:solidFill>
                <a:latin typeface="Calibri"/>
              </a:rPr>
              <a:t>title </a:t>
            </a:r>
            <a:r>
              <a:rPr b="1" lang="en-US" sz="4000" spc="-1" strike="noStrike" cap="all">
                <a:solidFill>
                  <a:schemeClr val="dk1"/>
                </a:solidFill>
                <a:latin typeface="Calibri"/>
              </a:rPr>
              <a:t>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BD765E18-C486-4F42-80DC-246F4AC08C9C}"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B64AB253-E90C-4B2B-B9DB-93CACA4CF82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a:t>
            </a:r>
            <a:r>
              <a:rPr b="0" lang="en-US" sz="4400" spc="-1" strike="noStrike">
                <a:solidFill>
                  <a:schemeClr val="dk1"/>
                </a:solidFill>
                <a:latin typeface="Calibri"/>
              </a:rPr>
              <a:t>edit </a:t>
            </a:r>
            <a:r>
              <a:rPr b="0" lang="en-US" sz="4400" spc="-1" strike="noStrike">
                <a:solidFill>
                  <a:schemeClr val="dk1"/>
                </a:solidFill>
                <a:latin typeface="Calibri"/>
              </a:rPr>
              <a:t>Master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F91680D-78C1-460C-8597-28ED9427561A}"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A0A0EBB-4E27-458C-AE7F-AE268EF47C1A}"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C81ED4A-60D0-4AC3-A29C-FCBCA6D2C884}"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Cliquez pour éditer le format du texte-titre</a:t>
            </a:r>
            <a:endParaRPr b="0" lang="en-US" sz="1800" spc="-1" strike="noStrike">
              <a:solidFill>
                <a:schemeClr val="dk1"/>
              </a:solidFill>
              <a:latin typeface="Calibri"/>
            </a:endParaRP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niveau de plan</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Troisième niveau de plan</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Quatrième niveau de plan</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Cinquième niveau de plan</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Sixième niveau de plan</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Septième niveau de plan</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15B4C85-D3D6-4AB8-B850-3CDB4CCEC2FB}"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niveau de plan</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Troisième niveau de plan</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Quatrième niveau de plan</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Cinquième niveau de plan</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Sixième niveau de plan</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Septième niveau de plan</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F65781B-E05C-480D-9E97-1EC52E388E3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8.png"/><Relationship Id="rId9" Type="http://schemas.openxmlformats.org/officeDocument/2006/relationships/image" Target="../media/image9.sv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svg"/><Relationship Id="rId14" Type="http://schemas.openxmlformats.org/officeDocument/2006/relationships/slideLayout" Target="../slideLayouts/slideLayout9.xml"/><Relationship Id="rId1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5.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4.png"/><Relationship Id="rId10" Type="http://schemas.openxmlformats.org/officeDocument/2006/relationships/slideLayout" Target="../slideLayouts/slideLayout9.xml"/><Relationship Id="rId11"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0.png"/><Relationship Id="rId10" Type="http://schemas.openxmlformats.org/officeDocument/2006/relationships/image" Target="../media/image20.png"/><Relationship Id="rId11" Type="http://schemas.openxmlformats.org/officeDocument/2006/relationships/image" Target="../media/image16.png"/><Relationship Id="rId12" Type="http://schemas.openxmlformats.org/officeDocument/2006/relationships/image" Target="../media/image17.svg"/><Relationship Id="rId13" Type="http://schemas.openxmlformats.org/officeDocument/2006/relationships/image" Target="../media/image16.png"/><Relationship Id="rId14" Type="http://schemas.openxmlformats.org/officeDocument/2006/relationships/image" Target="../media/image17.svg"/><Relationship Id="rId15" Type="http://schemas.openxmlformats.org/officeDocument/2006/relationships/slideLayout" Target="../slideLayouts/slideLayout9.xml"/><Relationship Id="rId1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15.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15.png"/><Relationship Id="rId9" Type="http://schemas.openxmlformats.org/officeDocument/2006/relationships/image" Target="../media/image15.png"/><Relationship Id="rId10" Type="http://schemas.openxmlformats.org/officeDocument/2006/relationships/image" Target="../media/image15.png"/><Relationship Id="rId11" Type="http://schemas.openxmlformats.org/officeDocument/2006/relationships/image" Target="../media/image21.png"/><Relationship Id="rId12" Type="http://schemas.openxmlformats.org/officeDocument/2006/relationships/image" Target="../media/image21.png"/><Relationship Id="rId13" Type="http://schemas.openxmlformats.org/officeDocument/2006/relationships/image" Target="../media/image21.png"/><Relationship Id="rId14" Type="http://schemas.openxmlformats.org/officeDocument/2006/relationships/image" Target="../media/image21.png"/><Relationship Id="rId15" Type="http://schemas.openxmlformats.org/officeDocument/2006/relationships/image" Target="../media/image15.png"/><Relationship Id="rId16" Type="http://schemas.openxmlformats.org/officeDocument/2006/relationships/image" Target="../media/image15.png"/><Relationship Id="rId17" Type="http://schemas.openxmlformats.org/officeDocument/2006/relationships/image" Target="../media/image15.png"/><Relationship Id="rId18" Type="http://schemas.openxmlformats.org/officeDocument/2006/relationships/image" Target="../media/image15.png"/><Relationship Id="rId19" Type="http://schemas.openxmlformats.org/officeDocument/2006/relationships/image" Target="../media/image15.png"/><Relationship Id="rId20" Type="http://schemas.openxmlformats.org/officeDocument/2006/relationships/image" Target="../media/image21.png"/><Relationship Id="rId21" Type="http://schemas.openxmlformats.org/officeDocument/2006/relationships/image" Target="../media/image21.png"/><Relationship Id="rId22" Type="http://schemas.openxmlformats.org/officeDocument/2006/relationships/image" Target="../media/image21.png"/><Relationship Id="rId23" Type="http://schemas.openxmlformats.org/officeDocument/2006/relationships/image" Target="../media/image21.png"/><Relationship Id="rId24" Type="http://schemas.openxmlformats.org/officeDocument/2006/relationships/image" Target="../media/image21.png"/><Relationship Id="rId25" Type="http://schemas.openxmlformats.org/officeDocument/2006/relationships/slideLayout" Target="../slideLayouts/slideLayout9.xml"/><Relationship Id="rId2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image" Target="../media/image30.png"/><Relationship Id="rId14" Type="http://schemas.openxmlformats.org/officeDocument/2006/relationships/slideLayout" Target="../slideLayouts/slideLayout9.xml"/><Relationship Id="rId1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2.png"/><Relationship Id="rId8" Type="http://schemas.openxmlformats.org/officeDocument/2006/relationships/image" Target="../media/image32.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slideLayout" Target="../slideLayouts/slideLayout9.xml"/><Relationship Id="rId1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7.png"/><Relationship Id="rId8" Type="http://schemas.openxmlformats.org/officeDocument/2006/relationships/image" Target="../media/image39.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0.png"/><Relationship Id="rId12" Type="http://schemas.openxmlformats.org/officeDocument/2006/relationships/image" Target="../media/image40.png"/><Relationship Id="rId13" Type="http://schemas.openxmlformats.org/officeDocument/2006/relationships/image" Target="../media/image38.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2.png"/><Relationship Id="rId18" Type="http://schemas.openxmlformats.org/officeDocument/2006/relationships/image" Target="../media/image42.png"/><Relationship Id="rId19" Type="http://schemas.openxmlformats.org/officeDocument/2006/relationships/image" Target="../media/image42.png"/><Relationship Id="rId20" Type="http://schemas.openxmlformats.org/officeDocument/2006/relationships/image" Target="../media/image43.png"/><Relationship Id="rId21" Type="http://schemas.openxmlformats.org/officeDocument/2006/relationships/image" Target="../media/image43.png"/><Relationship Id="rId22" Type="http://schemas.openxmlformats.org/officeDocument/2006/relationships/image" Target="../media/image43.png"/><Relationship Id="rId23" Type="http://schemas.openxmlformats.org/officeDocument/2006/relationships/image" Target="../media/image42.png"/><Relationship Id="rId24" Type="http://schemas.openxmlformats.org/officeDocument/2006/relationships/image" Target="../media/image42.png"/><Relationship Id="rId25" Type="http://schemas.openxmlformats.org/officeDocument/2006/relationships/image" Target="../media/image42.png"/><Relationship Id="rId26" Type="http://schemas.openxmlformats.org/officeDocument/2006/relationships/image" Target="../media/image43.png"/><Relationship Id="rId27" Type="http://schemas.openxmlformats.org/officeDocument/2006/relationships/image" Target="../media/image43.png"/><Relationship Id="rId28" Type="http://schemas.openxmlformats.org/officeDocument/2006/relationships/image" Target="../media/image43.png"/><Relationship Id="rId29" Type="http://schemas.openxmlformats.org/officeDocument/2006/relationships/slideLayout" Target="../slideLayouts/slideLayout9.xml"/><Relationship Id="rId3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slideLayout" Target="../slideLayouts/slideLayout9.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5.png"/><Relationship Id="rId12" Type="http://schemas.openxmlformats.org/officeDocument/2006/relationships/image" Target="../media/image23.png"/><Relationship Id="rId13" Type="http://schemas.openxmlformats.org/officeDocument/2006/relationships/image" Target="../media/image26.png"/><Relationship Id="rId14" Type="http://schemas.openxmlformats.org/officeDocument/2006/relationships/image" Target="../media/image24.png"/><Relationship Id="rId15" Type="http://schemas.openxmlformats.org/officeDocument/2006/relationships/slideLayout" Target="../slideLayouts/slideLayout9.xml"/><Relationship Id="rId1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8.png"/><Relationship Id="rId5" Type="http://schemas.openxmlformats.org/officeDocument/2006/relationships/image" Target="../media/image48.png"/><Relationship Id="rId6" Type="http://schemas.openxmlformats.org/officeDocument/2006/relationships/image" Target="../media/image27.png"/><Relationship Id="rId7" Type="http://schemas.openxmlformats.org/officeDocument/2006/relationships/image" Target="../media/image49.png"/><Relationship Id="rId8" Type="http://schemas.openxmlformats.org/officeDocument/2006/relationships/image" Target="../media/image29.png"/><Relationship Id="rId9" Type="http://schemas.openxmlformats.org/officeDocument/2006/relationships/image" Target="../media/image25.png"/><Relationship Id="rId10" Type="http://schemas.openxmlformats.org/officeDocument/2006/relationships/image" Target="../media/image27.png"/><Relationship Id="rId11" Type="http://schemas.openxmlformats.org/officeDocument/2006/relationships/image" Target="../media/image50.png"/><Relationship Id="rId12" Type="http://schemas.openxmlformats.org/officeDocument/2006/relationships/image" Target="../media/image51.png"/><Relationship Id="rId13" Type="http://schemas.openxmlformats.org/officeDocument/2006/relationships/image" Target="../media/image26.png"/><Relationship Id="rId14" Type="http://schemas.openxmlformats.org/officeDocument/2006/relationships/slideLayout" Target="../slideLayouts/slideLayout9.xml"/><Relationship Id="rId1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slideLayout" Target="../slideLayouts/slideLayout9.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23.png"/><Relationship Id="rId9" Type="http://schemas.openxmlformats.org/officeDocument/2006/relationships/image" Target="../media/image55.png"/><Relationship Id="rId10" Type="http://schemas.openxmlformats.org/officeDocument/2006/relationships/image" Target="../media/image8.png"/><Relationship Id="rId11" Type="http://schemas.openxmlformats.org/officeDocument/2006/relationships/image" Target="../media/image9.svg"/><Relationship Id="rId12" Type="http://schemas.openxmlformats.org/officeDocument/2006/relationships/slideLayout" Target="../slideLayouts/slideLayout9.xml"/><Relationship Id="rId1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3.png"/><Relationship Id="rId3" Type="http://schemas.openxmlformats.org/officeDocument/2006/relationships/image" Target="../media/image55.pn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slideLayout" Target="../slideLayouts/slideLayout9.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png"/><Relationship Id="rId3" Type="http://schemas.openxmlformats.org/officeDocument/2006/relationships/image" Target="../media/image57.png"/><Relationship Id="rId4" Type="http://schemas.openxmlformats.org/officeDocument/2006/relationships/image" Target="../media/image57.png"/><Relationship Id="rId5" Type="http://schemas.openxmlformats.org/officeDocument/2006/relationships/image" Target="../media/image57.png"/><Relationship Id="rId6" Type="http://schemas.openxmlformats.org/officeDocument/2006/relationships/image" Target="../media/image57.png"/><Relationship Id="rId7" Type="http://schemas.openxmlformats.org/officeDocument/2006/relationships/image" Target="../media/image25.png"/><Relationship Id="rId8" Type="http://schemas.openxmlformats.org/officeDocument/2006/relationships/image" Target="../media/image8.png"/><Relationship Id="rId9" Type="http://schemas.openxmlformats.org/officeDocument/2006/relationships/image" Target="../media/image9.svg"/><Relationship Id="rId10" Type="http://schemas.openxmlformats.org/officeDocument/2006/relationships/slideLayout" Target="../slideLayouts/slideLayout9.xml"/><Relationship Id="rId11"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3.png"/><Relationship Id="rId3" Type="http://schemas.openxmlformats.org/officeDocument/2006/relationships/image" Target="../media/image23.png"/><Relationship Id="rId4" Type="http://schemas.openxmlformats.org/officeDocument/2006/relationships/image" Target="../media/image55.png"/><Relationship Id="rId5" Type="http://schemas.openxmlformats.org/officeDocument/2006/relationships/image" Target="../media/image55.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slideLayout" Target="../slideLayouts/slideLayout9.xml"/><Relationship Id="rId9"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slideLayout" Target="../slideLayouts/slideLayout9.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grpSp>
        <p:nvGrpSpPr>
          <p:cNvPr id="73" name="Group 2"/>
          <p:cNvGrpSpPr/>
          <p:nvPr/>
        </p:nvGrpSpPr>
        <p:grpSpPr>
          <a:xfrm>
            <a:off x="8893080" y="2034360"/>
            <a:ext cx="7137000" cy="7137000"/>
            <a:chOff x="8893080" y="2034360"/>
            <a:chExt cx="7137000" cy="7137000"/>
          </a:xfrm>
        </p:grpSpPr>
        <p:sp>
          <p:nvSpPr>
            <p:cNvPr id="74" name="Freeform 3"/>
            <p:cNvSpPr/>
            <p:nvPr/>
          </p:nvSpPr>
          <p:spPr>
            <a:xfrm>
              <a:off x="8893080" y="2034360"/>
              <a:ext cx="7137000" cy="7137000"/>
            </a:xfrm>
            <a:custGeom>
              <a:avLst/>
              <a:gdLst>
                <a:gd name="textAreaLeft" fmla="*/ 0 w 7137000"/>
                <a:gd name="textAreaRight" fmla="*/ 7137360 w 7137000"/>
                <a:gd name="textAreaTop" fmla="*/ 0 h 7137000"/>
                <a:gd name="textAreaBottom" fmla="*/ 7137360 h 713700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cd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5" name="TextBox 4"/>
            <p:cNvSpPr/>
            <p:nvPr/>
          </p:nvSpPr>
          <p:spPr>
            <a:xfrm>
              <a:off x="9562320" y="2536200"/>
              <a:ext cx="5798880" cy="59659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76" name="Freeform 5"/>
          <p:cNvSpPr/>
          <p:nvPr/>
        </p:nvSpPr>
        <p:spPr>
          <a:xfrm>
            <a:off x="8893080" y="1531440"/>
            <a:ext cx="7624440" cy="8142480"/>
          </a:xfrm>
          <a:custGeom>
            <a:avLst/>
            <a:gdLst>
              <a:gd name="textAreaLeft" fmla="*/ 0 w 7624440"/>
              <a:gd name="textAreaRight" fmla="*/ 7624800 w 7624440"/>
              <a:gd name="textAreaTop" fmla="*/ 0 h 8142480"/>
              <a:gd name="textAreaBottom" fmla="*/ 8142840 h 8142480"/>
            </a:gdLst>
            <a:ahLst/>
            <a:rect l="textAreaLeft" t="textAreaTop" r="textAreaRight" b="textAreaBottom"/>
            <a:pathLst>
              <a:path w="7624796" h="8142986">
                <a:moveTo>
                  <a:pt x="0" y="0"/>
                </a:moveTo>
                <a:lnTo>
                  <a:pt x="7624796" y="0"/>
                </a:lnTo>
                <a:lnTo>
                  <a:pt x="7624796" y="8142986"/>
                </a:lnTo>
                <a:lnTo>
                  <a:pt x="0" y="8142986"/>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7" name="Freeform 6"/>
          <p:cNvSpPr/>
          <p:nvPr/>
        </p:nvSpPr>
        <p:spPr>
          <a:xfrm flipH="1">
            <a:off x="-9941760" y="-305568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9" y="0"/>
                </a:moveTo>
                <a:lnTo>
                  <a:pt x="0" y="0"/>
                </a:lnTo>
                <a:lnTo>
                  <a:pt x="0" y="16235139"/>
                </a:lnTo>
                <a:lnTo>
                  <a:pt x="16235139" y="16235139"/>
                </a:lnTo>
                <a:lnTo>
                  <a:pt x="16235139" y="0"/>
                </a:lnTo>
                <a:close/>
              </a:path>
            </a:pathLst>
          </a:custGeom>
          <a:blipFill rotWithShape="0">
            <a:blip r:embed="rId3">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8" name="Freeform 7"/>
          <p:cNvSpPr/>
          <p:nvPr/>
        </p:nvSpPr>
        <p:spPr>
          <a:xfrm>
            <a:off x="7698600" y="370080"/>
            <a:ext cx="1784520" cy="2100240"/>
          </a:xfrm>
          <a:custGeom>
            <a:avLst/>
            <a:gdLst>
              <a:gd name="textAreaLeft" fmla="*/ 0 w 1784520"/>
              <a:gd name="textAreaRight" fmla="*/ 1784880 w 1784520"/>
              <a:gd name="textAreaTop" fmla="*/ 0 h 2100240"/>
              <a:gd name="textAreaBottom" fmla="*/ 2100600 h 2100240"/>
            </a:gdLst>
            <a:ahLst/>
            <a:rect l="textAreaLeft" t="textAreaTop" r="textAreaRight" b="textAreaBottom"/>
            <a:pathLst>
              <a:path w="1784849" h="2100462">
                <a:moveTo>
                  <a:pt x="0" y="0"/>
                </a:moveTo>
                <a:lnTo>
                  <a:pt x="1784848" y="0"/>
                </a:lnTo>
                <a:lnTo>
                  <a:pt x="1784848" y="2100463"/>
                </a:lnTo>
                <a:lnTo>
                  <a:pt x="0" y="2100463"/>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9" name="Freeform 8"/>
          <p:cNvSpPr/>
          <p:nvPr/>
        </p:nvSpPr>
        <p:spPr>
          <a:xfrm>
            <a:off x="8874360" y="5054760"/>
            <a:ext cx="3587040" cy="2530440"/>
          </a:xfrm>
          <a:custGeom>
            <a:avLst/>
            <a:gdLst>
              <a:gd name="textAreaLeft" fmla="*/ 0 w 3587040"/>
              <a:gd name="textAreaRight" fmla="*/ 3587400 w 3587040"/>
              <a:gd name="textAreaTop" fmla="*/ 0 h 2530440"/>
              <a:gd name="textAreaBottom" fmla="*/ 2530800 h 2530440"/>
            </a:gdLst>
            <a:ahLst/>
            <a:rect l="textAreaLeft" t="textAreaTop" r="textAreaRight" b="textAreaBottom"/>
            <a:pathLst>
              <a:path w="3587414" h="2530757">
                <a:moveTo>
                  <a:pt x="0" y="0"/>
                </a:moveTo>
                <a:lnTo>
                  <a:pt x="3587413" y="0"/>
                </a:lnTo>
                <a:lnTo>
                  <a:pt x="3587413" y="2530757"/>
                </a:lnTo>
                <a:lnTo>
                  <a:pt x="0" y="2530757"/>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0" name="Freeform 9"/>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1" name="Freeform 10"/>
          <p:cNvSpPr/>
          <p:nvPr/>
        </p:nvSpPr>
        <p:spPr>
          <a:xfrm>
            <a:off x="1071720" y="254880"/>
            <a:ext cx="2244960" cy="2764080"/>
          </a:xfrm>
          <a:custGeom>
            <a:avLst/>
            <a:gdLst>
              <a:gd name="textAreaLeft" fmla="*/ 0 w 2244960"/>
              <a:gd name="textAreaRight" fmla="*/ 2245320 w 2244960"/>
              <a:gd name="textAreaTop" fmla="*/ 0 h 2764080"/>
              <a:gd name="textAreaBottom" fmla="*/ 2764440 h 2764080"/>
            </a:gdLst>
            <a:ahLst/>
            <a:rect l="textAreaLeft" t="textAreaTop" r="textAreaRight" b="textAreaBottom"/>
            <a:pathLst>
              <a:path w="2245276" h="2764496">
                <a:moveTo>
                  <a:pt x="0" y="0"/>
                </a:moveTo>
                <a:lnTo>
                  <a:pt x="2245276" y="0"/>
                </a:lnTo>
                <a:lnTo>
                  <a:pt x="2245276" y="2764496"/>
                </a:lnTo>
                <a:lnTo>
                  <a:pt x="0" y="2764496"/>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2" name="Freeform 11"/>
          <p:cNvSpPr/>
          <p:nvPr/>
        </p:nvSpPr>
        <p:spPr>
          <a:xfrm>
            <a:off x="14316120" y="370080"/>
            <a:ext cx="2486520" cy="2486520"/>
          </a:xfrm>
          <a:custGeom>
            <a:avLst/>
            <a:gdLst>
              <a:gd name="textAreaLeft" fmla="*/ 0 w 2486520"/>
              <a:gd name="textAreaRight" fmla="*/ 2486880 w 2486520"/>
              <a:gd name="textAreaTop" fmla="*/ 0 h 2486520"/>
              <a:gd name="textAreaBottom" fmla="*/ 2486880 h 2486520"/>
            </a:gdLst>
            <a:ahLst/>
            <a:rect l="textAreaLeft" t="textAreaTop" r="textAreaRight" b="textAreaBottom"/>
            <a:pathLst>
              <a:path w="2486871" h="2486871">
                <a:moveTo>
                  <a:pt x="0" y="0"/>
                </a:moveTo>
                <a:lnTo>
                  <a:pt x="2486871" y="0"/>
                </a:lnTo>
                <a:lnTo>
                  <a:pt x="2486871" y="2486871"/>
                </a:lnTo>
                <a:lnTo>
                  <a:pt x="0" y="2486871"/>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3" name="TextBox 12"/>
          <p:cNvSpPr/>
          <p:nvPr/>
        </p:nvSpPr>
        <p:spPr>
          <a:xfrm>
            <a:off x="2418480" y="4412520"/>
            <a:ext cx="9217800" cy="2711880"/>
          </a:xfrm>
          <a:prstGeom prst="rect">
            <a:avLst/>
          </a:prstGeom>
          <a:noFill/>
          <a:ln w="0">
            <a:noFill/>
          </a:ln>
        </p:spPr>
        <p:style>
          <a:lnRef idx="0"/>
          <a:fillRef idx="0"/>
          <a:effectRef idx="0"/>
          <a:fontRef idx="minor"/>
        </p:style>
        <p:txBody>
          <a:bodyPr lIns="0" rIns="0" tIns="0" bIns="0" anchor="t">
            <a:spAutoFit/>
          </a:bodyPr>
          <a:p>
            <a:pPr defTabSz="914400">
              <a:lnSpc>
                <a:spcPts val="10678"/>
              </a:lnSpc>
            </a:pPr>
            <a:r>
              <a:rPr b="1" lang="en-US" sz="9200" spc="-1" strike="noStrike">
                <a:solidFill>
                  <a:srgbClr val="ffffff"/>
                </a:solidFill>
                <a:latin typeface="Antonio Ultra-Bold"/>
                <a:ea typeface="Antonio Ultra-Bold"/>
              </a:rPr>
              <a:t>SÉCURITÉ WEB IOT</a:t>
            </a:r>
            <a:endParaRPr b="0" lang="fr-FR" sz="9200" spc="-1" strike="noStrike">
              <a:solidFill>
                <a:srgbClr val="ffffff"/>
              </a:solidFill>
              <a:latin typeface="Arial"/>
            </a:endParaRPr>
          </a:p>
        </p:txBody>
      </p:sp>
      <p:sp>
        <p:nvSpPr>
          <p:cNvPr id="84" name="TextBox 13"/>
          <p:cNvSpPr/>
          <p:nvPr/>
        </p:nvSpPr>
        <p:spPr>
          <a:xfrm>
            <a:off x="7288200" y="8817120"/>
            <a:ext cx="9514440" cy="325080"/>
          </a:xfrm>
          <a:prstGeom prst="rect">
            <a:avLst/>
          </a:prstGeom>
          <a:noFill/>
          <a:ln w="0">
            <a:noFill/>
          </a:ln>
        </p:spPr>
        <p:style>
          <a:lnRef idx="0"/>
          <a:fillRef idx="0"/>
          <a:effectRef idx="0"/>
          <a:fontRef idx="minor"/>
        </p:style>
        <p:txBody>
          <a:bodyPr lIns="0" rIns="0" tIns="0" bIns="0" anchor="t">
            <a:spAutoFit/>
          </a:bodyPr>
          <a:p>
            <a:pPr defTabSz="914400">
              <a:lnSpc>
                <a:spcPts val="2560"/>
              </a:lnSpc>
            </a:pPr>
            <a:r>
              <a:rPr b="0" lang="en-US" sz="2210" spc="-1" strike="noStrike">
                <a:solidFill>
                  <a:srgbClr val="ffffff"/>
                </a:solidFill>
                <a:latin typeface="Antonio"/>
                <a:ea typeface="Antonio"/>
              </a:rPr>
              <a:t>Présenter par : </a:t>
            </a:r>
            <a:endParaRPr b="0" lang="fr-FR" sz="2210" spc="-1" strike="noStrike">
              <a:solidFill>
                <a:srgbClr val="ffffff"/>
              </a:solidFill>
              <a:latin typeface="Arial"/>
            </a:endParaRPr>
          </a:p>
        </p:txBody>
      </p:sp>
      <p:sp>
        <p:nvSpPr>
          <p:cNvPr id="85" name="TextBox 14"/>
          <p:cNvSpPr/>
          <p:nvPr/>
        </p:nvSpPr>
        <p:spPr>
          <a:xfrm>
            <a:off x="7584840" y="9318240"/>
            <a:ext cx="9217800" cy="339480"/>
          </a:xfrm>
          <a:prstGeom prst="rect">
            <a:avLst/>
          </a:prstGeom>
          <a:noFill/>
          <a:ln w="0">
            <a:noFill/>
          </a:ln>
        </p:spPr>
        <p:style>
          <a:lnRef idx="0"/>
          <a:fillRef idx="0"/>
          <a:effectRef idx="0"/>
          <a:fontRef idx="minor"/>
        </p:style>
        <p:txBody>
          <a:bodyPr lIns="0" rIns="0" tIns="0" bIns="0" anchor="t">
            <a:spAutoFit/>
          </a:bodyPr>
          <a:p>
            <a:pPr defTabSz="914400">
              <a:lnSpc>
                <a:spcPts val="2676"/>
              </a:lnSpc>
            </a:pPr>
            <a:r>
              <a:rPr b="0" lang="en-US" sz="2300" spc="-1" strike="noStrike">
                <a:solidFill>
                  <a:srgbClr val="000000"/>
                </a:solidFill>
                <a:latin typeface="Antonio"/>
                <a:ea typeface="Antonio"/>
              </a:rPr>
              <a:t>1 - RAKOTONANDRASANA Amedé</a:t>
            </a:r>
            <a:endParaRPr b="0" lang="fr-FR" sz="2300" spc="-1" strike="noStrike">
              <a:solidFill>
                <a:srgbClr val="ffffff"/>
              </a:solidFill>
              <a:latin typeface="Arial"/>
            </a:endParaRPr>
          </a:p>
        </p:txBody>
      </p:sp>
      <p:sp>
        <p:nvSpPr>
          <p:cNvPr id="86" name="TextBox 15"/>
          <p:cNvSpPr/>
          <p:nvPr/>
        </p:nvSpPr>
        <p:spPr>
          <a:xfrm>
            <a:off x="7584840" y="9678240"/>
            <a:ext cx="9217800" cy="339480"/>
          </a:xfrm>
          <a:prstGeom prst="rect">
            <a:avLst/>
          </a:prstGeom>
          <a:noFill/>
          <a:ln w="0">
            <a:noFill/>
          </a:ln>
        </p:spPr>
        <p:style>
          <a:lnRef idx="0"/>
          <a:fillRef idx="0"/>
          <a:effectRef idx="0"/>
          <a:fontRef idx="minor"/>
        </p:style>
        <p:txBody>
          <a:bodyPr lIns="0" rIns="0" tIns="0" bIns="0" anchor="t">
            <a:spAutoFit/>
          </a:bodyPr>
          <a:p>
            <a:pPr defTabSz="914400">
              <a:lnSpc>
                <a:spcPts val="2676"/>
              </a:lnSpc>
            </a:pPr>
            <a:r>
              <a:rPr b="0" lang="en-US" sz="2300" spc="-1" strike="noStrike">
                <a:solidFill>
                  <a:srgbClr val="000000"/>
                </a:solidFill>
                <a:latin typeface="Antonio"/>
                <a:ea typeface="Antonio"/>
              </a:rPr>
              <a:t>2 - LAHISAMBATRA Armando alex row-man andré</a:t>
            </a:r>
            <a:endParaRPr b="0" lang="fr-FR" sz="2300" spc="-1" strike="noStrike">
              <a:solidFill>
                <a:srgbClr val="ffffff"/>
              </a:solidFill>
              <a:latin typeface="Arial"/>
            </a:endParaRPr>
          </a:p>
        </p:txBody>
      </p:sp>
      <p:sp>
        <p:nvSpPr>
          <p:cNvPr id="87" name="Freeform 16"/>
          <p:cNvSpPr/>
          <p:nvPr/>
        </p:nvSpPr>
        <p:spPr>
          <a:xfrm flipH="1">
            <a:off x="1897920" y="7630200"/>
            <a:ext cx="4942080" cy="1791360"/>
          </a:xfrm>
          <a:custGeom>
            <a:avLst/>
            <a:gdLst>
              <a:gd name="textAreaLeft" fmla="*/ 360 w 4942080"/>
              <a:gd name="textAreaRight" fmla="*/ 4942800 w 4942080"/>
              <a:gd name="textAreaTop" fmla="*/ 0 h 1791360"/>
              <a:gd name="textAreaBottom" fmla="*/ 1791720 h 1791360"/>
            </a:gdLst>
            <a:ahLst/>
            <a:rect l="textAreaLeft" t="textAreaTop" r="textAreaRight" b="textAreaBottom"/>
            <a:pathLst>
              <a:path w="4203016" h="1791891">
                <a:moveTo>
                  <a:pt x="4203016" y="0"/>
                </a:moveTo>
                <a:lnTo>
                  <a:pt x="0" y="0"/>
                </a:lnTo>
                <a:lnTo>
                  <a:pt x="0" y="1791891"/>
                </a:lnTo>
                <a:lnTo>
                  <a:pt x="4203016" y="1791891"/>
                </a:lnTo>
                <a:lnTo>
                  <a:pt x="4203016" y="0"/>
                </a:lnTo>
                <a:close/>
              </a:path>
            </a:pathLst>
          </a:custGeom>
          <a:blipFill rotWithShape="0">
            <a:blip r:embed="rId12">
              <a:extLst>
                <a:ext uri="{96DAC541-7B7A-43D3-8B79-37D633B846F1}">
                  <asvg:svgBlip xmlns:asvg="http://schemas.microsoft.com/office/drawing/2016/SVG/main" r:embed="rId13"/>
                </a:ext>
              </a:extLst>
              <a:alphaModFix amt="43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8" name="TextBox 17"/>
          <p:cNvSpPr/>
          <p:nvPr/>
        </p:nvSpPr>
        <p:spPr>
          <a:xfrm>
            <a:off x="3600000" y="7920000"/>
            <a:ext cx="3305160" cy="757080"/>
          </a:xfrm>
          <a:prstGeom prst="rect">
            <a:avLst/>
          </a:prstGeom>
          <a:noFill/>
          <a:ln w="0">
            <a:noFill/>
          </a:ln>
        </p:spPr>
        <p:style>
          <a:lnRef idx="0"/>
          <a:fillRef idx="0"/>
          <a:effectRef idx="0"/>
          <a:fontRef idx="minor"/>
        </p:style>
        <p:txBody>
          <a:bodyPr lIns="0" rIns="0" tIns="0" bIns="0" anchor="t">
            <a:spAutoFit/>
          </a:bodyPr>
          <a:p>
            <a:pPr algn="just" defTabSz="914400">
              <a:lnSpc>
                <a:spcPts val="2982"/>
              </a:lnSpc>
            </a:pPr>
            <a:r>
              <a:rPr b="1" lang="en-US" sz="2570" spc="-1" strike="noStrike">
                <a:solidFill>
                  <a:srgbClr val="ffffff"/>
                </a:solidFill>
                <a:latin typeface="Antonio Ultra-Bold"/>
                <a:ea typeface="Antonio Ultra-Bold"/>
              </a:rPr>
              <a:t>CHAPITRE8-GROUPE 9</a:t>
            </a:r>
            <a:endParaRPr b="0" lang="fr-FR" sz="25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89"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0"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91" name="Group 4"/>
          <p:cNvGrpSpPr/>
          <p:nvPr/>
        </p:nvGrpSpPr>
        <p:grpSpPr>
          <a:xfrm>
            <a:off x="11504160" y="2358000"/>
            <a:ext cx="1147680" cy="1147680"/>
            <a:chOff x="11504160" y="2358000"/>
            <a:chExt cx="1147680" cy="1147680"/>
          </a:xfrm>
        </p:grpSpPr>
        <p:sp>
          <p:nvSpPr>
            <p:cNvPr id="92" name="Freeform 5"/>
            <p:cNvSpPr/>
            <p:nvPr/>
          </p:nvSpPr>
          <p:spPr>
            <a:xfrm>
              <a:off x="11504160" y="2358000"/>
              <a:ext cx="1147680" cy="1147680"/>
            </a:xfrm>
            <a:custGeom>
              <a:avLst/>
              <a:gdLst>
                <a:gd name="textAreaLeft" fmla="*/ 0 w 1147680"/>
                <a:gd name="textAreaRight" fmla="*/ 1148040 w 1147680"/>
                <a:gd name="textAreaTop" fmla="*/ 0 h 1147680"/>
                <a:gd name="textAreaBottom" fmla="*/ 1148040 h 114768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3" name="TextBox 6"/>
            <p:cNvSpPr/>
            <p:nvPr/>
          </p:nvSpPr>
          <p:spPr>
            <a:xfrm>
              <a:off x="11611800" y="2439000"/>
              <a:ext cx="932400" cy="959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94" name="Group 7"/>
          <p:cNvGrpSpPr/>
          <p:nvPr/>
        </p:nvGrpSpPr>
        <p:grpSpPr>
          <a:xfrm>
            <a:off x="16111440" y="7179120"/>
            <a:ext cx="1147680" cy="1147680"/>
            <a:chOff x="16111440" y="7179120"/>
            <a:chExt cx="1147680" cy="1147680"/>
          </a:xfrm>
        </p:grpSpPr>
        <p:sp>
          <p:nvSpPr>
            <p:cNvPr id="95" name="Freeform 8"/>
            <p:cNvSpPr/>
            <p:nvPr/>
          </p:nvSpPr>
          <p:spPr>
            <a:xfrm>
              <a:off x="16111440" y="7179120"/>
              <a:ext cx="1147680" cy="1147680"/>
            </a:xfrm>
            <a:custGeom>
              <a:avLst/>
              <a:gdLst>
                <a:gd name="textAreaLeft" fmla="*/ 0 w 1147680"/>
                <a:gd name="textAreaRight" fmla="*/ 1148040 w 1147680"/>
                <a:gd name="textAreaTop" fmla="*/ 0 h 1147680"/>
                <a:gd name="textAreaBottom" fmla="*/ 1148040 h 114768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6" name="TextBox 9"/>
            <p:cNvSpPr/>
            <p:nvPr/>
          </p:nvSpPr>
          <p:spPr>
            <a:xfrm>
              <a:off x="16219080" y="7259760"/>
              <a:ext cx="932400" cy="959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97" name="Freeform 10"/>
          <p:cNvSpPr/>
          <p:nvPr/>
        </p:nvSpPr>
        <p:spPr>
          <a:xfrm>
            <a:off x="9145440" y="2081160"/>
            <a:ext cx="8213040" cy="1727280"/>
          </a:xfrm>
          <a:custGeom>
            <a:avLst/>
            <a:gdLst>
              <a:gd name="textAreaLeft" fmla="*/ 0 w 8213040"/>
              <a:gd name="textAreaRight" fmla="*/ 8213400 w 8213040"/>
              <a:gd name="textAreaTop" fmla="*/ 0 h 1727280"/>
              <a:gd name="textAreaBottom" fmla="*/ 1727640 h 1727280"/>
            </a:gdLst>
            <a:ahLst/>
            <a:rect l="textAreaLeft" t="textAreaTop" r="textAreaRight" b="textAreaBottom"/>
            <a:pathLst>
              <a:path w="8213572" h="1727670">
                <a:moveTo>
                  <a:pt x="0" y="0"/>
                </a:moveTo>
                <a:lnTo>
                  <a:pt x="8213572" y="0"/>
                </a:lnTo>
                <a:lnTo>
                  <a:pt x="8213572" y="1727670"/>
                </a:lnTo>
                <a:lnTo>
                  <a:pt x="0" y="1727670"/>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8" name="Freeform 11"/>
          <p:cNvSpPr/>
          <p:nvPr/>
        </p:nvSpPr>
        <p:spPr>
          <a:xfrm>
            <a:off x="516600" y="2066760"/>
            <a:ext cx="8028360" cy="1780920"/>
          </a:xfrm>
          <a:custGeom>
            <a:avLst/>
            <a:gdLst>
              <a:gd name="textAreaLeft" fmla="*/ 0 w 8028360"/>
              <a:gd name="textAreaRight" fmla="*/ 8028720 w 8028360"/>
              <a:gd name="textAreaTop" fmla="*/ 0 h 1780920"/>
              <a:gd name="textAreaBottom" fmla="*/ 1781280 h 1780920"/>
            </a:gdLst>
            <a:ahLst/>
            <a:rect l="textAreaLeft" t="textAreaTop" r="textAreaRight" b="textAreaBottom"/>
            <a:pathLst>
              <a:path w="8028716" h="1781456">
                <a:moveTo>
                  <a:pt x="0" y="0"/>
                </a:moveTo>
                <a:lnTo>
                  <a:pt x="8028716" y="0"/>
                </a:lnTo>
                <a:lnTo>
                  <a:pt x="8028716" y="1781455"/>
                </a:lnTo>
                <a:lnTo>
                  <a:pt x="0" y="1781455"/>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9" name="TextBox 12"/>
          <p:cNvSpPr/>
          <p:nvPr/>
        </p:nvSpPr>
        <p:spPr>
          <a:xfrm>
            <a:off x="516600" y="663480"/>
            <a:ext cx="8663400" cy="747360"/>
          </a:xfrm>
          <a:prstGeom prst="rect">
            <a:avLst/>
          </a:prstGeom>
          <a:noFill/>
          <a:ln w="0">
            <a:noFill/>
          </a:ln>
        </p:spPr>
        <p:style>
          <a:lnRef idx="0"/>
          <a:fillRef idx="0"/>
          <a:effectRef idx="0"/>
          <a:fontRef idx="minor"/>
        </p:style>
        <p:txBody>
          <a:bodyPr lIns="0" rIns="0" tIns="0" bIns="0" anchor="t">
            <a:spAutoFit/>
          </a:bodyPr>
          <a:p>
            <a:pPr algn="just" defTabSz="914400">
              <a:lnSpc>
                <a:spcPts val="5882"/>
              </a:lnSpc>
            </a:pPr>
            <a:r>
              <a:rPr b="1" lang="en-US" sz="5070" spc="-1" strike="noStrike">
                <a:solidFill>
                  <a:srgbClr val="ffffff"/>
                </a:solidFill>
                <a:latin typeface="Antonio Ultra-Bold"/>
                <a:ea typeface="Antonio Ultra-Bold"/>
              </a:rPr>
              <a:t>PLAN DU CHAPITRE</a:t>
            </a:r>
            <a:endParaRPr b="0" lang="fr-FR" sz="5070" spc="-1" strike="noStrike">
              <a:solidFill>
                <a:srgbClr val="ffffff"/>
              </a:solidFill>
              <a:latin typeface="Arial"/>
            </a:endParaRPr>
          </a:p>
        </p:txBody>
      </p:sp>
      <p:sp>
        <p:nvSpPr>
          <p:cNvPr id="100" name="TextBox 13"/>
          <p:cNvSpPr/>
          <p:nvPr/>
        </p:nvSpPr>
        <p:spPr>
          <a:xfrm>
            <a:off x="2364480" y="2347920"/>
            <a:ext cx="4655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Contexte &amp; Enjeux IoT</a:t>
            </a:r>
            <a:endParaRPr b="0" lang="fr-FR" sz="3000" spc="-1" strike="noStrike">
              <a:solidFill>
                <a:srgbClr val="ffffff"/>
              </a:solidFill>
              <a:latin typeface="Arial"/>
            </a:endParaRPr>
          </a:p>
        </p:txBody>
      </p:sp>
      <p:sp>
        <p:nvSpPr>
          <p:cNvPr id="101" name="TextBox 14"/>
          <p:cNvSpPr/>
          <p:nvPr/>
        </p:nvSpPr>
        <p:spPr>
          <a:xfrm>
            <a:off x="2272680" y="2966040"/>
            <a:ext cx="536256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Définition, architecture et surface d'attaque</a:t>
            </a:r>
            <a:endParaRPr b="0" lang="fr-FR" sz="2000" spc="-1" strike="noStrike">
              <a:solidFill>
                <a:srgbClr val="ffffff"/>
              </a:solidFill>
              <a:latin typeface="Arial"/>
            </a:endParaRPr>
          </a:p>
        </p:txBody>
      </p:sp>
      <p:sp>
        <p:nvSpPr>
          <p:cNvPr id="102" name="TextBox 15"/>
          <p:cNvSpPr/>
          <p:nvPr/>
        </p:nvSpPr>
        <p:spPr>
          <a:xfrm>
            <a:off x="11190240" y="2428200"/>
            <a:ext cx="4112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Principales Menaces</a:t>
            </a:r>
            <a:endParaRPr b="0" lang="fr-FR" sz="3000" spc="-1" strike="noStrike">
              <a:solidFill>
                <a:srgbClr val="ffffff"/>
              </a:solidFill>
              <a:latin typeface="Arial"/>
            </a:endParaRPr>
          </a:p>
        </p:txBody>
      </p:sp>
      <p:sp>
        <p:nvSpPr>
          <p:cNvPr id="103" name="TextBox 16"/>
          <p:cNvSpPr/>
          <p:nvPr/>
        </p:nvSpPr>
        <p:spPr>
          <a:xfrm>
            <a:off x="11345400" y="3052080"/>
            <a:ext cx="492228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OWASP IoT Top 10 et vecteurs d'attaque</a:t>
            </a:r>
            <a:endParaRPr b="0" lang="fr-FR" sz="2000" spc="-1" strike="noStrike">
              <a:solidFill>
                <a:srgbClr val="ffffff"/>
              </a:solidFill>
              <a:latin typeface="Arial"/>
            </a:endParaRPr>
          </a:p>
        </p:txBody>
      </p:sp>
      <p:sp>
        <p:nvSpPr>
          <p:cNvPr id="104" name="Freeform 17"/>
          <p:cNvSpPr/>
          <p:nvPr/>
        </p:nvSpPr>
        <p:spPr>
          <a:xfrm>
            <a:off x="516600" y="4748040"/>
            <a:ext cx="8028360" cy="1780920"/>
          </a:xfrm>
          <a:custGeom>
            <a:avLst/>
            <a:gdLst>
              <a:gd name="textAreaLeft" fmla="*/ 0 w 8028360"/>
              <a:gd name="textAreaRight" fmla="*/ 8028720 w 8028360"/>
              <a:gd name="textAreaTop" fmla="*/ 0 h 1780920"/>
              <a:gd name="textAreaBottom" fmla="*/ 1781280 h 1780920"/>
            </a:gdLst>
            <a:ahLst/>
            <a:rect l="textAreaLeft" t="textAreaTop" r="textAreaRight" b="textAreaBottom"/>
            <a:pathLst>
              <a:path w="8028716" h="1781456">
                <a:moveTo>
                  <a:pt x="0" y="0"/>
                </a:moveTo>
                <a:lnTo>
                  <a:pt x="8028716" y="0"/>
                </a:lnTo>
                <a:lnTo>
                  <a:pt x="8028716" y="1781455"/>
                </a:lnTo>
                <a:lnTo>
                  <a:pt x="0" y="1781455"/>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5" name="Freeform 18"/>
          <p:cNvSpPr/>
          <p:nvPr/>
        </p:nvSpPr>
        <p:spPr>
          <a:xfrm>
            <a:off x="9145440" y="4801680"/>
            <a:ext cx="8213040" cy="1727280"/>
          </a:xfrm>
          <a:custGeom>
            <a:avLst/>
            <a:gdLst>
              <a:gd name="textAreaLeft" fmla="*/ 0 w 8213040"/>
              <a:gd name="textAreaRight" fmla="*/ 8213400 w 8213040"/>
              <a:gd name="textAreaTop" fmla="*/ 0 h 1727280"/>
              <a:gd name="textAreaBottom" fmla="*/ 1727640 h 1727280"/>
            </a:gdLst>
            <a:ahLst/>
            <a:rect l="textAreaLeft" t="textAreaTop" r="textAreaRight" b="textAreaBottom"/>
            <a:pathLst>
              <a:path w="8213572" h="1727670">
                <a:moveTo>
                  <a:pt x="0" y="0"/>
                </a:moveTo>
                <a:lnTo>
                  <a:pt x="8213572" y="0"/>
                </a:lnTo>
                <a:lnTo>
                  <a:pt x="8213572" y="1727669"/>
                </a:lnTo>
                <a:lnTo>
                  <a:pt x="0" y="1727669"/>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6" name="Freeform 19"/>
          <p:cNvSpPr/>
          <p:nvPr/>
        </p:nvSpPr>
        <p:spPr>
          <a:xfrm>
            <a:off x="516600" y="7179120"/>
            <a:ext cx="8028360" cy="1780920"/>
          </a:xfrm>
          <a:custGeom>
            <a:avLst/>
            <a:gdLst>
              <a:gd name="textAreaLeft" fmla="*/ 0 w 8028360"/>
              <a:gd name="textAreaRight" fmla="*/ 8028720 w 8028360"/>
              <a:gd name="textAreaTop" fmla="*/ 0 h 1780920"/>
              <a:gd name="textAreaBottom" fmla="*/ 1781280 h 1780920"/>
            </a:gdLst>
            <a:ahLst/>
            <a:rect l="textAreaLeft" t="textAreaTop" r="textAreaRight" b="textAreaBottom"/>
            <a:pathLst>
              <a:path w="8028716" h="1781456">
                <a:moveTo>
                  <a:pt x="0" y="0"/>
                </a:moveTo>
                <a:lnTo>
                  <a:pt x="8028716" y="0"/>
                </a:lnTo>
                <a:lnTo>
                  <a:pt x="8028716" y="1781456"/>
                </a:lnTo>
                <a:lnTo>
                  <a:pt x="0" y="1781456"/>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7" name="Freeform 20"/>
          <p:cNvSpPr/>
          <p:nvPr/>
        </p:nvSpPr>
        <p:spPr>
          <a:xfrm>
            <a:off x="9145440" y="7179120"/>
            <a:ext cx="8213040" cy="1727280"/>
          </a:xfrm>
          <a:custGeom>
            <a:avLst/>
            <a:gdLst>
              <a:gd name="textAreaLeft" fmla="*/ 0 w 8213040"/>
              <a:gd name="textAreaRight" fmla="*/ 8213400 w 8213040"/>
              <a:gd name="textAreaTop" fmla="*/ 0 h 1727280"/>
              <a:gd name="textAreaBottom" fmla="*/ 1727640 h 1727280"/>
            </a:gdLst>
            <a:ahLst/>
            <a:rect l="textAreaLeft" t="textAreaTop" r="textAreaRight" b="textAreaBottom"/>
            <a:pathLst>
              <a:path w="8213572" h="1727670">
                <a:moveTo>
                  <a:pt x="0" y="0"/>
                </a:moveTo>
                <a:lnTo>
                  <a:pt x="8213572" y="0"/>
                </a:lnTo>
                <a:lnTo>
                  <a:pt x="8213572" y="1727670"/>
                </a:lnTo>
                <a:lnTo>
                  <a:pt x="0" y="1727670"/>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8" name="TextBox 21"/>
          <p:cNvSpPr/>
          <p:nvPr/>
        </p:nvSpPr>
        <p:spPr>
          <a:xfrm>
            <a:off x="2626920" y="5156640"/>
            <a:ext cx="54730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Protocoles de Sécurité</a:t>
            </a:r>
            <a:endParaRPr b="0" lang="fr-FR" sz="3000" spc="-1" strike="noStrike">
              <a:solidFill>
                <a:srgbClr val="ffffff"/>
              </a:solidFill>
              <a:latin typeface="Arial"/>
            </a:endParaRPr>
          </a:p>
        </p:txBody>
      </p:sp>
      <p:sp>
        <p:nvSpPr>
          <p:cNvPr id="109" name="TextBox 22"/>
          <p:cNvSpPr/>
          <p:nvPr/>
        </p:nvSpPr>
        <p:spPr>
          <a:xfrm>
            <a:off x="2626920" y="5715720"/>
            <a:ext cx="367200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MQTT, CoAP, HTTPS, TLS/DTLS</a:t>
            </a:r>
            <a:endParaRPr b="0" lang="fr-FR" sz="2000" spc="-1" strike="noStrike">
              <a:solidFill>
                <a:srgbClr val="ffffff"/>
              </a:solidFill>
              <a:latin typeface="Arial"/>
            </a:endParaRPr>
          </a:p>
        </p:txBody>
      </p:sp>
      <p:sp>
        <p:nvSpPr>
          <p:cNvPr id="110" name="TextBox 23"/>
          <p:cNvSpPr/>
          <p:nvPr/>
        </p:nvSpPr>
        <p:spPr>
          <a:xfrm>
            <a:off x="9796320" y="5156640"/>
            <a:ext cx="6702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Authentification &amp; Identité</a:t>
            </a:r>
            <a:endParaRPr b="0" lang="fr-FR" sz="3000" spc="-1" strike="noStrike">
              <a:solidFill>
                <a:srgbClr val="ffffff"/>
              </a:solidFill>
              <a:latin typeface="Arial"/>
            </a:endParaRPr>
          </a:p>
        </p:txBody>
      </p:sp>
      <p:sp>
        <p:nvSpPr>
          <p:cNvPr id="111" name="TextBox 24"/>
          <p:cNvSpPr/>
          <p:nvPr/>
        </p:nvSpPr>
        <p:spPr>
          <a:xfrm>
            <a:off x="11373120" y="5715720"/>
            <a:ext cx="412920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JWT, OAuth 2.0, certificats X.509</a:t>
            </a:r>
            <a:endParaRPr b="0" lang="fr-FR" sz="2000" spc="-1" strike="noStrike">
              <a:solidFill>
                <a:srgbClr val="ffffff"/>
              </a:solidFill>
              <a:latin typeface="Arial"/>
            </a:endParaRPr>
          </a:p>
        </p:txBody>
      </p:sp>
      <p:sp>
        <p:nvSpPr>
          <p:cNvPr id="112" name="TextBox 25"/>
          <p:cNvSpPr/>
          <p:nvPr/>
        </p:nvSpPr>
        <p:spPr>
          <a:xfrm>
            <a:off x="2626920" y="7503840"/>
            <a:ext cx="50083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Chiffrement des Données</a:t>
            </a:r>
            <a:endParaRPr b="0" lang="fr-FR" sz="3000" spc="-1" strike="noStrike">
              <a:solidFill>
                <a:srgbClr val="ffffff"/>
              </a:solidFill>
              <a:latin typeface="Arial"/>
            </a:endParaRPr>
          </a:p>
        </p:txBody>
      </p:sp>
      <p:sp>
        <p:nvSpPr>
          <p:cNvPr id="113" name="TextBox 26"/>
          <p:cNvSpPr/>
          <p:nvPr/>
        </p:nvSpPr>
        <p:spPr>
          <a:xfrm>
            <a:off x="2805120" y="8063640"/>
            <a:ext cx="483048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Symétrique, asymétrique, bout-en-bout</a:t>
            </a:r>
            <a:endParaRPr b="0" lang="fr-FR" sz="2000" spc="-1" strike="noStrike">
              <a:solidFill>
                <a:srgbClr val="ffffff"/>
              </a:solidFill>
              <a:latin typeface="Arial"/>
            </a:endParaRPr>
          </a:p>
        </p:txBody>
      </p:sp>
      <p:sp>
        <p:nvSpPr>
          <p:cNvPr id="114" name="TextBox 27"/>
          <p:cNvSpPr/>
          <p:nvPr/>
        </p:nvSpPr>
        <p:spPr>
          <a:xfrm>
            <a:off x="10985040" y="7476840"/>
            <a:ext cx="3341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Bonnes Pratiques</a:t>
            </a:r>
            <a:endParaRPr b="0" lang="fr-FR" sz="3000" spc="-1" strike="noStrike">
              <a:solidFill>
                <a:srgbClr val="ffffff"/>
              </a:solidFill>
              <a:latin typeface="Arial"/>
            </a:endParaRPr>
          </a:p>
        </p:txBody>
      </p:sp>
      <p:sp>
        <p:nvSpPr>
          <p:cNvPr id="115" name="TextBox 28"/>
          <p:cNvSpPr/>
          <p:nvPr/>
        </p:nvSpPr>
        <p:spPr>
          <a:xfrm>
            <a:off x="11173680" y="7984800"/>
            <a:ext cx="509400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0" lang="en-US" sz="2000" spc="-1" strike="noStrike">
                <a:solidFill>
                  <a:srgbClr val="000000"/>
                </a:solidFill>
                <a:latin typeface="Telegraf"/>
                <a:ea typeface="Telegraf"/>
              </a:rPr>
              <a:t>Recommandations et standards NIST/IEC</a:t>
            </a:r>
            <a:endParaRPr b="0" lang="fr-FR" sz="2000" spc="-1" strike="noStrike">
              <a:solidFill>
                <a:srgbClr val="ffffff"/>
              </a:solidFill>
              <a:latin typeface="Arial"/>
            </a:endParaRPr>
          </a:p>
        </p:txBody>
      </p:sp>
      <p:grpSp>
        <p:nvGrpSpPr>
          <p:cNvPr id="116" name="Group 29"/>
          <p:cNvGrpSpPr/>
          <p:nvPr/>
        </p:nvGrpSpPr>
        <p:grpSpPr>
          <a:xfrm>
            <a:off x="9579600" y="2358000"/>
            <a:ext cx="1049760" cy="1221840"/>
            <a:chOff x="9579600" y="2358000"/>
            <a:chExt cx="1049760" cy="1221840"/>
          </a:xfrm>
        </p:grpSpPr>
        <p:sp>
          <p:nvSpPr>
            <p:cNvPr id="117" name="Freeform 30"/>
            <p:cNvSpPr/>
            <p:nvPr/>
          </p:nvSpPr>
          <p:spPr>
            <a:xfrm>
              <a:off x="9579600" y="235800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18" name="TextBox 31"/>
            <p:cNvSpPr/>
            <p:nvPr/>
          </p:nvSpPr>
          <p:spPr>
            <a:xfrm>
              <a:off x="9579600" y="253944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119" name="TextBox 32"/>
          <p:cNvSpPr/>
          <p:nvPr/>
        </p:nvSpPr>
        <p:spPr>
          <a:xfrm>
            <a:off x="9775080" y="262836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02</a:t>
            </a:r>
            <a:endParaRPr b="0" lang="fr-FR" sz="3880" spc="-1" strike="noStrike">
              <a:solidFill>
                <a:srgbClr val="ffffff"/>
              </a:solidFill>
              <a:latin typeface="Arial"/>
            </a:endParaRPr>
          </a:p>
        </p:txBody>
      </p:sp>
      <p:grpSp>
        <p:nvGrpSpPr>
          <p:cNvPr id="120" name="Group 33"/>
          <p:cNvGrpSpPr/>
          <p:nvPr/>
        </p:nvGrpSpPr>
        <p:grpSpPr>
          <a:xfrm>
            <a:off x="964440" y="2298960"/>
            <a:ext cx="1049760" cy="1221840"/>
            <a:chOff x="964440" y="2298960"/>
            <a:chExt cx="1049760" cy="1221840"/>
          </a:xfrm>
        </p:grpSpPr>
        <p:sp>
          <p:nvSpPr>
            <p:cNvPr id="121" name="Freeform 34"/>
            <p:cNvSpPr/>
            <p:nvPr/>
          </p:nvSpPr>
          <p:spPr>
            <a:xfrm>
              <a:off x="964440" y="229896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2" name="TextBox 35"/>
            <p:cNvSpPr/>
            <p:nvPr/>
          </p:nvSpPr>
          <p:spPr>
            <a:xfrm>
              <a:off x="964440" y="248040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123" name="Group 36"/>
          <p:cNvGrpSpPr/>
          <p:nvPr/>
        </p:nvGrpSpPr>
        <p:grpSpPr>
          <a:xfrm>
            <a:off x="964440" y="4965840"/>
            <a:ext cx="1049760" cy="1221840"/>
            <a:chOff x="964440" y="4965840"/>
            <a:chExt cx="1049760" cy="1221840"/>
          </a:xfrm>
        </p:grpSpPr>
        <p:sp>
          <p:nvSpPr>
            <p:cNvPr id="124" name="Freeform 37"/>
            <p:cNvSpPr/>
            <p:nvPr/>
          </p:nvSpPr>
          <p:spPr>
            <a:xfrm>
              <a:off x="964440" y="496584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5" name="TextBox 38"/>
            <p:cNvSpPr/>
            <p:nvPr/>
          </p:nvSpPr>
          <p:spPr>
            <a:xfrm>
              <a:off x="964440" y="514728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126" name="Group 39"/>
          <p:cNvGrpSpPr/>
          <p:nvPr/>
        </p:nvGrpSpPr>
        <p:grpSpPr>
          <a:xfrm>
            <a:off x="964440" y="7402320"/>
            <a:ext cx="1049760" cy="1221840"/>
            <a:chOff x="964440" y="7402320"/>
            <a:chExt cx="1049760" cy="1221840"/>
          </a:xfrm>
        </p:grpSpPr>
        <p:sp>
          <p:nvSpPr>
            <p:cNvPr id="127" name="Freeform 40"/>
            <p:cNvSpPr/>
            <p:nvPr/>
          </p:nvSpPr>
          <p:spPr>
            <a:xfrm>
              <a:off x="964440" y="740232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8" name="TextBox 41"/>
            <p:cNvSpPr/>
            <p:nvPr/>
          </p:nvSpPr>
          <p:spPr>
            <a:xfrm>
              <a:off x="964440" y="758376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129" name="Group 42"/>
          <p:cNvGrpSpPr/>
          <p:nvPr/>
        </p:nvGrpSpPr>
        <p:grpSpPr>
          <a:xfrm>
            <a:off x="9600840" y="5054400"/>
            <a:ext cx="1049760" cy="1221840"/>
            <a:chOff x="9600840" y="5054400"/>
            <a:chExt cx="1049760" cy="1221840"/>
          </a:xfrm>
        </p:grpSpPr>
        <p:sp>
          <p:nvSpPr>
            <p:cNvPr id="130" name="Freeform 43"/>
            <p:cNvSpPr/>
            <p:nvPr/>
          </p:nvSpPr>
          <p:spPr>
            <a:xfrm>
              <a:off x="9600840" y="505440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31" name="TextBox 44"/>
            <p:cNvSpPr/>
            <p:nvPr/>
          </p:nvSpPr>
          <p:spPr>
            <a:xfrm>
              <a:off x="9600840" y="523584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132" name="Group 45"/>
          <p:cNvGrpSpPr/>
          <p:nvPr/>
        </p:nvGrpSpPr>
        <p:grpSpPr>
          <a:xfrm>
            <a:off x="9579600" y="7402320"/>
            <a:ext cx="1049760" cy="1221840"/>
            <a:chOff x="9579600" y="7402320"/>
            <a:chExt cx="1049760" cy="1221840"/>
          </a:xfrm>
        </p:grpSpPr>
        <p:sp>
          <p:nvSpPr>
            <p:cNvPr id="133" name="Freeform 46"/>
            <p:cNvSpPr/>
            <p:nvPr/>
          </p:nvSpPr>
          <p:spPr>
            <a:xfrm>
              <a:off x="9579600" y="7402320"/>
              <a:ext cx="1049760" cy="1221840"/>
            </a:xfrm>
            <a:custGeom>
              <a:avLst/>
              <a:gdLst>
                <a:gd name="textAreaLeft" fmla="*/ 0 w 1049760"/>
                <a:gd name="textAreaRight" fmla="*/ 1050120 w 1049760"/>
                <a:gd name="textAreaTop" fmla="*/ 0 h 1221840"/>
                <a:gd name="textAreaBottom" fmla="*/ 1222200 h 12218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d386d"/>
            </a:solidFill>
            <a:ln w="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34" name="TextBox 47"/>
            <p:cNvSpPr/>
            <p:nvPr/>
          </p:nvSpPr>
          <p:spPr>
            <a:xfrm>
              <a:off x="9579600" y="7583760"/>
              <a:ext cx="1049760" cy="83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135" name="TextBox 48"/>
          <p:cNvSpPr/>
          <p:nvPr/>
        </p:nvSpPr>
        <p:spPr>
          <a:xfrm>
            <a:off x="1138680" y="256104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01</a:t>
            </a:r>
            <a:endParaRPr b="0" lang="fr-FR" sz="3880" spc="-1" strike="noStrike">
              <a:solidFill>
                <a:srgbClr val="ffffff"/>
              </a:solidFill>
              <a:latin typeface="Arial"/>
            </a:endParaRPr>
          </a:p>
        </p:txBody>
      </p:sp>
      <p:sp>
        <p:nvSpPr>
          <p:cNvPr id="136" name="TextBox 49"/>
          <p:cNvSpPr/>
          <p:nvPr/>
        </p:nvSpPr>
        <p:spPr>
          <a:xfrm>
            <a:off x="1201320" y="529056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03</a:t>
            </a:r>
            <a:endParaRPr b="0" lang="fr-FR" sz="3880" spc="-1" strike="noStrike">
              <a:solidFill>
                <a:srgbClr val="ffffff"/>
              </a:solidFill>
              <a:latin typeface="Arial"/>
            </a:endParaRPr>
          </a:p>
        </p:txBody>
      </p:sp>
      <p:sp>
        <p:nvSpPr>
          <p:cNvPr id="137" name="TextBox 50"/>
          <p:cNvSpPr/>
          <p:nvPr/>
        </p:nvSpPr>
        <p:spPr>
          <a:xfrm>
            <a:off x="1201320" y="769968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05</a:t>
            </a:r>
            <a:endParaRPr b="0" lang="fr-FR" sz="3880" spc="-1" strike="noStrike">
              <a:solidFill>
                <a:srgbClr val="ffffff"/>
              </a:solidFill>
              <a:latin typeface="Arial"/>
            </a:endParaRPr>
          </a:p>
        </p:txBody>
      </p:sp>
      <p:sp>
        <p:nvSpPr>
          <p:cNvPr id="138" name="TextBox 51"/>
          <p:cNvSpPr/>
          <p:nvPr/>
        </p:nvSpPr>
        <p:spPr>
          <a:xfrm>
            <a:off x="9796320" y="535248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04</a:t>
            </a:r>
            <a:endParaRPr b="0" lang="fr-FR" sz="3880" spc="-1" strike="noStrike">
              <a:solidFill>
                <a:srgbClr val="ffffff"/>
              </a:solidFill>
              <a:latin typeface="Arial"/>
            </a:endParaRPr>
          </a:p>
        </p:txBody>
      </p:sp>
      <p:sp>
        <p:nvSpPr>
          <p:cNvPr id="139" name="TextBox 52"/>
          <p:cNvSpPr/>
          <p:nvPr/>
        </p:nvSpPr>
        <p:spPr>
          <a:xfrm>
            <a:off x="9796320" y="7672680"/>
            <a:ext cx="701640" cy="572400"/>
          </a:xfrm>
          <a:prstGeom prst="rect">
            <a:avLst/>
          </a:prstGeom>
          <a:noFill/>
          <a:ln w="0">
            <a:noFill/>
          </a:ln>
        </p:spPr>
        <p:style>
          <a:lnRef idx="0"/>
          <a:fillRef idx="0"/>
          <a:effectRef idx="0"/>
          <a:fontRef idx="minor"/>
        </p:style>
        <p:txBody>
          <a:bodyPr lIns="0" rIns="0" tIns="0" bIns="0" anchor="t">
            <a:spAutoFit/>
          </a:bodyPr>
          <a:p>
            <a:pPr defTabSz="914400">
              <a:lnSpc>
                <a:spcPts val="4504"/>
              </a:lnSpc>
            </a:pPr>
            <a:r>
              <a:rPr b="1" lang="en-US" sz="3880" spc="-1" strike="noStrike">
                <a:solidFill>
                  <a:srgbClr val="ffffff"/>
                </a:solidFill>
                <a:latin typeface="Raleway Ultra-Bold"/>
                <a:ea typeface="Raleway Ultra-Bold"/>
              </a:rPr>
              <a:t>06</a:t>
            </a:r>
            <a:endParaRPr b="0" lang="fr-FR" sz="38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140" name="Freeform 2"/>
          <p:cNvSpPr/>
          <p:nvPr/>
        </p:nvSpPr>
        <p:spPr>
          <a:xfrm flipH="1">
            <a:off x="-10736640" y="-38466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9" y="0"/>
                </a:moveTo>
                <a:lnTo>
                  <a:pt x="0" y="0"/>
                </a:lnTo>
                <a:lnTo>
                  <a:pt x="0" y="16235139"/>
                </a:lnTo>
                <a:lnTo>
                  <a:pt x="16235139" y="16235139"/>
                </a:lnTo>
                <a:lnTo>
                  <a:pt x="16235139"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41"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42" name="Freeform 4"/>
          <p:cNvSpPr/>
          <p:nvPr/>
        </p:nvSpPr>
        <p:spPr>
          <a:xfrm>
            <a:off x="1679400" y="5600880"/>
            <a:ext cx="4992120" cy="2886120"/>
          </a:xfrm>
          <a:custGeom>
            <a:avLst/>
            <a:gdLst>
              <a:gd name="textAreaLeft" fmla="*/ 0 w 4992120"/>
              <a:gd name="textAreaRight" fmla="*/ 4992480 w 4992120"/>
              <a:gd name="textAreaTop" fmla="*/ 0 h 2886120"/>
              <a:gd name="textAreaBottom" fmla="*/ 2886480 h 2886120"/>
            </a:gdLst>
            <a:ahLst/>
            <a:rect l="textAreaLeft" t="textAreaTop" r="textAreaRight" b="textAreaBottom"/>
            <a:pathLst>
              <a:path w="4992398" h="2886514">
                <a:moveTo>
                  <a:pt x="0" y="0"/>
                </a:moveTo>
                <a:lnTo>
                  <a:pt x="4992398" y="0"/>
                </a:lnTo>
                <a:lnTo>
                  <a:pt x="4992398" y="2886514"/>
                </a:lnTo>
                <a:lnTo>
                  <a:pt x="0" y="2886514"/>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143" name="Group 5"/>
          <p:cNvGrpSpPr/>
          <p:nvPr/>
        </p:nvGrpSpPr>
        <p:grpSpPr>
          <a:xfrm>
            <a:off x="1679400" y="4569480"/>
            <a:ext cx="1147680" cy="1147680"/>
            <a:chOff x="1679400" y="4569480"/>
            <a:chExt cx="1147680" cy="1147680"/>
          </a:xfrm>
        </p:grpSpPr>
        <p:sp>
          <p:nvSpPr>
            <p:cNvPr id="144" name="Freeform 6"/>
            <p:cNvSpPr/>
            <p:nvPr/>
          </p:nvSpPr>
          <p:spPr>
            <a:xfrm>
              <a:off x="1679400" y="4569480"/>
              <a:ext cx="1147680" cy="1147680"/>
            </a:xfrm>
            <a:custGeom>
              <a:avLst/>
              <a:gdLst>
                <a:gd name="textAreaLeft" fmla="*/ 0 w 1147680"/>
                <a:gd name="textAreaRight" fmla="*/ 1148040 w 1147680"/>
                <a:gd name="textAreaTop" fmla="*/ 0 h 1147680"/>
                <a:gd name="textAreaBottom" fmla="*/ 1148040 h 114768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45" name="TextBox 7"/>
            <p:cNvSpPr/>
            <p:nvPr/>
          </p:nvSpPr>
          <p:spPr>
            <a:xfrm>
              <a:off x="1787040" y="4650120"/>
              <a:ext cx="932400" cy="959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146" name="Group 8"/>
          <p:cNvGrpSpPr/>
          <p:nvPr/>
        </p:nvGrpSpPr>
        <p:grpSpPr>
          <a:xfrm>
            <a:off x="15300360" y="7190640"/>
            <a:ext cx="1147680" cy="1147680"/>
            <a:chOff x="15300360" y="7190640"/>
            <a:chExt cx="1147680" cy="1147680"/>
          </a:xfrm>
        </p:grpSpPr>
        <p:sp>
          <p:nvSpPr>
            <p:cNvPr id="147" name="Freeform 9"/>
            <p:cNvSpPr/>
            <p:nvPr/>
          </p:nvSpPr>
          <p:spPr>
            <a:xfrm>
              <a:off x="15300360" y="7190640"/>
              <a:ext cx="1147680" cy="1147680"/>
            </a:xfrm>
            <a:custGeom>
              <a:avLst/>
              <a:gdLst>
                <a:gd name="textAreaLeft" fmla="*/ 0 w 1147680"/>
                <a:gd name="textAreaRight" fmla="*/ 1148040 w 1147680"/>
                <a:gd name="textAreaTop" fmla="*/ 0 h 1147680"/>
                <a:gd name="textAreaBottom" fmla="*/ 1148040 h 114768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48" name="TextBox 10"/>
            <p:cNvSpPr/>
            <p:nvPr/>
          </p:nvSpPr>
          <p:spPr>
            <a:xfrm>
              <a:off x="15407640" y="7271280"/>
              <a:ext cx="932400" cy="959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149" name="Freeform 11"/>
          <p:cNvSpPr/>
          <p:nvPr/>
        </p:nvSpPr>
        <p:spPr>
          <a:xfrm>
            <a:off x="720360" y="58896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50" name="Freeform 12"/>
          <p:cNvSpPr/>
          <p:nvPr/>
        </p:nvSpPr>
        <p:spPr>
          <a:xfrm>
            <a:off x="15475680" y="606240"/>
            <a:ext cx="1326960" cy="1293480"/>
          </a:xfrm>
          <a:custGeom>
            <a:avLst/>
            <a:gdLst>
              <a:gd name="textAreaLeft" fmla="*/ 0 w 1326960"/>
              <a:gd name="textAreaRight" fmla="*/ 1327320 w 1326960"/>
              <a:gd name="textAreaTop" fmla="*/ 0 h 1293480"/>
              <a:gd name="textAreaBottom" fmla="*/ 1293840 h 1293480"/>
            </a:gdLst>
            <a:ahLst/>
            <a:rect l="textAreaLeft" t="textAreaTop" r="textAreaRight" b="textAreaBottom"/>
            <a:pathLst>
              <a:path w="1327143" h="1293750">
                <a:moveTo>
                  <a:pt x="0" y="0"/>
                </a:moveTo>
                <a:lnTo>
                  <a:pt x="1327143" y="0"/>
                </a:lnTo>
                <a:lnTo>
                  <a:pt x="1327143" y="1293751"/>
                </a:lnTo>
                <a:lnTo>
                  <a:pt x="0" y="1293751"/>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51" name="Freeform 13"/>
          <p:cNvSpPr/>
          <p:nvPr/>
        </p:nvSpPr>
        <p:spPr>
          <a:xfrm>
            <a:off x="1964880" y="2638800"/>
            <a:ext cx="3482280" cy="1596240"/>
          </a:xfrm>
          <a:custGeom>
            <a:avLst/>
            <a:gdLst>
              <a:gd name="textAreaLeft" fmla="*/ 0 w 3482280"/>
              <a:gd name="textAreaRight" fmla="*/ 3482640 w 3482280"/>
              <a:gd name="textAreaTop" fmla="*/ 0 h 1596240"/>
              <a:gd name="textAreaBottom" fmla="*/ 1596600 h 1596240"/>
            </a:gdLst>
            <a:ahLst/>
            <a:rect l="textAreaLeft" t="textAreaTop" r="textAreaRight" b="textAreaBottom"/>
            <a:pathLst>
              <a:path w="3482670" h="1596706">
                <a:moveTo>
                  <a:pt x="0" y="0"/>
                </a:moveTo>
                <a:lnTo>
                  <a:pt x="3482670" y="0"/>
                </a:lnTo>
                <a:lnTo>
                  <a:pt x="3482670" y="1596706"/>
                </a:lnTo>
                <a:lnTo>
                  <a:pt x="0" y="1596706"/>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52" name="TextBox 14"/>
          <p:cNvSpPr/>
          <p:nvPr/>
        </p:nvSpPr>
        <p:spPr>
          <a:xfrm>
            <a:off x="1028880" y="767880"/>
            <a:ext cx="8778600" cy="73692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01 — Contexte &amp; Enjeux IoT</a:t>
            </a:r>
            <a:endParaRPr b="0" lang="fr-FR" sz="5000" spc="-1" strike="noStrike">
              <a:solidFill>
                <a:srgbClr val="ffffff"/>
              </a:solidFill>
              <a:latin typeface="Arial"/>
            </a:endParaRPr>
          </a:p>
        </p:txBody>
      </p:sp>
      <p:sp>
        <p:nvSpPr>
          <p:cNvPr id="153" name="TextBox 15"/>
          <p:cNvSpPr/>
          <p:nvPr/>
        </p:nvSpPr>
        <p:spPr>
          <a:xfrm>
            <a:off x="2288880" y="2955240"/>
            <a:ext cx="2319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1ffff"/>
                </a:solidFill>
                <a:latin typeface="Telegraf Medium"/>
                <a:ea typeface="Telegraf Medium"/>
              </a:rPr>
              <a:t>30 Mds</a:t>
            </a:r>
            <a:endParaRPr b="0" lang="fr-FR" sz="3000" spc="-1" strike="noStrike">
              <a:solidFill>
                <a:srgbClr val="ffffff"/>
              </a:solidFill>
              <a:latin typeface="Arial"/>
            </a:endParaRPr>
          </a:p>
        </p:txBody>
      </p:sp>
      <p:sp>
        <p:nvSpPr>
          <p:cNvPr id="154" name="TextBox 16"/>
          <p:cNvSpPr/>
          <p:nvPr/>
        </p:nvSpPr>
        <p:spPr>
          <a:xfrm>
            <a:off x="1964880" y="3580560"/>
            <a:ext cx="334152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appareils IoT en 2030</a:t>
            </a:r>
            <a:endParaRPr b="0" lang="fr-FR" sz="2000" spc="-1" strike="noStrike">
              <a:solidFill>
                <a:srgbClr val="ffffff"/>
              </a:solidFill>
              <a:latin typeface="Arial"/>
            </a:endParaRPr>
          </a:p>
        </p:txBody>
      </p:sp>
      <p:sp>
        <p:nvSpPr>
          <p:cNvPr id="155" name="Freeform 17"/>
          <p:cNvSpPr/>
          <p:nvPr/>
        </p:nvSpPr>
        <p:spPr>
          <a:xfrm>
            <a:off x="7095600" y="2638800"/>
            <a:ext cx="3482280" cy="1596240"/>
          </a:xfrm>
          <a:custGeom>
            <a:avLst/>
            <a:gdLst>
              <a:gd name="textAreaLeft" fmla="*/ 0 w 3482280"/>
              <a:gd name="textAreaRight" fmla="*/ 3482640 w 3482280"/>
              <a:gd name="textAreaTop" fmla="*/ 0 h 1596240"/>
              <a:gd name="textAreaBottom" fmla="*/ 1596600 h 1596240"/>
            </a:gdLst>
            <a:ahLst/>
            <a:rect l="textAreaLeft" t="textAreaTop" r="textAreaRight" b="textAreaBottom"/>
            <a:pathLst>
              <a:path w="3482670" h="1596706">
                <a:moveTo>
                  <a:pt x="0" y="0"/>
                </a:moveTo>
                <a:lnTo>
                  <a:pt x="3482670" y="0"/>
                </a:lnTo>
                <a:lnTo>
                  <a:pt x="3482670" y="1596706"/>
                </a:lnTo>
                <a:lnTo>
                  <a:pt x="0" y="1596706"/>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56" name="Freeform 18"/>
          <p:cNvSpPr/>
          <p:nvPr/>
        </p:nvSpPr>
        <p:spPr>
          <a:xfrm>
            <a:off x="11926080" y="2638800"/>
            <a:ext cx="3482280" cy="1596240"/>
          </a:xfrm>
          <a:custGeom>
            <a:avLst/>
            <a:gdLst>
              <a:gd name="textAreaLeft" fmla="*/ 0 w 3482280"/>
              <a:gd name="textAreaRight" fmla="*/ 3482640 w 3482280"/>
              <a:gd name="textAreaTop" fmla="*/ 0 h 1596240"/>
              <a:gd name="textAreaBottom" fmla="*/ 1596600 h 1596240"/>
            </a:gdLst>
            <a:ahLst/>
            <a:rect l="textAreaLeft" t="textAreaTop" r="textAreaRight" b="textAreaBottom"/>
            <a:pathLst>
              <a:path w="3482670" h="1596706">
                <a:moveTo>
                  <a:pt x="0" y="0"/>
                </a:moveTo>
                <a:lnTo>
                  <a:pt x="3482670" y="0"/>
                </a:lnTo>
                <a:lnTo>
                  <a:pt x="3482670" y="1596706"/>
                </a:lnTo>
                <a:lnTo>
                  <a:pt x="0" y="1596706"/>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57" name="TextBox 19"/>
          <p:cNvSpPr/>
          <p:nvPr/>
        </p:nvSpPr>
        <p:spPr>
          <a:xfrm>
            <a:off x="7677000" y="2955240"/>
            <a:ext cx="2319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1ffff"/>
                </a:solidFill>
                <a:latin typeface="Telegraf Medium"/>
                <a:ea typeface="Telegraf Medium"/>
              </a:rPr>
              <a:t>75%</a:t>
            </a:r>
            <a:endParaRPr b="0" lang="fr-FR" sz="3000" spc="-1" strike="noStrike">
              <a:solidFill>
                <a:srgbClr val="ffffff"/>
              </a:solidFill>
              <a:latin typeface="Arial"/>
            </a:endParaRPr>
          </a:p>
        </p:txBody>
      </p:sp>
      <p:sp>
        <p:nvSpPr>
          <p:cNvPr id="158" name="TextBox 20"/>
          <p:cNvSpPr/>
          <p:nvPr/>
        </p:nvSpPr>
        <p:spPr>
          <a:xfrm>
            <a:off x="7165800" y="3408480"/>
            <a:ext cx="3341520" cy="58932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réseaux avec IoT non sécurisé</a:t>
            </a:r>
            <a:endParaRPr b="0" lang="fr-FR" sz="2000" spc="-1" strike="noStrike">
              <a:solidFill>
                <a:srgbClr val="ffffff"/>
              </a:solidFill>
              <a:latin typeface="Arial"/>
            </a:endParaRPr>
          </a:p>
        </p:txBody>
      </p:sp>
      <p:sp>
        <p:nvSpPr>
          <p:cNvPr id="159" name="TextBox 21"/>
          <p:cNvSpPr/>
          <p:nvPr/>
        </p:nvSpPr>
        <p:spPr>
          <a:xfrm>
            <a:off x="12542760" y="2955240"/>
            <a:ext cx="2319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1ffff"/>
                </a:solidFill>
                <a:latin typeface="Telegraf Medium"/>
                <a:ea typeface="Telegraf Medium"/>
              </a:rPr>
              <a:t>57%</a:t>
            </a:r>
            <a:endParaRPr b="0" lang="fr-FR" sz="3000" spc="-1" strike="noStrike">
              <a:solidFill>
                <a:srgbClr val="ffffff"/>
              </a:solidFill>
              <a:latin typeface="Arial"/>
            </a:endParaRPr>
          </a:p>
        </p:txBody>
      </p:sp>
      <p:sp>
        <p:nvSpPr>
          <p:cNvPr id="160" name="TextBox 22"/>
          <p:cNvSpPr/>
          <p:nvPr/>
        </p:nvSpPr>
        <p:spPr>
          <a:xfrm>
            <a:off x="12139920" y="3408480"/>
            <a:ext cx="3341520" cy="58932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appareils vulnérables critiques</a:t>
            </a:r>
            <a:endParaRPr b="0" lang="fr-FR" sz="2000" spc="-1" strike="noStrike">
              <a:solidFill>
                <a:srgbClr val="ffffff"/>
              </a:solidFill>
              <a:latin typeface="Arial"/>
            </a:endParaRPr>
          </a:p>
        </p:txBody>
      </p:sp>
      <p:sp>
        <p:nvSpPr>
          <p:cNvPr id="161" name="TextBox 23"/>
          <p:cNvSpPr/>
          <p:nvPr/>
        </p:nvSpPr>
        <p:spPr>
          <a:xfrm>
            <a:off x="804960" y="4661640"/>
            <a:ext cx="58438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Architecture IoT en 3 couches</a:t>
            </a:r>
            <a:endParaRPr b="0" lang="fr-FR" sz="3000" spc="-1" strike="noStrike">
              <a:solidFill>
                <a:srgbClr val="ffffff"/>
              </a:solidFill>
              <a:latin typeface="Arial"/>
            </a:endParaRPr>
          </a:p>
        </p:txBody>
      </p:sp>
      <p:sp>
        <p:nvSpPr>
          <p:cNvPr id="162" name="TextBox 24"/>
          <p:cNvSpPr/>
          <p:nvPr/>
        </p:nvSpPr>
        <p:spPr>
          <a:xfrm>
            <a:off x="2432160" y="6022440"/>
            <a:ext cx="348696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1ffff"/>
                </a:solidFill>
                <a:latin typeface="Telegraf Medium"/>
                <a:ea typeface="Telegraf Medium"/>
              </a:rPr>
              <a:t>Couche Perception</a:t>
            </a:r>
            <a:endParaRPr b="0" lang="fr-FR" sz="3000" spc="-1" strike="noStrike">
              <a:solidFill>
                <a:srgbClr val="ffffff"/>
              </a:solidFill>
              <a:latin typeface="Arial"/>
            </a:endParaRPr>
          </a:p>
        </p:txBody>
      </p:sp>
      <p:sp>
        <p:nvSpPr>
          <p:cNvPr id="163" name="TextBox 25"/>
          <p:cNvSpPr/>
          <p:nvPr/>
        </p:nvSpPr>
        <p:spPr>
          <a:xfrm>
            <a:off x="1964880" y="7015320"/>
            <a:ext cx="4574880" cy="58860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Capteurs, actionneurs, RFID, caméras</a:t>
            </a:r>
            <a:endParaRPr b="0" lang="fr-FR" sz="2000" spc="-1" strike="noStrike">
              <a:solidFill>
                <a:srgbClr val="ffffff"/>
              </a:solidFill>
              <a:latin typeface="Arial"/>
            </a:endParaRPr>
          </a:p>
        </p:txBody>
      </p:sp>
      <p:sp>
        <p:nvSpPr>
          <p:cNvPr id="164" name="Freeform 26"/>
          <p:cNvSpPr/>
          <p:nvPr/>
        </p:nvSpPr>
        <p:spPr>
          <a:xfrm>
            <a:off x="7030440" y="5686920"/>
            <a:ext cx="4992120" cy="2886120"/>
          </a:xfrm>
          <a:custGeom>
            <a:avLst/>
            <a:gdLst>
              <a:gd name="textAreaLeft" fmla="*/ 0 w 4992120"/>
              <a:gd name="textAreaRight" fmla="*/ 4992480 w 4992120"/>
              <a:gd name="textAreaTop" fmla="*/ 0 h 2886120"/>
              <a:gd name="textAreaBottom" fmla="*/ 2886480 h 2886120"/>
            </a:gdLst>
            <a:ahLst/>
            <a:rect l="textAreaLeft" t="textAreaTop" r="textAreaRight" b="textAreaBottom"/>
            <a:pathLst>
              <a:path w="4992398" h="2886514">
                <a:moveTo>
                  <a:pt x="0" y="0"/>
                </a:moveTo>
                <a:lnTo>
                  <a:pt x="4992398" y="0"/>
                </a:lnTo>
                <a:lnTo>
                  <a:pt x="4992398" y="2886514"/>
                </a:lnTo>
                <a:lnTo>
                  <a:pt x="0" y="2886514"/>
                </a:lnTo>
                <a:lnTo>
                  <a:pt x="0" y="0"/>
                </a:lnTo>
                <a:close/>
              </a:path>
            </a:pathLst>
          </a:custGeom>
          <a:blipFill rotWithShape="0">
            <a:blip r:embed="rId11">
              <a:extLst>
                <a:ext uri="{96DAC541-7B7A-43D3-8B79-37D633B846F1}">
                  <asvg:svgBlip xmlns:asvg="http://schemas.microsoft.com/office/drawing/2016/SVG/main" r:embed="rId12"/>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65" name="Freeform 27"/>
          <p:cNvSpPr/>
          <p:nvPr/>
        </p:nvSpPr>
        <p:spPr>
          <a:xfrm>
            <a:off x="12381480" y="5773320"/>
            <a:ext cx="4992120" cy="2886120"/>
          </a:xfrm>
          <a:custGeom>
            <a:avLst/>
            <a:gdLst>
              <a:gd name="textAreaLeft" fmla="*/ 0 w 4992120"/>
              <a:gd name="textAreaRight" fmla="*/ 4992480 w 4992120"/>
              <a:gd name="textAreaTop" fmla="*/ 0 h 2886120"/>
              <a:gd name="textAreaBottom" fmla="*/ 2886480 h 2886120"/>
            </a:gdLst>
            <a:ahLst/>
            <a:rect l="textAreaLeft" t="textAreaTop" r="textAreaRight" b="textAreaBottom"/>
            <a:pathLst>
              <a:path w="4992398" h="2886514">
                <a:moveTo>
                  <a:pt x="0" y="0"/>
                </a:moveTo>
                <a:lnTo>
                  <a:pt x="4992398" y="0"/>
                </a:lnTo>
                <a:lnTo>
                  <a:pt x="4992398" y="2886514"/>
                </a:lnTo>
                <a:lnTo>
                  <a:pt x="0" y="2886514"/>
                </a:lnTo>
                <a:lnTo>
                  <a:pt x="0" y="0"/>
                </a:lnTo>
                <a:close/>
              </a:path>
            </a:pathLst>
          </a:custGeom>
          <a:blipFill rotWithShape="0">
            <a:blip r:embed="rId13">
              <a:extLst>
                <a:ext uri="{96DAC541-7B7A-43D3-8B79-37D633B846F1}">
                  <asvg:svgBlip xmlns:asvg="http://schemas.microsoft.com/office/drawing/2016/SVG/main" r:embed="rId14"/>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66" name="TextBox 28"/>
          <p:cNvSpPr/>
          <p:nvPr/>
        </p:nvSpPr>
        <p:spPr>
          <a:xfrm>
            <a:off x="7783200" y="6083280"/>
            <a:ext cx="3486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bd59"/>
                </a:solidFill>
                <a:latin typeface="Telegraf Medium"/>
                <a:ea typeface="Telegraf Medium"/>
              </a:rPr>
              <a:t>Couche Réseau</a:t>
            </a:r>
            <a:endParaRPr b="0" lang="fr-FR" sz="3000" spc="-1" strike="noStrike">
              <a:solidFill>
                <a:srgbClr val="ffffff"/>
              </a:solidFill>
              <a:latin typeface="Arial"/>
            </a:endParaRPr>
          </a:p>
        </p:txBody>
      </p:sp>
      <p:sp>
        <p:nvSpPr>
          <p:cNvPr id="167" name="TextBox 29"/>
          <p:cNvSpPr/>
          <p:nvPr/>
        </p:nvSpPr>
        <p:spPr>
          <a:xfrm>
            <a:off x="7165800" y="7040160"/>
            <a:ext cx="4574880" cy="29484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Wi-Fi, Zigbee, LoRa, 5G, passerelles</a:t>
            </a:r>
            <a:endParaRPr b="0" lang="fr-FR" sz="2000" spc="-1" strike="noStrike">
              <a:solidFill>
                <a:srgbClr val="ffffff"/>
              </a:solidFill>
              <a:latin typeface="Arial"/>
            </a:endParaRPr>
          </a:p>
        </p:txBody>
      </p:sp>
      <p:sp>
        <p:nvSpPr>
          <p:cNvPr id="168" name="TextBox 30"/>
          <p:cNvSpPr/>
          <p:nvPr/>
        </p:nvSpPr>
        <p:spPr>
          <a:xfrm>
            <a:off x="12952080" y="6022440"/>
            <a:ext cx="38509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3131"/>
                </a:solidFill>
                <a:latin typeface="Telegraf Medium"/>
                <a:ea typeface="Telegraf Medium"/>
              </a:rPr>
              <a:t>Couche Application</a:t>
            </a:r>
            <a:endParaRPr b="0" lang="fr-FR" sz="3000" spc="-1" strike="noStrike">
              <a:solidFill>
                <a:srgbClr val="ffffff"/>
              </a:solidFill>
              <a:latin typeface="Arial"/>
            </a:endParaRPr>
          </a:p>
        </p:txBody>
      </p:sp>
      <p:sp>
        <p:nvSpPr>
          <p:cNvPr id="169" name="TextBox 31"/>
          <p:cNvSpPr/>
          <p:nvPr/>
        </p:nvSpPr>
        <p:spPr>
          <a:xfrm>
            <a:off x="12508560" y="7013880"/>
            <a:ext cx="4574880" cy="58932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Plateformes cloud, APIs Web, dashboards</a:t>
            </a:r>
            <a:endParaRPr b="0" lang="fr-FR"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170"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1"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2"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3" name="TextBox 5"/>
          <p:cNvSpPr/>
          <p:nvPr/>
        </p:nvSpPr>
        <p:spPr>
          <a:xfrm>
            <a:off x="1326240" y="796680"/>
            <a:ext cx="15233760" cy="73692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02 — OWASP IoT Top 10 : Principales Menaces</a:t>
            </a:r>
            <a:endParaRPr b="0" lang="fr-FR" sz="5000" spc="-1" strike="noStrike">
              <a:solidFill>
                <a:srgbClr val="ffffff"/>
              </a:solidFill>
              <a:latin typeface="Arial"/>
            </a:endParaRPr>
          </a:p>
        </p:txBody>
      </p:sp>
      <p:sp>
        <p:nvSpPr>
          <p:cNvPr id="174" name="Freeform 6"/>
          <p:cNvSpPr/>
          <p:nvPr/>
        </p:nvSpPr>
        <p:spPr>
          <a:xfrm>
            <a:off x="516600" y="210276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0" y="0"/>
                </a:lnTo>
                <a:lnTo>
                  <a:pt x="7240690" y="1606604"/>
                </a:lnTo>
                <a:lnTo>
                  <a:pt x="0" y="160660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5" name="Freeform 7"/>
          <p:cNvSpPr/>
          <p:nvPr/>
        </p:nvSpPr>
        <p:spPr>
          <a:xfrm>
            <a:off x="961920" y="232344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6" name="TextBox 8"/>
          <p:cNvSpPr/>
          <p:nvPr/>
        </p:nvSpPr>
        <p:spPr>
          <a:xfrm>
            <a:off x="1095480" y="260568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01</a:t>
            </a:r>
            <a:endParaRPr b="0" lang="fr-FR" sz="3000" spc="-1" strike="noStrike">
              <a:solidFill>
                <a:srgbClr val="ffffff"/>
              </a:solidFill>
              <a:latin typeface="Arial"/>
            </a:endParaRPr>
          </a:p>
        </p:txBody>
      </p:sp>
      <p:sp>
        <p:nvSpPr>
          <p:cNvPr id="177" name="TextBox 9"/>
          <p:cNvSpPr/>
          <p:nvPr/>
        </p:nvSpPr>
        <p:spPr>
          <a:xfrm>
            <a:off x="2232360" y="2605680"/>
            <a:ext cx="4112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Mots de passe faibles</a:t>
            </a:r>
            <a:endParaRPr b="0" lang="fr-FR" sz="3000" spc="-1" strike="noStrike">
              <a:solidFill>
                <a:srgbClr val="ffffff"/>
              </a:solidFill>
              <a:latin typeface="Arial"/>
            </a:endParaRPr>
          </a:p>
        </p:txBody>
      </p:sp>
      <p:sp>
        <p:nvSpPr>
          <p:cNvPr id="178" name="Freeform 10"/>
          <p:cNvSpPr/>
          <p:nvPr/>
        </p:nvSpPr>
        <p:spPr>
          <a:xfrm>
            <a:off x="516600" y="360000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0" y="0"/>
                </a:lnTo>
                <a:lnTo>
                  <a:pt x="7240690" y="1606604"/>
                </a:lnTo>
                <a:lnTo>
                  <a:pt x="0" y="1606604"/>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79" name="Freeform 11"/>
          <p:cNvSpPr/>
          <p:nvPr/>
        </p:nvSpPr>
        <p:spPr>
          <a:xfrm>
            <a:off x="516600" y="520668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0" y="0"/>
                </a:lnTo>
                <a:lnTo>
                  <a:pt x="7240690" y="1606605"/>
                </a:lnTo>
                <a:lnTo>
                  <a:pt x="0" y="1606605"/>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0" name="Freeform 12"/>
          <p:cNvSpPr/>
          <p:nvPr/>
        </p:nvSpPr>
        <p:spPr>
          <a:xfrm>
            <a:off x="516600" y="681300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0" y="0"/>
                </a:lnTo>
                <a:lnTo>
                  <a:pt x="7240690" y="1606604"/>
                </a:lnTo>
                <a:lnTo>
                  <a:pt x="0" y="1606604"/>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1" name="Freeform 13"/>
          <p:cNvSpPr/>
          <p:nvPr/>
        </p:nvSpPr>
        <p:spPr>
          <a:xfrm>
            <a:off x="516600" y="844488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0" y="0"/>
                </a:lnTo>
                <a:lnTo>
                  <a:pt x="7240690" y="1606604"/>
                </a:lnTo>
                <a:lnTo>
                  <a:pt x="0" y="1606604"/>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2" name="Freeform 14"/>
          <p:cNvSpPr/>
          <p:nvPr/>
        </p:nvSpPr>
        <p:spPr>
          <a:xfrm>
            <a:off x="961920" y="383616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3" name="Freeform 15"/>
          <p:cNvSpPr/>
          <p:nvPr/>
        </p:nvSpPr>
        <p:spPr>
          <a:xfrm>
            <a:off x="961920" y="544284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3"/>
                </a:lnTo>
                <a:lnTo>
                  <a:pt x="0" y="1075013"/>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4" name="Freeform 16"/>
          <p:cNvSpPr/>
          <p:nvPr/>
        </p:nvSpPr>
        <p:spPr>
          <a:xfrm>
            <a:off x="961920" y="707904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3"/>
                </a:lnTo>
                <a:lnTo>
                  <a:pt x="0" y="1075013"/>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5" name="Freeform 17"/>
          <p:cNvSpPr/>
          <p:nvPr/>
        </p:nvSpPr>
        <p:spPr>
          <a:xfrm>
            <a:off x="1028880" y="865800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1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86" name="TextBox 18"/>
          <p:cNvSpPr/>
          <p:nvPr/>
        </p:nvSpPr>
        <p:spPr>
          <a:xfrm>
            <a:off x="1950480" y="4202640"/>
            <a:ext cx="552456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Services réseau non sécurisés</a:t>
            </a:r>
            <a:endParaRPr b="0" lang="fr-FR" sz="3000" spc="-1" strike="noStrike">
              <a:solidFill>
                <a:srgbClr val="ffffff"/>
              </a:solidFill>
              <a:latin typeface="Arial"/>
            </a:endParaRPr>
          </a:p>
        </p:txBody>
      </p:sp>
      <p:sp>
        <p:nvSpPr>
          <p:cNvPr id="187" name="TextBox 19"/>
          <p:cNvSpPr/>
          <p:nvPr/>
        </p:nvSpPr>
        <p:spPr>
          <a:xfrm>
            <a:off x="2091240" y="5535720"/>
            <a:ext cx="524268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Interfaces écosystème non sécurisées</a:t>
            </a:r>
            <a:endParaRPr b="0" lang="fr-FR" sz="3000" spc="-1" strike="noStrike">
              <a:solidFill>
                <a:srgbClr val="ffffff"/>
              </a:solidFill>
              <a:latin typeface="Arial"/>
            </a:endParaRPr>
          </a:p>
        </p:txBody>
      </p:sp>
      <p:sp>
        <p:nvSpPr>
          <p:cNvPr id="188" name="TextBox 20"/>
          <p:cNvSpPr/>
          <p:nvPr/>
        </p:nvSpPr>
        <p:spPr>
          <a:xfrm>
            <a:off x="2161800" y="7172640"/>
            <a:ext cx="510192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Mécanismes de mise à jour absents</a:t>
            </a:r>
            <a:endParaRPr b="0" lang="fr-FR" sz="3000" spc="-1" strike="noStrike">
              <a:solidFill>
                <a:srgbClr val="ffffff"/>
              </a:solidFill>
              <a:latin typeface="Arial"/>
            </a:endParaRPr>
          </a:p>
        </p:txBody>
      </p:sp>
      <p:sp>
        <p:nvSpPr>
          <p:cNvPr id="189" name="TextBox 21"/>
          <p:cNvSpPr/>
          <p:nvPr/>
        </p:nvSpPr>
        <p:spPr>
          <a:xfrm>
            <a:off x="2232360" y="8773560"/>
            <a:ext cx="490536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Composants obsolètes/non sécurisés</a:t>
            </a:r>
            <a:endParaRPr b="0" lang="fr-FR" sz="3000" spc="-1" strike="noStrike">
              <a:solidFill>
                <a:srgbClr val="ffffff"/>
              </a:solidFill>
              <a:latin typeface="Arial"/>
            </a:endParaRPr>
          </a:p>
        </p:txBody>
      </p:sp>
      <p:sp>
        <p:nvSpPr>
          <p:cNvPr id="190" name="TextBox 22"/>
          <p:cNvSpPr/>
          <p:nvPr/>
        </p:nvSpPr>
        <p:spPr>
          <a:xfrm>
            <a:off x="1095480" y="414792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02</a:t>
            </a:r>
            <a:endParaRPr b="0" lang="fr-FR" sz="3000" spc="-1" strike="noStrike">
              <a:solidFill>
                <a:srgbClr val="ffffff"/>
              </a:solidFill>
              <a:latin typeface="Arial"/>
            </a:endParaRPr>
          </a:p>
        </p:txBody>
      </p:sp>
      <p:sp>
        <p:nvSpPr>
          <p:cNvPr id="191" name="TextBox 23"/>
          <p:cNvSpPr/>
          <p:nvPr/>
        </p:nvSpPr>
        <p:spPr>
          <a:xfrm>
            <a:off x="1095480" y="569052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03</a:t>
            </a:r>
            <a:endParaRPr b="0" lang="fr-FR" sz="3000" spc="-1" strike="noStrike">
              <a:solidFill>
                <a:srgbClr val="ffffff"/>
              </a:solidFill>
              <a:latin typeface="Arial"/>
            </a:endParaRPr>
          </a:p>
        </p:txBody>
      </p:sp>
      <p:sp>
        <p:nvSpPr>
          <p:cNvPr id="192" name="TextBox 24"/>
          <p:cNvSpPr/>
          <p:nvPr/>
        </p:nvSpPr>
        <p:spPr>
          <a:xfrm>
            <a:off x="1095480" y="723276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04</a:t>
            </a:r>
            <a:endParaRPr b="0" lang="fr-FR" sz="3000" spc="-1" strike="noStrike">
              <a:solidFill>
                <a:srgbClr val="ffffff"/>
              </a:solidFill>
              <a:latin typeface="Arial"/>
            </a:endParaRPr>
          </a:p>
        </p:txBody>
      </p:sp>
      <p:sp>
        <p:nvSpPr>
          <p:cNvPr id="193" name="TextBox 25"/>
          <p:cNvSpPr/>
          <p:nvPr/>
        </p:nvSpPr>
        <p:spPr>
          <a:xfrm>
            <a:off x="1095480" y="877500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05</a:t>
            </a:r>
            <a:endParaRPr b="0" lang="fr-FR" sz="3000" spc="-1" strike="noStrike">
              <a:solidFill>
                <a:srgbClr val="ffffff"/>
              </a:solidFill>
              <a:latin typeface="Arial"/>
            </a:endParaRPr>
          </a:p>
        </p:txBody>
      </p:sp>
      <p:sp>
        <p:nvSpPr>
          <p:cNvPr id="194" name="Freeform 26"/>
          <p:cNvSpPr/>
          <p:nvPr/>
        </p:nvSpPr>
        <p:spPr>
          <a:xfrm>
            <a:off x="9562320" y="199332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1" y="0"/>
                </a:lnTo>
                <a:lnTo>
                  <a:pt x="7240691" y="1606604"/>
                </a:lnTo>
                <a:lnTo>
                  <a:pt x="0" y="1606604"/>
                </a:lnTo>
                <a:lnTo>
                  <a:pt x="0" y="0"/>
                </a:lnTo>
                <a:close/>
              </a:path>
            </a:pathLst>
          </a:custGeom>
          <a:blipFill rotWithShape="0">
            <a:blip r:embed="rId1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95" name="Freeform 27"/>
          <p:cNvSpPr/>
          <p:nvPr/>
        </p:nvSpPr>
        <p:spPr>
          <a:xfrm>
            <a:off x="9562320" y="353700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1" y="0"/>
                </a:lnTo>
                <a:lnTo>
                  <a:pt x="7240691" y="1606604"/>
                </a:lnTo>
                <a:lnTo>
                  <a:pt x="0" y="1606604"/>
                </a:lnTo>
                <a:lnTo>
                  <a:pt x="0" y="0"/>
                </a:lnTo>
                <a:close/>
              </a:path>
            </a:pathLst>
          </a:custGeom>
          <a:blipFill rotWithShape="0">
            <a:blip r:embed="rId1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96" name="Freeform 28"/>
          <p:cNvSpPr/>
          <p:nvPr/>
        </p:nvSpPr>
        <p:spPr>
          <a:xfrm>
            <a:off x="9562320" y="508032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1" y="0"/>
                </a:lnTo>
                <a:lnTo>
                  <a:pt x="7240691" y="1606604"/>
                </a:lnTo>
                <a:lnTo>
                  <a:pt x="0" y="1606604"/>
                </a:lnTo>
                <a:lnTo>
                  <a:pt x="0" y="0"/>
                </a:lnTo>
                <a:close/>
              </a:path>
            </a:pathLst>
          </a:custGeom>
          <a:blipFill rotWithShape="0">
            <a:blip r:embed="rId1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97" name="Freeform 29"/>
          <p:cNvSpPr/>
          <p:nvPr/>
        </p:nvSpPr>
        <p:spPr>
          <a:xfrm>
            <a:off x="9562320" y="662400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1" y="0"/>
                </a:lnTo>
                <a:lnTo>
                  <a:pt x="7240691" y="1606604"/>
                </a:lnTo>
                <a:lnTo>
                  <a:pt x="0" y="1606604"/>
                </a:lnTo>
                <a:lnTo>
                  <a:pt x="0" y="0"/>
                </a:lnTo>
                <a:close/>
              </a:path>
            </a:pathLst>
          </a:custGeom>
          <a:blipFill rotWithShape="0">
            <a:blip r:embed="rId1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98" name="Freeform 30"/>
          <p:cNvSpPr/>
          <p:nvPr/>
        </p:nvSpPr>
        <p:spPr>
          <a:xfrm>
            <a:off x="9562320" y="8167680"/>
            <a:ext cx="7240320" cy="1606320"/>
          </a:xfrm>
          <a:custGeom>
            <a:avLst/>
            <a:gdLst>
              <a:gd name="textAreaLeft" fmla="*/ 0 w 7240320"/>
              <a:gd name="textAreaRight" fmla="*/ 7240680 w 7240320"/>
              <a:gd name="textAreaTop" fmla="*/ 0 h 1606320"/>
              <a:gd name="textAreaBottom" fmla="*/ 1606680 h 1606320"/>
            </a:gdLst>
            <a:ahLst/>
            <a:rect l="textAreaLeft" t="textAreaTop" r="textAreaRight" b="textAreaBottom"/>
            <a:pathLst>
              <a:path w="7240691" h="1606604">
                <a:moveTo>
                  <a:pt x="0" y="0"/>
                </a:moveTo>
                <a:lnTo>
                  <a:pt x="7240691" y="0"/>
                </a:lnTo>
                <a:lnTo>
                  <a:pt x="7240691" y="1606604"/>
                </a:lnTo>
                <a:lnTo>
                  <a:pt x="0" y="1606604"/>
                </a:lnTo>
                <a:lnTo>
                  <a:pt x="0" y="0"/>
                </a:lnTo>
                <a:close/>
              </a:path>
            </a:pathLst>
          </a:custGeom>
          <a:blipFill rotWithShape="0">
            <a:blip r:embed="rId1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99" name="Freeform 31"/>
          <p:cNvSpPr/>
          <p:nvPr/>
        </p:nvSpPr>
        <p:spPr>
          <a:xfrm>
            <a:off x="9903240" y="216576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2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00" name="TextBox 32"/>
          <p:cNvSpPr/>
          <p:nvPr/>
        </p:nvSpPr>
        <p:spPr>
          <a:xfrm>
            <a:off x="9903240" y="244800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06</a:t>
            </a:r>
            <a:endParaRPr b="0" lang="fr-FR" sz="3000" spc="-1" strike="noStrike">
              <a:solidFill>
                <a:srgbClr val="ffffff"/>
              </a:solidFill>
              <a:latin typeface="Arial"/>
            </a:endParaRPr>
          </a:p>
        </p:txBody>
      </p:sp>
      <p:sp>
        <p:nvSpPr>
          <p:cNvPr id="201" name="Freeform 33"/>
          <p:cNvSpPr/>
          <p:nvPr/>
        </p:nvSpPr>
        <p:spPr>
          <a:xfrm>
            <a:off x="9903240" y="380268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2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02" name="Freeform 34"/>
          <p:cNvSpPr/>
          <p:nvPr/>
        </p:nvSpPr>
        <p:spPr>
          <a:xfrm>
            <a:off x="9903240" y="526716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2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03" name="Freeform 35"/>
          <p:cNvSpPr/>
          <p:nvPr/>
        </p:nvSpPr>
        <p:spPr>
          <a:xfrm>
            <a:off x="9903240" y="681084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2"/>
                </a:lnTo>
                <a:lnTo>
                  <a:pt x="0" y="1075012"/>
                </a:lnTo>
                <a:lnTo>
                  <a:pt x="0" y="0"/>
                </a:lnTo>
                <a:close/>
              </a:path>
            </a:pathLst>
          </a:custGeom>
          <a:blipFill rotWithShape="0">
            <a:blip r:embed="rId2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04" name="Freeform 36"/>
          <p:cNvSpPr/>
          <p:nvPr/>
        </p:nvSpPr>
        <p:spPr>
          <a:xfrm>
            <a:off x="9910800" y="8430480"/>
            <a:ext cx="921240" cy="1074600"/>
          </a:xfrm>
          <a:custGeom>
            <a:avLst/>
            <a:gdLst>
              <a:gd name="textAreaLeft" fmla="*/ 0 w 921240"/>
              <a:gd name="textAreaRight" fmla="*/ 921600 w 921240"/>
              <a:gd name="textAreaTop" fmla="*/ 0 h 1074600"/>
              <a:gd name="textAreaBottom" fmla="*/ 1074960 h 1074600"/>
            </a:gdLst>
            <a:ahLst/>
            <a:rect l="textAreaLeft" t="textAreaTop" r="textAreaRight" b="textAreaBottom"/>
            <a:pathLst>
              <a:path w="921766" h="1075012">
                <a:moveTo>
                  <a:pt x="0" y="0"/>
                </a:moveTo>
                <a:lnTo>
                  <a:pt x="921766" y="0"/>
                </a:lnTo>
                <a:lnTo>
                  <a:pt x="921766" y="1075013"/>
                </a:lnTo>
                <a:lnTo>
                  <a:pt x="0" y="1075013"/>
                </a:lnTo>
                <a:lnTo>
                  <a:pt x="0" y="0"/>
                </a:lnTo>
                <a:close/>
              </a:path>
            </a:pathLst>
          </a:custGeom>
          <a:blipFill rotWithShape="0">
            <a:blip r:embed="rId2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05" name="TextBox 37"/>
          <p:cNvSpPr/>
          <p:nvPr/>
        </p:nvSpPr>
        <p:spPr>
          <a:xfrm>
            <a:off x="10037160" y="403668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07</a:t>
            </a:r>
            <a:endParaRPr b="0" lang="fr-FR" sz="3000" spc="-1" strike="noStrike">
              <a:solidFill>
                <a:srgbClr val="ffffff"/>
              </a:solidFill>
              <a:latin typeface="Arial"/>
            </a:endParaRPr>
          </a:p>
        </p:txBody>
      </p:sp>
      <p:sp>
        <p:nvSpPr>
          <p:cNvPr id="206" name="TextBox 38"/>
          <p:cNvSpPr/>
          <p:nvPr/>
        </p:nvSpPr>
        <p:spPr>
          <a:xfrm>
            <a:off x="9970200" y="562860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08</a:t>
            </a:r>
            <a:endParaRPr b="0" lang="fr-FR" sz="3000" spc="-1" strike="noStrike">
              <a:solidFill>
                <a:srgbClr val="ffffff"/>
              </a:solidFill>
              <a:latin typeface="Arial"/>
            </a:endParaRPr>
          </a:p>
        </p:txBody>
      </p:sp>
      <p:sp>
        <p:nvSpPr>
          <p:cNvPr id="207" name="TextBox 39"/>
          <p:cNvSpPr/>
          <p:nvPr/>
        </p:nvSpPr>
        <p:spPr>
          <a:xfrm>
            <a:off x="9903240" y="717264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09</a:t>
            </a:r>
            <a:endParaRPr b="0" lang="fr-FR" sz="3000" spc="-1" strike="noStrike">
              <a:solidFill>
                <a:srgbClr val="ffffff"/>
              </a:solidFill>
              <a:latin typeface="Arial"/>
            </a:endParaRPr>
          </a:p>
        </p:txBody>
      </p:sp>
      <p:sp>
        <p:nvSpPr>
          <p:cNvPr id="208" name="TextBox 40"/>
          <p:cNvSpPr/>
          <p:nvPr/>
        </p:nvSpPr>
        <p:spPr>
          <a:xfrm>
            <a:off x="10037160" y="8716320"/>
            <a:ext cx="787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10</a:t>
            </a:r>
            <a:endParaRPr b="0" lang="fr-FR" sz="3000" spc="-1" strike="noStrike">
              <a:solidFill>
                <a:srgbClr val="ffffff"/>
              </a:solidFill>
              <a:latin typeface="Arial"/>
            </a:endParaRPr>
          </a:p>
        </p:txBody>
      </p:sp>
      <p:sp>
        <p:nvSpPr>
          <p:cNvPr id="209" name="TextBox 41"/>
          <p:cNvSpPr/>
          <p:nvPr/>
        </p:nvSpPr>
        <p:spPr>
          <a:xfrm>
            <a:off x="11023200" y="2320560"/>
            <a:ext cx="514800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Protection vie privée insuffisante</a:t>
            </a:r>
            <a:endParaRPr b="0" lang="fr-FR" sz="3000" spc="-1" strike="noStrike">
              <a:solidFill>
                <a:srgbClr val="ffffff"/>
              </a:solidFill>
              <a:latin typeface="Arial"/>
            </a:endParaRPr>
          </a:p>
        </p:txBody>
      </p:sp>
      <p:sp>
        <p:nvSpPr>
          <p:cNvPr id="210" name="TextBox 42"/>
          <p:cNvSpPr/>
          <p:nvPr/>
        </p:nvSpPr>
        <p:spPr>
          <a:xfrm>
            <a:off x="11177640" y="3807720"/>
            <a:ext cx="426672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Transfert/stockage de données non sécurisé</a:t>
            </a:r>
            <a:endParaRPr b="0" lang="fr-FR" sz="3000" spc="-1" strike="noStrike">
              <a:solidFill>
                <a:srgbClr val="ffffff"/>
              </a:solidFill>
              <a:latin typeface="Arial"/>
            </a:endParaRPr>
          </a:p>
        </p:txBody>
      </p:sp>
      <p:sp>
        <p:nvSpPr>
          <p:cNvPr id="211" name="TextBox 43"/>
          <p:cNvSpPr/>
          <p:nvPr/>
        </p:nvSpPr>
        <p:spPr>
          <a:xfrm>
            <a:off x="11023200" y="5380200"/>
            <a:ext cx="499356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Manque de gestion des appareils</a:t>
            </a:r>
            <a:endParaRPr b="0" lang="fr-FR" sz="3000" spc="-1" strike="noStrike">
              <a:solidFill>
                <a:srgbClr val="ffffff"/>
              </a:solidFill>
              <a:latin typeface="Arial"/>
            </a:endParaRPr>
          </a:p>
        </p:txBody>
      </p:sp>
      <p:sp>
        <p:nvSpPr>
          <p:cNvPr id="212" name="TextBox 44"/>
          <p:cNvSpPr/>
          <p:nvPr/>
        </p:nvSpPr>
        <p:spPr>
          <a:xfrm>
            <a:off x="11023200" y="6953040"/>
            <a:ext cx="499356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Paramètres par défaut non sécurisés</a:t>
            </a:r>
            <a:endParaRPr b="0" lang="fr-FR" sz="3000" spc="-1" strike="noStrike">
              <a:solidFill>
                <a:srgbClr val="ffffff"/>
              </a:solidFill>
              <a:latin typeface="Arial"/>
            </a:endParaRPr>
          </a:p>
        </p:txBody>
      </p:sp>
      <p:sp>
        <p:nvSpPr>
          <p:cNvPr id="213" name="TextBox 45"/>
          <p:cNvSpPr/>
          <p:nvPr/>
        </p:nvSpPr>
        <p:spPr>
          <a:xfrm>
            <a:off x="11100600" y="8468640"/>
            <a:ext cx="4993560" cy="8838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Absence de durcissement physique</a:t>
            </a:r>
            <a:endParaRPr b="0" lang="fr-FR"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214" name="Freeform 2"/>
          <p:cNvSpPr/>
          <p:nvPr/>
        </p:nvSpPr>
        <p:spPr>
          <a:xfrm flipH="1">
            <a:off x="-10742760" y="-32526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9" y="0"/>
                </a:moveTo>
                <a:lnTo>
                  <a:pt x="0" y="0"/>
                </a:lnTo>
                <a:lnTo>
                  <a:pt x="0" y="16235139"/>
                </a:lnTo>
                <a:lnTo>
                  <a:pt x="16235139" y="16235139"/>
                </a:lnTo>
                <a:lnTo>
                  <a:pt x="16235139"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15"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16"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17" name="Freeform 5"/>
          <p:cNvSpPr/>
          <p:nvPr/>
        </p:nvSpPr>
        <p:spPr>
          <a:xfrm>
            <a:off x="15901560" y="556560"/>
            <a:ext cx="1177200" cy="1177200"/>
          </a:xfrm>
          <a:custGeom>
            <a:avLst/>
            <a:gdLst>
              <a:gd name="textAreaLeft" fmla="*/ 0 w 1177200"/>
              <a:gd name="textAreaRight" fmla="*/ 1177560 w 1177200"/>
              <a:gd name="textAreaTop" fmla="*/ 0 h 1177200"/>
              <a:gd name="textAreaBottom" fmla="*/ 1177560 h 1177200"/>
            </a:gdLst>
            <a:ahLst/>
            <a:rect l="textAreaLeft" t="textAreaTop" r="textAreaRight" b="textAreaBottom"/>
            <a:pathLst>
              <a:path w="1177584" h="1177584">
                <a:moveTo>
                  <a:pt x="0" y="0"/>
                </a:moveTo>
                <a:lnTo>
                  <a:pt x="1177584" y="0"/>
                </a:lnTo>
                <a:lnTo>
                  <a:pt x="1177584" y="1177584"/>
                </a:lnTo>
                <a:lnTo>
                  <a:pt x="0" y="117758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18" name="Freeform 6"/>
          <p:cNvSpPr/>
          <p:nvPr/>
        </p:nvSpPr>
        <p:spPr>
          <a:xfrm>
            <a:off x="611640" y="2149560"/>
            <a:ext cx="8713800" cy="3734280"/>
          </a:xfrm>
          <a:custGeom>
            <a:avLst/>
            <a:gdLst>
              <a:gd name="textAreaLeft" fmla="*/ 0 w 8713800"/>
              <a:gd name="textAreaRight" fmla="*/ 8714160 w 8713800"/>
              <a:gd name="textAreaTop" fmla="*/ 0 h 3734280"/>
              <a:gd name="textAreaBottom" fmla="*/ 3734640 h 3734280"/>
            </a:gdLst>
            <a:ahLst/>
            <a:rect l="textAreaLeft" t="textAreaTop" r="textAreaRight" b="textAreaBottom"/>
            <a:pathLst>
              <a:path w="8714186" h="3734651">
                <a:moveTo>
                  <a:pt x="0" y="0"/>
                </a:moveTo>
                <a:lnTo>
                  <a:pt x="8714186" y="0"/>
                </a:lnTo>
                <a:lnTo>
                  <a:pt x="8714186" y="3734651"/>
                </a:lnTo>
                <a:lnTo>
                  <a:pt x="0" y="3734651"/>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19" name="Freeform 7"/>
          <p:cNvSpPr/>
          <p:nvPr/>
        </p:nvSpPr>
        <p:spPr>
          <a:xfrm>
            <a:off x="734760" y="2351520"/>
            <a:ext cx="8334000" cy="865800"/>
          </a:xfrm>
          <a:custGeom>
            <a:avLst/>
            <a:gdLst>
              <a:gd name="textAreaLeft" fmla="*/ 0 w 8334000"/>
              <a:gd name="textAreaRight" fmla="*/ 8334360 w 8334000"/>
              <a:gd name="textAreaTop" fmla="*/ 0 h 865800"/>
              <a:gd name="textAreaBottom" fmla="*/ 866160 h 865800"/>
            </a:gdLst>
            <a:ahLst/>
            <a:rect l="textAreaLeft" t="textAreaTop" r="textAreaRight" b="textAreaBottom"/>
            <a:pathLst>
              <a:path w="8334511" h="866173">
                <a:moveTo>
                  <a:pt x="0" y="0"/>
                </a:moveTo>
                <a:lnTo>
                  <a:pt x="8334511" y="0"/>
                </a:lnTo>
                <a:lnTo>
                  <a:pt x="8334511" y="866173"/>
                </a:lnTo>
                <a:lnTo>
                  <a:pt x="0" y="866173"/>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0" name="Freeform 8"/>
          <p:cNvSpPr/>
          <p:nvPr/>
        </p:nvSpPr>
        <p:spPr>
          <a:xfrm>
            <a:off x="9567360" y="226908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8" y="0"/>
                </a:lnTo>
                <a:lnTo>
                  <a:pt x="8435038" y="3615016"/>
                </a:lnTo>
                <a:lnTo>
                  <a:pt x="0" y="3615016"/>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1" name="Freeform 9"/>
          <p:cNvSpPr/>
          <p:nvPr/>
        </p:nvSpPr>
        <p:spPr>
          <a:xfrm>
            <a:off x="9721800" y="2471040"/>
            <a:ext cx="8006760" cy="831960"/>
          </a:xfrm>
          <a:custGeom>
            <a:avLst/>
            <a:gdLst>
              <a:gd name="textAreaLeft" fmla="*/ 0 w 8006760"/>
              <a:gd name="textAreaRight" fmla="*/ 8007120 w 8006760"/>
              <a:gd name="textAreaTop" fmla="*/ 0 h 831960"/>
              <a:gd name="textAreaBottom" fmla="*/ 832320 h 831960"/>
            </a:gdLst>
            <a:ahLst/>
            <a:rect l="textAreaLeft" t="textAreaTop" r="textAreaRight" b="textAreaBottom"/>
            <a:pathLst>
              <a:path w="8007219" h="832159">
                <a:moveTo>
                  <a:pt x="0" y="0"/>
                </a:moveTo>
                <a:lnTo>
                  <a:pt x="8007219" y="0"/>
                </a:lnTo>
                <a:lnTo>
                  <a:pt x="8007219" y="832159"/>
                </a:lnTo>
                <a:lnTo>
                  <a:pt x="0" y="832159"/>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2" name="Freeform 10"/>
          <p:cNvSpPr/>
          <p:nvPr/>
        </p:nvSpPr>
        <p:spPr>
          <a:xfrm>
            <a:off x="734760" y="5884200"/>
            <a:ext cx="8562960" cy="3669480"/>
          </a:xfrm>
          <a:custGeom>
            <a:avLst/>
            <a:gdLst>
              <a:gd name="textAreaLeft" fmla="*/ 0 w 8562960"/>
              <a:gd name="textAreaRight" fmla="*/ 8563320 w 8562960"/>
              <a:gd name="textAreaTop" fmla="*/ 0 h 3669480"/>
              <a:gd name="textAreaBottom" fmla="*/ 3669840 h 3669480"/>
            </a:gdLst>
            <a:ahLst/>
            <a:rect l="textAreaLeft" t="textAreaTop" r="textAreaRight" b="textAreaBottom"/>
            <a:pathLst>
              <a:path w="8563301" h="3669986">
                <a:moveTo>
                  <a:pt x="0" y="0"/>
                </a:moveTo>
                <a:lnTo>
                  <a:pt x="8563301" y="0"/>
                </a:lnTo>
                <a:lnTo>
                  <a:pt x="8563301" y="3669987"/>
                </a:lnTo>
                <a:lnTo>
                  <a:pt x="0" y="3669987"/>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3" name="Freeform 11"/>
          <p:cNvSpPr/>
          <p:nvPr/>
        </p:nvSpPr>
        <p:spPr>
          <a:xfrm>
            <a:off x="870480" y="6084000"/>
            <a:ext cx="8177760" cy="849600"/>
          </a:xfrm>
          <a:custGeom>
            <a:avLst/>
            <a:gdLst>
              <a:gd name="textAreaLeft" fmla="*/ 0 w 8177760"/>
              <a:gd name="textAreaRight" fmla="*/ 8178120 w 8177760"/>
              <a:gd name="textAreaTop" fmla="*/ 0 h 849600"/>
              <a:gd name="textAreaBottom" fmla="*/ 849960 h 849600"/>
            </a:gdLst>
            <a:ahLst/>
            <a:rect l="textAreaLeft" t="textAreaTop" r="textAreaRight" b="textAreaBottom"/>
            <a:pathLst>
              <a:path w="8177997" h="849907">
                <a:moveTo>
                  <a:pt x="0" y="0"/>
                </a:moveTo>
                <a:lnTo>
                  <a:pt x="8177997" y="0"/>
                </a:lnTo>
                <a:lnTo>
                  <a:pt x="8177997" y="849908"/>
                </a:lnTo>
                <a:lnTo>
                  <a:pt x="0" y="849908"/>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4" name="Freeform 12"/>
          <p:cNvSpPr/>
          <p:nvPr/>
        </p:nvSpPr>
        <p:spPr>
          <a:xfrm>
            <a:off x="9567360" y="588420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8" y="0"/>
                </a:lnTo>
                <a:lnTo>
                  <a:pt x="8435038" y="3615016"/>
                </a:lnTo>
                <a:lnTo>
                  <a:pt x="0" y="3615016"/>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5" name="Freeform 13"/>
          <p:cNvSpPr/>
          <p:nvPr/>
        </p:nvSpPr>
        <p:spPr>
          <a:xfrm>
            <a:off x="9721800" y="6084000"/>
            <a:ext cx="8006760" cy="831960"/>
          </a:xfrm>
          <a:custGeom>
            <a:avLst/>
            <a:gdLst>
              <a:gd name="textAreaLeft" fmla="*/ 0 w 8006760"/>
              <a:gd name="textAreaRight" fmla="*/ 8007120 w 8006760"/>
              <a:gd name="textAreaTop" fmla="*/ 0 h 831960"/>
              <a:gd name="textAreaBottom" fmla="*/ 832320 h 831960"/>
            </a:gdLst>
            <a:ahLst/>
            <a:rect l="textAreaLeft" t="textAreaTop" r="textAreaRight" b="textAreaBottom"/>
            <a:pathLst>
              <a:path w="8007219" h="832159">
                <a:moveTo>
                  <a:pt x="0" y="0"/>
                </a:moveTo>
                <a:lnTo>
                  <a:pt x="8007219" y="0"/>
                </a:lnTo>
                <a:lnTo>
                  <a:pt x="8007219" y="832159"/>
                </a:lnTo>
                <a:lnTo>
                  <a:pt x="0" y="832159"/>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26" name="TextBox 14"/>
          <p:cNvSpPr/>
          <p:nvPr/>
        </p:nvSpPr>
        <p:spPr>
          <a:xfrm>
            <a:off x="1436040" y="796680"/>
            <a:ext cx="11883960" cy="73692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02 — Vecteurs d'Attaque Courants</a:t>
            </a:r>
            <a:endParaRPr b="0" lang="fr-FR" sz="5000" spc="-1" strike="noStrike">
              <a:solidFill>
                <a:srgbClr val="ffffff"/>
              </a:solidFill>
              <a:latin typeface="Arial"/>
            </a:endParaRPr>
          </a:p>
        </p:txBody>
      </p:sp>
      <p:sp>
        <p:nvSpPr>
          <p:cNvPr id="227" name="TextBox 15"/>
          <p:cNvSpPr/>
          <p:nvPr/>
        </p:nvSpPr>
        <p:spPr>
          <a:xfrm>
            <a:off x="870480" y="2529360"/>
            <a:ext cx="7769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Attaques Man-in-the-Middle (MitM)</a:t>
            </a:r>
            <a:endParaRPr b="0" lang="fr-FR" sz="3000" spc="-1" strike="noStrike">
              <a:solidFill>
                <a:srgbClr val="ffffff"/>
              </a:solidFill>
              <a:latin typeface="Arial"/>
            </a:endParaRPr>
          </a:p>
        </p:txBody>
      </p:sp>
      <p:sp>
        <p:nvSpPr>
          <p:cNvPr id="228" name="TextBox 16"/>
          <p:cNvSpPr/>
          <p:nvPr/>
        </p:nvSpPr>
        <p:spPr>
          <a:xfrm>
            <a:off x="9966240" y="263196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Déni de Service (DoS/DDoS)</a:t>
            </a:r>
            <a:endParaRPr b="0" lang="fr-FR" sz="3000" spc="-1" strike="noStrike">
              <a:solidFill>
                <a:srgbClr val="ffffff"/>
              </a:solidFill>
              <a:latin typeface="Arial"/>
            </a:endParaRPr>
          </a:p>
        </p:txBody>
      </p:sp>
      <p:sp>
        <p:nvSpPr>
          <p:cNvPr id="229" name="TextBox 17"/>
          <p:cNvSpPr/>
          <p:nvPr/>
        </p:nvSpPr>
        <p:spPr>
          <a:xfrm>
            <a:off x="1028880" y="625392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Firmware &amp; Supply Chain</a:t>
            </a:r>
            <a:endParaRPr b="0" lang="fr-FR" sz="3000" spc="-1" strike="noStrike">
              <a:solidFill>
                <a:srgbClr val="ffffff"/>
              </a:solidFill>
              <a:latin typeface="Arial"/>
            </a:endParaRPr>
          </a:p>
        </p:txBody>
      </p:sp>
      <p:sp>
        <p:nvSpPr>
          <p:cNvPr id="230" name="TextBox 18"/>
          <p:cNvSpPr/>
          <p:nvPr/>
        </p:nvSpPr>
        <p:spPr>
          <a:xfrm>
            <a:off x="10120320" y="625536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Exploitation d'APIs Web</a:t>
            </a:r>
            <a:endParaRPr b="0" lang="fr-FR" sz="3000" spc="-1" strike="noStrike">
              <a:solidFill>
                <a:srgbClr val="ffffff"/>
              </a:solidFill>
              <a:latin typeface="Arial"/>
            </a:endParaRPr>
          </a:p>
        </p:txBody>
      </p:sp>
      <p:sp>
        <p:nvSpPr>
          <p:cNvPr id="231" name="TextBox 19"/>
          <p:cNvSpPr/>
          <p:nvPr/>
        </p:nvSpPr>
        <p:spPr>
          <a:xfrm>
            <a:off x="870480" y="3483360"/>
            <a:ext cx="614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Interception du trafic non chiffré</a:t>
            </a:r>
            <a:endParaRPr b="0" lang="fr-FR" sz="2500" spc="-1" strike="noStrike">
              <a:solidFill>
                <a:srgbClr val="ffffff"/>
              </a:solidFill>
              <a:latin typeface="Arial"/>
            </a:endParaRPr>
          </a:p>
        </p:txBody>
      </p:sp>
      <p:sp>
        <p:nvSpPr>
          <p:cNvPr id="232" name="TextBox 20"/>
          <p:cNvSpPr/>
          <p:nvPr/>
        </p:nvSpPr>
        <p:spPr>
          <a:xfrm>
            <a:off x="870480" y="3988080"/>
            <a:ext cx="704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Injection de commandes malveillantes</a:t>
            </a:r>
            <a:endParaRPr b="0" lang="fr-FR" sz="2500" spc="-1" strike="noStrike">
              <a:solidFill>
                <a:srgbClr val="ffffff"/>
              </a:solidFill>
              <a:latin typeface="Arial"/>
            </a:endParaRPr>
          </a:p>
        </p:txBody>
      </p:sp>
      <p:sp>
        <p:nvSpPr>
          <p:cNvPr id="233" name="TextBox 21"/>
          <p:cNvSpPr/>
          <p:nvPr/>
        </p:nvSpPr>
        <p:spPr>
          <a:xfrm>
            <a:off x="870480" y="4496040"/>
            <a:ext cx="56908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Usurpation d'identité de passerelle</a:t>
            </a:r>
            <a:endParaRPr b="0" lang="fr-FR" sz="2500" spc="-1" strike="noStrike">
              <a:solidFill>
                <a:srgbClr val="ffffff"/>
              </a:solidFill>
              <a:latin typeface="Arial"/>
            </a:endParaRPr>
          </a:p>
        </p:txBody>
      </p:sp>
      <p:sp>
        <p:nvSpPr>
          <p:cNvPr id="234" name="TextBox 22"/>
          <p:cNvSpPr/>
          <p:nvPr/>
        </p:nvSpPr>
        <p:spPr>
          <a:xfrm>
            <a:off x="9721800" y="3483360"/>
            <a:ext cx="611820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Saturation des ressources limitées</a:t>
            </a:r>
            <a:endParaRPr b="0" lang="fr-FR" sz="2500" spc="-1" strike="noStrike">
              <a:solidFill>
                <a:srgbClr val="ffffff"/>
              </a:solidFill>
              <a:latin typeface="Arial"/>
            </a:endParaRPr>
          </a:p>
        </p:txBody>
      </p:sp>
      <p:sp>
        <p:nvSpPr>
          <p:cNvPr id="235" name="TextBox 23"/>
          <p:cNvSpPr/>
          <p:nvPr/>
        </p:nvSpPr>
        <p:spPr>
          <a:xfrm>
            <a:off x="9721800" y="3988080"/>
            <a:ext cx="629820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Exploitation de botnets IoT (Mirai)</a:t>
            </a:r>
            <a:endParaRPr b="0" lang="fr-FR" sz="2500" spc="-1" strike="noStrike">
              <a:solidFill>
                <a:srgbClr val="ffffff"/>
              </a:solidFill>
              <a:latin typeface="Arial"/>
            </a:endParaRPr>
          </a:p>
        </p:txBody>
      </p:sp>
      <p:sp>
        <p:nvSpPr>
          <p:cNvPr id="236" name="TextBox 24"/>
          <p:cNvSpPr/>
          <p:nvPr/>
        </p:nvSpPr>
        <p:spPr>
          <a:xfrm>
            <a:off x="9721800" y="4492800"/>
            <a:ext cx="553644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Interruption de services critiques</a:t>
            </a:r>
            <a:endParaRPr b="0" lang="fr-FR" sz="2500" spc="-1" strike="noStrike">
              <a:solidFill>
                <a:srgbClr val="ffffff"/>
              </a:solidFill>
              <a:latin typeface="Arial"/>
            </a:endParaRPr>
          </a:p>
        </p:txBody>
      </p:sp>
      <p:sp>
        <p:nvSpPr>
          <p:cNvPr id="237" name="TextBox 25"/>
          <p:cNvSpPr/>
          <p:nvPr/>
        </p:nvSpPr>
        <p:spPr>
          <a:xfrm>
            <a:off x="870480" y="7181640"/>
            <a:ext cx="596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Extraction et analyse de firmware</a:t>
            </a:r>
            <a:endParaRPr b="0" lang="fr-FR" sz="2500" spc="-1" strike="noStrike">
              <a:solidFill>
                <a:srgbClr val="ffffff"/>
              </a:solidFill>
              <a:latin typeface="Arial"/>
            </a:endParaRPr>
          </a:p>
        </p:txBody>
      </p:sp>
      <p:sp>
        <p:nvSpPr>
          <p:cNvPr id="238" name="TextBox 26"/>
          <p:cNvSpPr/>
          <p:nvPr/>
        </p:nvSpPr>
        <p:spPr>
          <a:xfrm>
            <a:off x="870480" y="7756200"/>
            <a:ext cx="632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Backdoors dans composants tiers</a:t>
            </a:r>
            <a:endParaRPr b="0" lang="fr-FR" sz="2500" spc="-1" strike="noStrike">
              <a:solidFill>
                <a:srgbClr val="ffffff"/>
              </a:solidFill>
              <a:latin typeface="Arial"/>
            </a:endParaRPr>
          </a:p>
        </p:txBody>
      </p:sp>
      <p:sp>
        <p:nvSpPr>
          <p:cNvPr id="239" name="TextBox 27"/>
          <p:cNvSpPr/>
          <p:nvPr/>
        </p:nvSpPr>
        <p:spPr>
          <a:xfrm>
            <a:off x="870480" y="8331120"/>
            <a:ext cx="48538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Mise à jour malveillante (OTA)</a:t>
            </a:r>
            <a:endParaRPr b="0" lang="fr-FR" sz="2500" spc="-1" strike="noStrike">
              <a:solidFill>
                <a:srgbClr val="ffffff"/>
              </a:solidFill>
              <a:latin typeface="Arial"/>
            </a:endParaRPr>
          </a:p>
        </p:txBody>
      </p:sp>
      <p:sp>
        <p:nvSpPr>
          <p:cNvPr id="240" name="TextBox 28"/>
          <p:cNvSpPr/>
          <p:nvPr/>
        </p:nvSpPr>
        <p:spPr>
          <a:xfrm>
            <a:off x="9966240" y="7181640"/>
            <a:ext cx="623376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Injection SQL/NoSQL via API REST</a:t>
            </a:r>
            <a:endParaRPr b="0" lang="fr-FR" sz="2500" spc="-1" strike="noStrike">
              <a:solidFill>
                <a:srgbClr val="ffffff"/>
              </a:solidFill>
              <a:latin typeface="Arial"/>
            </a:endParaRPr>
          </a:p>
        </p:txBody>
      </p:sp>
      <p:sp>
        <p:nvSpPr>
          <p:cNvPr id="241" name="TextBox 29"/>
          <p:cNvSpPr/>
          <p:nvPr/>
        </p:nvSpPr>
        <p:spPr>
          <a:xfrm>
            <a:off x="9966240" y="7756200"/>
            <a:ext cx="479376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IDOR sur endpoints IoT</a:t>
            </a:r>
            <a:endParaRPr b="0" lang="fr-FR" sz="2500" spc="-1" strike="noStrike">
              <a:solidFill>
                <a:srgbClr val="ffffff"/>
              </a:solidFill>
              <a:latin typeface="Arial"/>
            </a:endParaRPr>
          </a:p>
        </p:txBody>
      </p:sp>
      <p:sp>
        <p:nvSpPr>
          <p:cNvPr id="242" name="TextBox 30"/>
          <p:cNvSpPr/>
          <p:nvPr/>
        </p:nvSpPr>
        <p:spPr>
          <a:xfrm>
            <a:off x="9966240" y="8331120"/>
            <a:ext cx="337788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  </a:t>
            </a:r>
            <a:r>
              <a:rPr b="1" lang="en-US" sz="2500" spc="-1" strike="noStrike">
                <a:solidFill>
                  <a:srgbClr val="000000"/>
                </a:solidFill>
                <a:latin typeface="Telegraf Medium"/>
                <a:ea typeface="Telegraf Medium"/>
              </a:rPr>
              <a:t>JWT mal configurés</a:t>
            </a:r>
            <a:endParaRPr b="0" lang="fr-FR" sz="2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243"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44"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245" name="Group 4"/>
          <p:cNvGrpSpPr/>
          <p:nvPr/>
        </p:nvGrpSpPr>
        <p:grpSpPr>
          <a:xfrm>
            <a:off x="13414680" y="3845160"/>
            <a:ext cx="1147680" cy="1147680"/>
            <a:chOff x="13414680" y="3845160"/>
            <a:chExt cx="1147680" cy="1147680"/>
          </a:xfrm>
        </p:grpSpPr>
        <p:sp>
          <p:nvSpPr>
            <p:cNvPr id="246" name="Freeform 5"/>
            <p:cNvSpPr/>
            <p:nvPr/>
          </p:nvSpPr>
          <p:spPr>
            <a:xfrm>
              <a:off x="13414680" y="3845160"/>
              <a:ext cx="1147680" cy="1147680"/>
            </a:xfrm>
            <a:custGeom>
              <a:avLst/>
              <a:gdLst>
                <a:gd name="textAreaLeft" fmla="*/ 0 w 1147680"/>
                <a:gd name="textAreaRight" fmla="*/ 1148040 w 1147680"/>
                <a:gd name="textAreaTop" fmla="*/ 0 h 1147680"/>
                <a:gd name="textAreaBottom" fmla="*/ 1148040 h 114768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47" name="TextBox 6"/>
            <p:cNvSpPr/>
            <p:nvPr/>
          </p:nvSpPr>
          <p:spPr>
            <a:xfrm>
              <a:off x="13522320" y="3925800"/>
              <a:ext cx="932400" cy="959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248" name="Freeform 7"/>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49" name="Freeform 8"/>
          <p:cNvSpPr/>
          <p:nvPr/>
        </p:nvSpPr>
        <p:spPr>
          <a:xfrm>
            <a:off x="15987240" y="623880"/>
            <a:ext cx="1180440" cy="1180440"/>
          </a:xfrm>
          <a:custGeom>
            <a:avLst/>
            <a:gdLst>
              <a:gd name="textAreaLeft" fmla="*/ 0 w 1180440"/>
              <a:gd name="textAreaRight" fmla="*/ 1180800 w 1180440"/>
              <a:gd name="textAreaTop" fmla="*/ 0 h 1180440"/>
              <a:gd name="textAreaBottom" fmla="*/ 1180800 h 1180440"/>
            </a:gdLst>
            <a:ahLst/>
            <a:rect l="textAreaLeft" t="textAreaTop" r="textAreaRight" b="textAreaBottom"/>
            <a:pathLst>
              <a:path w="1180628" h="1180628">
                <a:moveTo>
                  <a:pt x="0" y="0"/>
                </a:moveTo>
                <a:lnTo>
                  <a:pt x="1180627" y="0"/>
                </a:lnTo>
                <a:lnTo>
                  <a:pt x="1180627" y="1180628"/>
                </a:lnTo>
                <a:lnTo>
                  <a:pt x="0" y="1180628"/>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0" name="Freeform 9"/>
          <p:cNvSpPr/>
          <p:nvPr/>
        </p:nvSpPr>
        <p:spPr>
          <a:xfrm>
            <a:off x="1028880" y="2354040"/>
            <a:ext cx="7154280" cy="3191760"/>
          </a:xfrm>
          <a:custGeom>
            <a:avLst/>
            <a:gdLst>
              <a:gd name="textAreaLeft" fmla="*/ 0 w 7154280"/>
              <a:gd name="textAreaRight" fmla="*/ 7154640 w 7154280"/>
              <a:gd name="textAreaTop" fmla="*/ 0 h 3191760"/>
              <a:gd name="textAreaBottom" fmla="*/ 3192120 h 3191760"/>
            </a:gdLst>
            <a:ahLst/>
            <a:rect l="textAreaLeft" t="textAreaTop" r="textAreaRight" b="textAreaBottom"/>
            <a:pathLst>
              <a:path w="7154722" h="3192107">
                <a:moveTo>
                  <a:pt x="0" y="0"/>
                </a:moveTo>
                <a:lnTo>
                  <a:pt x="7154722" y="0"/>
                </a:lnTo>
                <a:lnTo>
                  <a:pt x="7154722" y="3192107"/>
                </a:lnTo>
                <a:lnTo>
                  <a:pt x="0" y="3192107"/>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1" name="Freeform 10"/>
          <p:cNvSpPr/>
          <p:nvPr/>
        </p:nvSpPr>
        <p:spPr>
          <a:xfrm>
            <a:off x="1028880" y="6066360"/>
            <a:ext cx="7154280" cy="3191760"/>
          </a:xfrm>
          <a:custGeom>
            <a:avLst/>
            <a:gdLst>
              <a:gd name="textAreaLeft" fmla="*/ 0 w 7154280"/>
              <a:gd name="textAreaRight" fmla="*/ 7154640 w 7154280"/>
              <a:gd name="textAreaTop" fmla="*/ 0 h 3191760"/>
              <a:gd name="textAreaBottom" fmla="*/ 3192120 h 3191760"/>
            </a:gdLst>
            <a:ahLst/>
            <a:rect l="textAreaLeft" t="textAreaTop" r="textAreaRight" b="textAreaBottom"/>
            <a:pathLst>
              <a:path w="7154722" h="3192107">
                <a:moveTo>
                  <a:pt x="0" y="0"/>
                </a:moveTo>
                <a:lnTo>
                  <a:pt x="7154722" y="0"/>
                </a:lnTo>
                <a:lnTo>
                  <a:pt x="7154722" y="3192107"/>
                </a:lnTo>
                <a:lnTo>
                  <a:pt x="0" y="3192107"/>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2" name="Freeform 11"/>
          <p:cNvSpPr/>
          <p:nvPr/>
        </p:nvSpPr>
        <p:spPr>
          <a:xfrm>
            <a:off x="10104480" y="2354040"/>
            <a:ext cx="7154280" cy="3191760"/>
          </a:xfrm>
          <a:custGeom>
            <a:avLst/>
            <a:gdLst>
              <a:gd name="textAreaLeft" fmla="*/ 0 w 7154280"/>
              <a:gd name="textAreaRight" fmla="*/ 7154640 w 7154280"/>
              <a:gd name="textAreaTop" fmla="*/ 0 h 3191760"/>
              <a:gd name="textAreaBottom" fmla="*/ 3192120 h 3191760"/>
            </a:gdLst>
            <a:ahLst/>
            <a:rect l="textAreaLeft" t="textAreaTop" r="textAreaRight" b="textAreaBottom"/>
            <a:pathLst>
              <a:path w="7154722" h="3192107">
                <a:moveTo>
                  <a:pt x="0" y="0"/>
                </a:moveTo>
                <a:lnTo>
                  <a:pt x="7154722" y="0"/>
                </a:lnTo>
                <a:lnTo>
                  <a:pt x="7154722" y="3192107"/>
                </a:lnTo>
                <a:lnTo>
                  <a:pt x="0" y="3192107"/>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3" name="Freeform 12"/>
          <p:cNvSpPr/>
          <p:nvPr/>
        </p:nvSpPr>
        <p:spPr>
          <a:xfrm>
            <a:off x="10104480" y="6032160"/>
            <a:ext cx="7154280" cy="3191760"/>
          </a:xfrm>
          <a:custGeom>
            <a:avLst/>
            <a:gdLst>
              <a:gd name="textAreaLeft" fmla="*/ 0 w 7154280"/>
              <a:gd name="textAreaRight" fmla="*/ 7154640 w 7154280"/>
              <a:gd name="textAreaTop" fmla="*/ 0 h 3191760"/>
              <a:gd name="textAreaBottom" fmla="*/ 3192120 h 3191760"/>
            </a:gdLst>
            <a:ahLst/>
            <a:rect l="textAreaLeft" t="textAreaTop" r="textAreaRight" b="textAreaBottom"/>
            <a:pathLst>
              <a:path w="7154722" h="3192107">
                <a:moveTo>
                  <a:pt x="0" y="0"/>
                </a:moveTo>
                <a:lnTo>
                  <a:pt x="7154722" y="0"/>
                </a:lnTo>
                <a:lnTo>
                  <a:pt x="7154722" y="3192107"/>
                </a:lnTo>
                <a:lnTo>
                  <a:pt x="0" y="3192107"/>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4" name="Freeform 13"/>
          <p:cNvSpPr/>
          <p:nvPr/>
        </p:nvSpPr>
        <p:spPr>
          <a:xfrm>
            <a:off x="5859000" y="2599560"/>
            <a:ext cx="1919520" cy="492120"/>
          </a:xfrm>
          <a:custGeom>
            <a:avLst/>
            <a:gdLst>
              <a:gd name="textAreaLeft" fmla="*/ 0 w 1919520"/>
              <a:gd name="textAreaRight" fmla="*/ 1919880 w 1919520"/>
              <a:gd name="textAreaTop" fmla="*/ 0 h 492120"/>
              <a:gd name="textAreaBottom" fmla="*/ 492480 h 492120"/>
            </a:gdLst>
            <a:ahLst/>
            <a:rect l="textAreaLeft" t="textAreaTop" r="textAreaRight" b="textAreaBottom"/>
            <a:pathLst>
              <a:path w="1920029" h="492315">
                <a:moveTo>
                  <a:pt x="0" y="0"/>
                </a:moveTo>
                <a:lnTo>
                  <a:pt x="1920029" y="0"/>
                </a:lnTo>
                <a:lnTo>
                  <a:pt x="1920029" y="492315"/>
                </a:lnTo>
                <a:lnTo>
                  <a:pt x="0" y="492315"/>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5" name="Freeform 14"/>
          <p:cNvSpPr/>
          <p:nvPr/>
        </p:nvSpPr>
        <p:spPr>
          <a:xfrm>
            <a:off x="14843160" y="2599560"/>
            <a:ext cx="1959480" cy="502200"/>
          </a:xfrm>
          <a:custGeom>
            <a:avLst/>
            <a:gdLst>
              <a:gd name="textAreaLeft" fmla="*/ 0 w 1959480"/>
              <a:gd name="textAreaRight" fmla="*/ 1959840 w 1959480"/>
              <a:gd name="textAreaTop" fmla="*/ 0 h 502200"/>
              <a:gd name="textAreaBottom" fmla="*/ 502560 h 502200"/>
            </a:gdLst>
            <a:ahLst/>
            <a:rect l="textAreaLeft" t="textAreaTop" r="textAreaRight" b="textAreaBottom"/>
            <a:pathLst>
              <a:path w="1959674" h="502480">
                <a:moveTo>
                  <a:pt x="0" y="0"/>
                </a:moveTo>
                <a:lnTo>
                  <a:pt x="1959674" y="0"/>
                </a:lnTo>
                <a:lnTo>
                  <a:pt x="1959674" y="502480"/>
                </a:lnTo>
                <a:lnTo>
                  <a:pt x="0" y="502480"/>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6" name="Freeform 15"/>
          <p:cNvSpPr/>
          <p:nvPr/>
        </p:nvSpPr>
        <p:spPr>
          <a:xfrm>
            <a:off x="5819400" y="6336720"/>
            <a:ext cx="1959480" cy="502200"/>
          </a:xfrm>
          <a:custGeom>
            <a:avLst/>
            <a:gdLst>
              <a:gd name="textAreaLeft" fmla="*/ 0 w 1959480"/>
              <a:gd name="textAreaRight" fmla="*/ 1959840 w 1959480"/>
              <a:gd name="textAreaTop" fmla="*/ 0 h 502200"/>
              <a:gd name="textAreaBottom" fmla="*/ 502560 h 502200"/>
            </a:gdLst>
            <a:ahLst/>
            <a:rect l="textAreaLeft" t="textAreaTop" r="textAreaRight" b="textAreaBottom"/>
            <a:pathLst>
              <a:path w="1959674" h="502480">
                <a:moveTo>
                  <a:pt x="0" y="0"/>
                </a:moveTo>
                <a:lnTo>
                  <a:pt x="1959674" y="0"/>
                </a:lnTo>
                <a:lnTo>
                  <a:pt x="1959674" y="502481"/>
                </a:lnTo>
                <a:lnTo>
                  <a:pt x="0" y="502481"/>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7" name="Freeform 16"/>
          <p:cNvSpPr/>
          <p:nvPr/>
        </p:nvSpPr>
        <p:spPr>
          <a:xfrm>
            <a:off x="14705640" y="6403320"/>
            <a:ext cx="2096640" cy="537480"/>
          </a:xfrm>
          <a:custGeom>
            <a:avLst/>
            <a:gdLst>
              <a:gd name="textAreaLeft" fmla="*/ 0 w 2096640"/>
              <a:gd name="textAreaRight" fmla="*/ 2097000 w 2096640"/>
              <a:gd name="textAreaTop" fmla="*/ 0 h 537480"/>
              <a:gd name="textAreaBottom" fmla="*/ 537840 h 537480"/>
            </a:gdLst>
            <a:ahLst/>
            <a:rect l="textAreaLeft" t="textAreaTop" r="textAreaRight" b="textAreaBottom"/>
            <a:pathLst>
              <a:path w="2097042" h="537703">
                <a:moveTo>
                  <a:pt x="0" y="0"/>
                </a:moveTo>
                <a:lnTo>
                  <a:pt x="2097041" y="0"/>
                </a:lnTo>
                <a:lnTo>
                  <a:pt x="2097041" y="537703"/>
                </a:lnTo>
                <a:lnTo>
                  <a:pt x="0" y="537703"/>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58" name="TextBox 17"/>
          <p:cNvSpPr/>
          <p:nvPr/>
        </p:nvSpPr>
        <p:spPr>
          <a:xfrm>
            <a:off x="1436040" y="796680"/>
            <a:ext cx="14763960" cy="73692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03 — Protocoles de Communication Sécurisés</a:t>
            </a:r>
            <a:endParaRPr b="0" lang="fr-FR" sz="5000" spc="-1" strike="noStrike">
              <a:solidFill>
                <a:srgbClr val="ffffff"/>
              </a:solidFill>
              <a:latin typeface="Arial"/>
            </a:endParaRPr>
          </a:p>
        </p:txBody>
      </p:sp>
      <p:sp>
        <p:nvSpPr>
          <p:cNvPr id="259" name="TextBox 18"/>
          <p:cNvSpPr/>
          <p:nvPr/>
        </p:nvSpPr>
        <p:spPr>
          <a:xfrm>
            <a:off x="5859000" y="2629440"/>
            <a:ext cx="191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Port 8883</a:t>
            </a:r>
            <a:endParaRPr b="0" lang="fr-FR" sz="2500" spc="-1" strike="noStrike">
              <a:solidFill>
                <a:srgbClr val="ffffff"/>
              </a:solidFill>
              <a:latin typeface="Arial"/>
            </a:endParaRPr>
          </a:p>
        </p:txBody>
      </p:sp>
      <p:sp>
        <p:nvSpPr>
          <p:cNvPr id="260" name="TextBox 19"/>
          <p:cNvSpPr/>
          <p:nvPr/>
        </p:nvSpPr>
        <p:spPr>
          <a:xfrm>
            <a:off x="1253520" y="2629440"/>
            <a:ext cx="22813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MQTT + TLS</a:t>
            </a:r>
            <a:endParaRPr b="0" lang="fr-FR" sz="3000" spc="-1" strike="noStrike">
              <a:solidFill>
                <a:srgbClr val="ffffff"/>
              </a:solidFill>
              <a:latin typeface="Arial"/>
            </a:endParaRPr>
          </a:p>
        </p:txBody>
      </p:sp>
      <p:sp>
        <p:nvSpPr>
          <p:cNvPr id="261" name="TextBox 20"/>
          <p:cNvSpPr/>
          <p:nvPr/>
        </p:nvSpPr>
        <p:spPr>
          <a:xfrm>
            <a:off x="1253520" y="337284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00bf63"/>
                </a:solidFill>
                <a:latin typeface="Telegraf Medium"/>
                <a:ea typeface="Telegraf Medium"/>
              </a:rPr>
              <a:t>Sécurité :</a:t>
            </a:r>
            <a:endParaRPr b="0" lang="fr-FR" sz="2400" spc="-1" strike="noStrike">
              <a:solidFill>
                <a:srgbClr val="ffffff"/>
              </a:solidFill>
              <a:latin typeface="Arial"/>
            </a:endParaRPr>
          </a:p>
        </p:txBody>
      </p:sp>
      <p:sp>
        <p:nvSpPr>
          <p:cNvPr id="262" name="TextBox 21"/>
          <p:cNvSpPr/>
          <p:nvPr/>
        </p:nvSpPr>
        <p:spPr>
          <a:xfrm>
            <a:off x="5493240" y="337284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ff3131"/>
                </a:solidFill>
                <a:latin typeface="Telegraf Medium"/>
                <a:ea typeface="Telegraf Medium"/>
              </a:rPr>
              <a:t>Limites :</a:t>
            </a:r>
            <a:endParaRPr b="0" lang="fr-FR" sz="2400" spc="-1" strike="noStrike">
              <a:solidFill>
                <a:srgbClr val="ffffff"/>
              </a:solidFill>
              <a:latin typeface="Arial"/>
            </a:endParaRPr>
          </a:p>
        </p:txBody>
      </p:sp>
      <p:sp>
        <p:nvSpPr>
          <p:cNvPr id="263" name="TextBox 22"/>
          <p:cNvSpPr/>
          <p:nvPr/>
        </p:nvSpPr>
        <p:spPr>
          <a:xfrm>
            <a:off x="1253520" y="4003920"/>
            <a:ext cx="261144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Chiffrement TLS 1.3</a:t>
            </a:r>
            <a:endParaRPr b="0" lang="fr-FR" sz="1900" spc="-1" strike="noStrike">
              <a:solidFill>
                <a:srgbClr val="ffffff"/>
              </a:solidFill>
              <a:latin typeface="Arial"/>
            </a:endParaRPr>
          </a:p>
        </p:txBody>
      </p:sp>
      <p:sp>
        <p:nvSpPr>
          <p:cNvPr id="264" name="TextBox 23"/>
          <p:cNvSpPr/>
          <p:nvPr/>
        </p:nvSpPr>
        <p:spPr>
          <a:xfrm>
            <a:off x="1253520" y="4368600"/>
            <a:ext cx="314028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Auth par certificat X.509</a:t>
            </a:r>
            <a:endParaRPr b="0" lang="fr-FR" sz="1900" spc="-1" strike="noStrike">
              <a:solidFill>
                <a:srgbClr val="ffffff"/>
              </a:solidFill>
              <a:latin typeface="Arial"/>
            </a:endParaRPr>
          </a:p>
        </p:txBody>
      </p:sp>
      <p:sp>
        <p:nvSpPr>
          <p:cNvPr id="265" name="TextBox 24"/>
          <p:cNvSpPr/>
          <p:nvPr/>
        </p:nvSpPr>
        <p:spPr>
          <a:xfrm>
            <a:off x="1253520" y="4732920"/>
            <a:ext cx="335232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Username/Password + ACL</a:t>
            </a:r>
            <a:endParaRPr b="0" lang="fr-FR" sz="1900" spc="-1" strike="noStrike">
              <a:solidFill>
                <a:srgbClr val="ffffff"/>
              </a:solidFill>
              <a:latin typeface="Arial"/>
            </a:endParaRPr>
          </a:p>
        </p:txBody>
      </p:sp>
      <p:sp>
        <p:nvSpPr>
          <p:cNvPr id="266" name="TextBox 25"/>
          <p:cNvSpPr/>
          <p:nvPr/>
        </p:nvSpPr>
        <p:spPr>
          <a:xfrm>
            <a:off x="4799160" y="4003920"/>
            <a:ext cx="311832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QoS 0 = pas de garantie</a:t>
            </a:r>
            <a:endParaRPr b="0" lang="fr-FR" sz="1900" spc="-1" strike="noStrike">
              <a:solidFill>
                <a:srgbClr val="ffffff"/>
              </a:solidFill>
              <a:latin typeface="Arial"/>
            </a:endParaRPr>
          </a:p>
        </p:txBody>
      </p:sp>
      <p:sp>
        <p:nvSpPr>
          <p:cNvPr id="267" name="TextBox 26"/>
          <p:cNvSpPr/>
          <p:nvPr/>
        </p:nvSpPr>
        <p:spPr>
          <a:xfrm>
            <a:off x="4799160" y="4390560"/>
            <a:ext cx="311832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Broker centralisé = SPOF</a:t>
            </a:r>
            <a:endParaRPr b="0" lang="fr-FR" sz="1900" spc="-1" strike="noStrike">
              <a:solidFill>
                <a:srgbClr val="ffffff"/>
              </a:solidFill>
              <a:latin typeface="Arial"/>
            </a:endParaRPr>
          </a:p>
        </p:txBody>
      </p:sp>
      <p:sp>
        <p:nvSpPr>
          <p:cNvPr id="268" name="TextBox 27"/>
          <p:cNvSpPr/>
          <p:nvPr/>
        </p:nvSpPr>
        <p:spPr>
          <a:xfrm>
            <a:off x="14882760" y="2629440"/>
            <a:ext cx="191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Port 5684</a:t>
            </a:r>
            <a:endParaRPr b="0" lang="fr-FR" sz="2500" spc="-1" strike="noStrike">
              <a:solidFill>
                <a:srgbClr val="ffffff"/>
              </a:solidFill>
              <a:latin typeface="Arial"/>
            </a:endParaRPr>
          </a:p>
        </p:txBody>
      </p:sp>
      <p:sp>
        <p:nvSpPr>
          <p:cNvPr id="269" name="TextBox 28"/>
          <p:cNvSpPr/>
          <p:nvPr/>
        </p:nvSpPr>
        <p:spPr>
          <a:xfrm>
            <a:off x="10507680" y="2609640"/>
            <a:ext cx="2501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bf63"/>
                </a:solidFill>
                <a:latin typeface="Telegraf Medium"/>
                <a:ea typeface="Telegraf Medium"/>
              </a:rPr>
              <a:t>CoAP + DTLS</a:t>
            </a:r>
            <a:endParaRPr b="0" lang="fr-FR" sz="3000" spc="-1" strike="noStrike">
              <a:solidFill>
                <a:srgbClr val="ffffff"/>
              </a:solidFill>
              <a:latin typeface="Arial"/>
            </a:endParaRPr>
          </a:p>
        </p:txBody>
      </p:sp>
      <p:sp>
        <p:nvSpPr>
          <p:cNvPr id="270" name="TextBox 29"/>
          <p:cNvSpPr/>
          <p:nvPr/>
        </p:nvSpPr>
        <p:spPr>
          <a:xfrm>
            <a:off x="10507680" y="337284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00bf63"/>
                </a:solidFill>
                <a:latin typeface="Telegraf Medium"/>
                <a:ea typeface="Telegraf Medium"/>
              </a:rPr>
              <a:t>Sécurité :</a:t>
            </a:r>
            <a:endParaRPr b="0" lang="fr-FR" sz="2400" spc="-1" strike="noStrike">
              <a:solidFill>
                <a:srgbClr val="ffffff"/>
              </a:solidFill>
              <a:latin typeface="Arial"/>
            </a:endParaRPr>
          </a:p>
        </p:txBody>
      </p:sp>
      <p:sp>
        <p:nvSpPr>
          <p:cNvPr id="271" name="TextBox 30"/>
          <p:cNvSpPr/>
          <p:nvPr/>
        </p:nvSpPr>
        <p:spPr>
          <a:xfrm>
            <a:off x="14542920" y="337284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ff3131"/>
                </a:solidFill>
                <a:latin typeface="Telegraf Medium"/>
                <a:ea typeface="Telegraf Medium"/>
              </a:rPr>
              <a:t>Limites :</a:t>
            </a:r>
            <a:endParaRPr b="0" lang="fr-FR" sz="2400" spc="-1" strike="noStrike">
              <a:solidFill>
                <a:srgbClr val="ffffff"/>
              </a:solidFill>
              <a:latin typeface="Arial"/>
            </a:endParaRPr>
          </a:p>
        </p:txBody>
      </p:sp>
      <p:sp>
        <p:nvSpPr>
          <p:cNvPr id="272" name="TextBox 31"/>
          <p:cNvSpPr/>
          <p:nvPr/>
        </p:nvSpPr>
        <p:spPr>
          <a:xfrm>
            <a:off x="10397520" y="4003920"/>
            <a:ext cx="261144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DTLS (UDP sécurisé)</a:t>
            </a:r>
            <a:endParaRPr b="0" lang="fr-FR" sz="1900" spc="-1" strike="noStrike">
              <a:solidFill>
                <a:srgbClr val="ffffff"/>
              </a:solidFill>
              <a:latin typeface="Arial"/>
            </a:endParaRPr>
          </a:p>
        </p:txBody>
      </p:sp>
      <p:sp>
        <p:nvSpPr>
          <p:cNvPr id="273" name="TextBox 32"/>
          <p:cNvSpPr/>
          <p:nvPr/>
        </p:nvSpPr>
        <p:spPr>
          <a:xfrm>
            <a:off x="10397520" y="4368600"/>
            <a:ext cx="359100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Adapté aux contraints (IPv6)</a:t>
            </a:r>
            <a:endParaRPr b="0" lang="fr-FR" sz="1900" spc="-1" strike="noStrike">
              <a:solidFill>
                <a:srgbClr val="ffffff"/>
              </a:solidFill>
              <a:latin typeface="Arial"/>
            </a:endParaRPr>
          </a:p>
        </p:txBody>
      </p:sp>
      <p:sp>
        <p:nvSpPr>
          <p:cNvPr id="274" name="TextBox 33"/>
          <p:cNvSpPr/>
          <p:nvPr/>
        </p:nvSpPr>
        <p:spPr>
          <a:xfrm>
            <a:off x="10397520" y="4732920"/>
            <a:ext cx="285408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Pre-Shared Key (PSK)</a:t>
            </a:r>
            <a:endParaRPr b="0" lang="fr-FR" sz="1900" spc="-1" strike="noStrike">
              <a:solidFill>
                <a:srgbClr val="ffffff"/>
              </a:solidFill>
              <a:latin typeface="Arial"/>
            </a:endParaRPr>
          </a:p>
        </p:txBody>
      </p:sp>
      <p:sp>
        <p:nvSpPr>
          <p:cNvPr id="275" name="TextBox 34"/>
          <p:cNvSpPr/>
          <p:nvPr/>
        </p:nvSpPr>
        <p:spPr>
          <a:xfrm>
            <a:off x="13942800" y="3921480"/>
            <a:ext cx="311832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DTLS overhead sur MCU</a:t>
            </a:r>
            <a:endParaRPr b="0" lang="fr-FR" sz="1900" spc="-1" strike="noStrike">
              <a:solidFill>
                <a:srgbClr val="ffffff"/>
              </a:solidFill>
              <a:latin typeface="Arial"/>
            </a:endParaRPr>
          </a:p>
        </p:txBody>
      </p:sp>
      <p:sp>
        <p:nvSpPr>
          <p:cNvPr id="276" name="TextBox 35"/>
          <p:cNvSpPr/>
          <p:nvPr/>
        </p:nvSpPr>
        <p:spPr>
          <a:xfrm>
            <a:off x="14049360" y="4368600"/>
            <a:ext cx="311832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Moins mature que TLS</a:t>
            </a:r>
            <a:endParaRPr b="0" lang="fr-FR" sz="1900" spc="-1" strike="noStrike">
              <a:solidFill>
                <a:srgbClr val="ffffff"/>
              </a:solidFill>
              <a:latin typeface="Arial"/>
            </a:endParaRPr>
          </a:p>
        </p:txBody>
      </p:sp>
      <p:sp>
        <p:nvSpPr>
          <p:cNvPr id="277" name="TextBox 36"/>
          <p:cNvSpPr/>
          <p:nvPr/>
        </p:nvSpPr>
        <p:spPr>
          <a:xfrm>
            <a:off x="5859000" y="6436080"/>
            <a:ext cx="191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Port 443</a:t>
            </a:r>
            <a:endParaRPr b="0" lang="fr-FR" sz="2500" spc="-1" strike="noStrike">
              <a:solidFill>
                <a:srgbClr val="ffffff"/>
              </a:solidFill>
              <a:latin typeface="Arial"/>
            </a:endParaRPr>
          </a:p>
        </p:txBody>
      </p:sp>
      <p:sp>
        <p:nvSpPr>
          <p:cNvPr id="278" name="TextBox 37"/>
          <p:cNvSpPr/>
          <p:nvPr/>
        </p:nvSpPr>
        <p:spPr>
          <a:xfrm>
            <a:off x="1253520" y="6357240"/>
            <a:ext cx="27878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5284ff"/>
                </a:solidFill>
                <a:latin typeface="Telegraf Medium"/>
                <a:ea typeface="Telegraf Medium"/>
              </a:rPr>
              <a:t>HTTPS / REST</a:t>
            </a:r>
            <a:endParaRPr b="0" lang="fr-FR" sz="3000" spc="-1" strike="noStrike">
              <a:solidFill>
                <a:srgbClr val="ffffff"/>
              </a:solidFill>
              <a:latin typeface="Arial"/>
            </a:endParaRPr>
          </a:p>
        </p:txBody>
      </p:sp>
      <p:sp>
        <p:nvSpPr>
          <p:cNvPr id="279" name="TextBox 38"/>
          <p:cNvSpPr/>
          <p:nvPr/>
        </p:nvSpPr>
        <p:spPr>
          <a:xfrm>
            <a:off x="1203120" y="709632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00bf63"/>
                </a:solidFill>
                <a:latin typeface="Telegraf Medium"/>
                <a:ea typeface="Telegraf Medium"/>
              </a:rPr>
              <a:t>Sécurité :</a:t>
            </a:r>
            <a:endParaRPr b="0" lang="fr-FR" sz="2400" spc="-1" strike="noStrike">
              <a:solidFill>
                <a:srgbClr val="ffffff"/>
              </a:solidFill>
              <a:latin typeface="Arial"/>
            </a:endParaRPr>
          </a:p>
        </p:txBody>
      </p:sp>
      <p:sp>
        <p:nvSpPr>
          <p:cNvPr id="280" name="TextBox 39"/>
          <p:cNvSpPr/>
          <p:nvPr/>
        </p:nvSpPr>
        <p:spPr>
          <a:xfrm>
            <a:off x="4914000" y="709632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ff3131"/>
                </a:solidFill>
                <a:latin typeface="Telegraf Medium"/>
                <a:ea typeface="Telegraf Medium"/>
              </a:rPr>
              <a:t>Limites :</a:t>
            </a:r>
            <a:endParaRPr b="0" lang="fr-FR" sz="2400" spc="-1" strike="noStrike">
              <a:solidFill>
                <a:srgbClr val="ffffff"/>
              </a:solidFill>
              <a:latin typeface="Arial"/>
            </a:endParaRPr>
          </a:p>
        </p:txBody>
      </p:sp>
      <p:sp>
        <p:nvSpPr>
          <p:cNvPr id="281" name="TextBox 40"/>
          <p:cNvSpPr/>
          <p:nvPr/>
        </p:nvSpPr>
        <p:spPr>
          <a:xfrm>
            <a:off x="1203120" y="7727760"/>
            <a:ext cx="283824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TLS standard éprouvé</a:t>
            </a:r>
            <a:endParaRPr b="0" lang="fr-FR" sz="1900" spc="-1" strike="noStrike">
              <a:solidFill>
                <a:srgbClr val="ffffff"/>
              </a:solidFill>
              <a:latin typeface="Arial"/>
            </a:endParaRPr>
          </a:p>
        </p:txBody>
      </p:sp>
      <p:sp>
        <p:nvSpPr>
          <p:cNvPr id="282" name="TextBox 41"/>
          <p:cNvSpPr/>
          <p:nvPr/>
        </p:nvSpPr>
        <p:spPr>
          <a:xfrm>
            <a:off x="1203120" y="8089920"/>
            <a:ext cx="266184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OAuth 2.0 / JWT natif</a:t>
            </a:r>
            <a:endParaRPr b="0" lang="fr-FR" sz="1900" spc="-1" strike="noStrike">
              <a:solidFill>
                <a:srgbClr val="ffffff"/>
              </a:solidFill>
              <a:latin typeface="Arial"/>
            </a:endParaRPr>
          </a:p>
        </p:txBody>
      </p:sp>
      <p:sp>
        <p:nvSpPr>
          <p:cNvPr id="283" name="TextBox 42"/>
          <p:cNvSpPr/>
          <p:nvPr/>
        </p:nvSpPr>
        <p:spPr>
          <a:xfrm>
            <a:off x="1203120" y="8452080"/>
            <a:ext cx="233172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Écosystème riche</a:t>
            </a:r>
            <a:endParaRPr b="0" lang="fr-FR" sz="1900" spc="-1" strike="noStrike">
              <a:solidFill>
                <a:srgbClr val="ffffff"/>
              </a:solidFill>
              <a:latin typeface="Arial"/>
            </a:endParaRPr>
          </a:p>
        </p:txBody>
      </p:sp>
      <p:sp>
        <p:nvSpPr>
          <p:cNvPr id="284" name="TextBox 43"/>
          <p:cNvSpPr/>
          <p:nvPr/>
        </p:nvSpPr>
        <p:spPr>
          <a:xfrm>
            <a:off x="4394160" y="7727760"/>
            <a:ext cx="352332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Lourd pour microcontôleurs</a:t>
            </a:r>
            <a:endParaRPr b="0" lang="fr-FR" sz="1900" spc="-1" strike="noStrike">
              <a:solidFill>
                <a:srgbClr val="ffffff"/>
              </a:solidFill>
              <a:latin typeface="Arial"/>
            </a:endParaRPr>
          </a:p>
        </p:txBody>
      </p:sp>
      <p:sp>
        <p:nvSpPr>
          <p:cNvPr id="285" name="TextBox 44"/>
          <p:cNvSpPr/>
          <p:nvPr/>
        </p:nvSpPr>
        <p:spPr>
          <a:xfrm>
            <a:off x="4394160" y="8118360"/>
            <a:ext cx="2424600" cy="56052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Gestion certificats complexe</a:t>
            </a:r>
            <a:endParaRPr b="0" lang="fr-FR" sz="1900" spc="-1" strike="noStrike">
              <a:solidFill>
                <a:srgbClr val="ffffff"/>
              </a:solidFill>
              <a:latin typeface="Arial"/>
            </a:endParaRPr>
          </a:p>
        </p:txBody>
      </p:sp>
      <p:sp>
        <p:nvSpPr>
          <p:cNvPr id="286" name="TextBox 45"/>
          <p:cNvSpPr/>
          <p:nvPr/>
        </p:nvSpPr>
        <p:spPr>
          <a:xfrm>
            <a:off x="14862960" y="6456240"/>
            <a:ext cx="19195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Port 5671</a:t>
            </a:r>
            <a:endParaRPr b="0" lang="fr-FR" sz="2500" spc="-1" strike="noStrike">
              <a:solidFill>
                <a:srgbClr val="ffffff"/>
              </a:solidFill>
              <a:latin typeface="Arial"/>
            </a:endParaRPr>
          </a:p>
        </p:txBody>
      </p:sp>
      <p:sp>
        <p:nvSpPr>
          <p:cNvPr id="287" name="TextBox 46"/>
          <p:cNvSpPr/>
          <p:nvPr/>
        </p:nvSpPr>
        <p:spPr>
          <a:xfrm>
            <a:off x="10364400" y="6377760"/>
            <a:ext cx="27878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e29417"/>
                </a:solidFill>
                <a:latin typeface="Telegraf Medium"/>
                <a:ea typeface="Telegraf Medium"/>
              </a:rPr>
              <a:t>AMQP + TLS</a:t>
            </a:r>
            <a:endParaRPr b="0" lang="fr-FR" sz="3000" spc="-1" strike="noStrike">
              <a:solidFill>
                <a:srgbClr val="ffffff"/>
              </a:solidFill>
              <a:latin typeface="Arial"/>
            </a:endParaRPr>
          </a:p>
        </p:txBody>
      </p:sp>
      <p:sp>
        <p:nvSpPr>
          <p:cNvPr id="288" name="TextBox 47"/>
          <p:cNvSpPr/>
          <p:nvPr/>
        </p:nvSpPr>
        <p:spPr>
          <a:xfrm>
            <a:off x="10364400" y="709632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00bf63"/>
                </a:solidFill>
                <a:latin typeface="Telegraf Medium"/>
                <a:ea typeface="Telegraf Medium"/>
              </a:rPr>
              <a:t>Sécurité :</a:t>
            </a:r>
            <a:endParaRPr b="0" lang="fr-FR" sz="2400" spc="-1" strike="noStrike">
              <a:solidFill>
                <a:srgbClr val="ffffff"/>
              </a:solidFill>
              <a:latin typeface="Arial"/>
            </a:endParaRPr>
          </a:p>
        </p:txBody>
      </p:sp>
      <p:sp>
        <p:nvSpPr>
          <p:cNvPr id="289" name="TextBox 48"/>
          <p:cNvSpPr/>
          <p:nvPr/>
        </p:nvSpPr>
        <p:spPr>
          <a:xfrm>
            <a:off x="14075640" y="7112520"/>
            <a:ext cx="1443960" cy="353880"/>
          </a:xfrm>
          <a:prstGeom prst="rect">
            <a:avLst/>
          </a:prstGeom>
          <a:noFill/>
          <a:ln w="0">
            <a:noFill/>
          </a:ln>
        </p:spPr>
        <p:style>
          <a:lnRef idx="0"/>
          <a:fillRef idx="0"/>
          <a:effectRef idx="0"/>
          <a:fontRef idx="minor"/>
        </p:style>
        <p:txBody>
          <a:bodyPr lIns="0" rIns="0" tIns="0" bIns="0" anchor="t">
            <a:spAutoFit/>
          </a:bodyPr>
          <a:p>
            <a:pPr algn="ctr" defTabSz="914400">
              <a:lnSpc>
                <a:spcPts val="2784"/>
              </a:lnSpc>
            </a:pPr>
            <a:r>
              <a:rPr b="1" lang="en-US" sz="2400" spc="-1" strike="noStrike">
                <a:solidFill>
                  <a:srgbClr val="ff3131"/>
                </a:solidFill>
                <a:latin typeface="Telegraf Medium"/>
                <a:ea typeface="Telegraf Medium"/>
              </a:rPr>
              <a:t>Limites :</a:t>
            </a:r>
            <a:endParaRPr b="0" lang="fr-FR" sz="2400" spc="-1" strike="noStrike">
              <a:solidFill>
                <a:srgbClr val="ffffff"/>
              </a:solidFill>
              <a:latin typeface="Arial"/>
            </a:endParaRPr>
          </a:p>
        </p:txBody>
      </p:sp>
      <p:sp>
        <p:nvSpPr>
          <p:cNvPr id="290" name="TextBox 49"/>
          <p:cNvSpPr/>
          <p:nvPr/>
        </p:nvSpPr>
        <p:spPr>
          <a:xfrm>
            <a:off x="10314000" y="7633800"/>
            <a:ext cx="226548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Auth SASL + TLS</a:t>
            </a:r>
            <a:endParaRPr b="0" lang="fr-FR" sz="1900" spc="-1" strike="noStrike">
              <a:solidFill>
                <a:srgbClr val="ffffff"/>
              </a:solidFill>
              <a:latin typeface="Arial"/>
            </a:endParaRPr>
          </a:p>
        </p:txBody>
      </p:sp>
      <p:sp>
        <p:nvSpPr>
          <p:cNvPr id="291" name="TextBox 50"/>
          <p:cNvSpPr/>
          <p:nvPr/>
        </p:nvSpPr>
        <p:spPr>
          <a:xfrm>
            <a:off x="10364400" y="7995960"/>
            <a:ext cx="303660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File persistante chiffrée</a:t>
            </a:r>
            <a:endParaRPr b="0" lang="fr-FR" sz="1900" spc="-1" strike="noStrike">
              <a:solidFill>
                <a:srgbClr val="ffffff"/>
              </a:solidFill>
              <a:latin typeface="Arial"/>
            </a:endParaRPr>
          </a:p>
        </p:txBody>
      </p:sp>
      <p:sp>
        <p:nvSpPr>
          <p:cNvPr id="292" name="TextBox 51"/>
          <p:cNvSpPr/>
          <p:nvPr/>
        </p:nvSpPr>
        <p:spPr>
          <a:xfrm>
            <a:off x="10271520" y="8452080"/>
            <a:ext cx="2737440" cy="28044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Transactions fiables</a:t>
            </a:r>
            <a:endParaRPr b="0" lang="fr-FR" sz="1900" spc="-1" strike="noStrike">
              <a:solidFill>
                <a:srgbClr val="ffffff"/>
              </a:solidFill>
              <a:latin typeface="Arial"/>
            </a:endParaRPr>
          </a:p>
        </p:txBody>
      </p:sp>
      <p:sp>
        <p:nvSpPr>
          <p:cNvPr id="293" name="TextBox 52"/>
          <p:cNvSpPr/>
          <p:nvPr/>
        </p:nvSpPr>
        <p:spPr>
          <a:xfrm>
            <a:off x="13664520" y="7584840"/>
            <a:ext cx="250164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Très lourd pour IoT</a:t>
            </a:r>
            <a:endParaRPr b="0" lang="fr-FR" sz="1900" spc="-1" strike="noStrike">
              <a:solidFill>
                <a:srgbClr val="ffffff"/>
              </a:solidFill>
              <a:latin typeface="Arial"/>
            </a:endParaRPr>
          </a:p>
        </p:txBody>
      </p:sp>
      <p:sp>
        <p:nvSpPr>
          <p:cNvPr id="294" name="TextBox 53"/>
          <p:cNvSpPr/>
          <p:nvPr/>
        </p:nvSpPr>
        <p:spPr>
          <a:xfrm>
            <a:off x="13664520" y="7975440"/>
            <a:ext cx="3118320" cy="559800"/>
          </a:xfrm>
          <a:prstGeom prst="rect">
            <a:avLst/>
          </a:prstGeom>
          <a:noFill/>
          <a:ln w="0">
            <a:noFill/>
          </a:ln>
        </p:spPr>
        <p:style>
          <a:lnRef idx="0"/>
          <a:fillRef idx="0"/>
          <a:effectRef idx="0"/>
          <a:fontRef idx="minor"/>
        </p:style>
        <p:txBody>
          <a:bodyPr lIns="0" rIns="0" tIns="0" bIns="0" anchor="t">
            <a:spAutoFit/>
          </a:bodyPr>
          <a:p>
            <a:pPr algn="ctr" defTabSz="914400">
              <a:lnSpc>
                <a:spcPts val="2205"/>
              </a:lnSpc>
            </a:pPr>
            <a:r>
              <a:rPr b="1" lang="en-US" sz="1900" spc="-1" strike="noStrike">
                <a:solidFill>
                  <a:srgbClr val="000000"/>
                </a:solidFill>
                <a:latin typeface="Telegraf Medium"/>
                <a:ea typeface="Telegraf Medium"/>
              </a:rPr>
              <a:t>✗ </a:t>
            </a:r>
            <a:r>
              <a:rPr b="1" lang="en-US" sz="1900" spc="-1" strike="noStrike">
                <a:solidFill>
                  <a:srgbClr val="000000"/>
                </a:solidFill>
                <a:latin typeface="Telegraf Medium"/>
                <a:ea typeface="Telegraf Medium"/>
              </a:rPr>
              <a:t>Recommandé côté cloud</a:t>
            </a:r>
            <a:endParaRPr b="0" lang="fr-FR" sz="1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295"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96"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97"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98" name="Freeform 5"/>
          <p:cNvSpPr/>
          <p:nvPr/>
        </p:nvSpPr>
        <p:spPr>
          <a:xfrm>
            <a:off x="508320" y="3143520"/>
            <a:ext cx="4537800" cy="1151640"/>
          </a:xfrm>
          <a:custGeom>
            <a:avLst/>
            <a:gdLst>
              <a:gd name="textAreaLeft" fmla="*/ 0 w 4537800"/>
              <a:gd name="textAreaRight" fmla="*/ 4538160 w 4537800"/>
              <a:gd name="textAreaTop" fmla="*/ 0 h 1151640"/>
              <a:gd name="textAreaBottom" fmla="*/ 1152000 h 1151640"/>
            </a:gdLst>
            <a:ahLst/>
            <a:rect l="textAreaLeft" t="textAreaTop" r="textAreaRight" b="textAreaBottom"/>
            <a:pathLst>
              <a:path w="4538164" h="1152176">
                <a:moveTo>
                  <a:pt x="0" y="0"/>
                </a:moveTo>
                <a:lnTo>
                  <a:pt x="4538165" y="0"/>
                </a:lnTo>
                <a:lnTo>
                  <a:pt x="4538165" y="1152176"/>
                </a:lnTo>
                <a:lnTo>
                  <a:pt x="0" y="1152176"/>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299" name="Freeform 6"/>
          <p:cNvSpPr/>
          <p:nvPr/>
        </p:nvSpPr>
        <p:spPr>
          <a:xfrm>
            <a:off x="2520360" y="2743920"/>
            <a:ext cx="47160" cy="5160600"/>
          </a:xfrm>
          <a:custGeom>
            <a:avLst/>
            <a:gdLst>
              <a:gd name="textAreaLeft" fmla="*/ 0 w 47160"/>
              <a:gd name="textAreaRight" fmla="*/ 47520 w 47160"/>
              <a:gd name="textAreaTop" fmla="*/ 0 h 5160600"/>
              <a:gd name="textAreaBottom" fmla="*/ 5160960 h 5160600"/>
            </a:gdLst>
            <a:ahLst/>
            <a:rect l="textAreaLeft" t="textAreaTop" r="textAreaRight" b="textAreaBottom"/>
            <a:pathLst>
              <a:path w="47625" h="5160894">
                <a:moveTo>
                  <a:pt x="0" y="0"/>
                </a:moveTo>
                <a:lnTo>
                  <a:pt x="47625" y="0"/>
                </a:lnTo>
                <a:lnTo>
                  <a:pt x="47625" y="5160894"/>
                </a:lnTo>
                <a:lnTo>
                  <a:pt x="0" y="5160894"/>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0" name="Freeform 7"/>
          <p:cNvSpPr/>
          <p:nvPr/>
        </p:nvSpPr>
        <p:spPr>
          <a:xfrm>
            <a:off x="508320" y="6445800"/>
            <a:ext cx="4537800" cy="1151640"/>
          </a:xfrm>
          <a:custGeom>
            <a:avLst/>
            <a:gdLst>
              <a:gd name="textAreaLeft" fmla="*/ 0 w 4537800"/>
              <a:gd name="textAreaRight" fmla="*/ 4538160 w 4537800"/>
              <a:gd name="textAreaTop" fmla="*/ 0 h 1151640"/>
              <a:gd name="textAreaBottom" fmla="*/ 1152000 h 1151640"/>
            </a:gdLst>
            <a:ahLst/>
            <a:rect l="textAreaLeft" t="textAreaTop" r="textAreaRight" b="textAreaBottom"/>
            <a:pathLst>
              <a:path w="4538164" h="1152176">
                <a:moveTo>
                  <a:pt x="0" y="0"/>
                </a:moveTo>
                <a:lnTo>
                  <a:pt x="4538165" y="0"/>
                </a:lnTo>
                <a:lnTo>
                  <a:pt x="4538165" y="1152177"/>
                </a:lnTo>
                <a:lnTo>
                  <a:pt x="0" y="1152177"/>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1" name="Freeform 8"/>
          <p:cNvSpPr/>
          <p:nvPr/>
        </p:nvSpPr>
        <p:spPr>
          <a:xfrm>
            <a:off x="5493240" y="4257000"/>
            <a:ext cx="4204440" cy="1067040"/>
          </a:xfrm>
          <a:custGeom>
            <a:avLst/>
            <a:gdLst>
              <a:gd name="textAreaLeft" fmla="*/ 0 w 4204440"/>
              <a:gd name="textAreaRight" fmla="*/ 4204800 w 4204440"/>
              <a:gd name="textAreaTop" fmla="*/ 0 h 1067040"/>
              <a:gd name="textAreaBottom" fmla="*/ 1067400 h 1067040"/>
            </a:gdLst>
            <a:ahLst/>
            <a:rect l="textAreaLeft" t="textAreaTop" r="textAreaRight" b="textAreaBottom"/>
            <a:pathLst>
              <a:path w="4204827" h="1067547">
                <a:moveTo>
                  <a:pt x="0" y="0"/>
                </a:moveTo>
                <a:lnTo>
                  <a:pt x="4204828" y="0"/>
                </a:lnTo>
                <a:lnTo>
                  <a:pt x="4204828" y="1067547"/>
                </a:lnTo>
                <a:lnTo>
                  <a:pt x="0" y="1067547"/>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2" name="Freeform 9"/>
          <p:cNvSpPr/>
          <p:nvPr/>
        </p:nvSpPr>
        <p:spPr>
          <a:xfrm>
            <a:off x="5493240" y="5618160"/>
            <a:ext cx="4204440" cy="1067040"/>
          </a:xfrm>
          <a:custGeom>
            <a:avLst/>
            <a:gdLst>
              <a:gd name="textAreaLeft" fmla="*/ 0 w 4204440"/>
              <a:gd name="textAreaRight" fmla="*/ 4204800 w 4204440"/>
              <a:gd name="textAreaTop" fmla="*/ 0 h 1067040"/>
              <a:gd name="textAreaBottom" fmla="*/ 1067400 h 1067040"/>
            </a:gdLst>
            <a:ahLst/>
            <a:rect l="textAreaLeft" t="textAreaTop" r="textAreaRight" b="textAreaBottom"/>
            <a:pathLst>
              <a:path w="4204827" h="1067547">
                <a:moveTo>
                  <a:pt x="0" y="0"/>
                </a:moveTo>
                <a:lnTo>
                  <a:pt x="4204828" y="0"/>
                </a:lnTo>
                <a:lnTo>
                  <a:pt x="4204828" y="1067547"/>
                </a:lnTo>
                <a:lnTo>
                  <a:pt x="0" y="1067547"/>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3" name="Freeform 10"/>
          <p:cNvSpPr/>
          <p:nvPr/>
        </p:nvSpPr>
        <p:spPr>
          <a:xfrm>
            <a:off x="4865040" y="3543120"/>
            <a:ext cx="3700440" cy="176040"/>
          </a:xfrm>
          <a:custGeom>
            <a:avLst/>
            <a:gdLst>
              <a:gd name="textAreaLeft" fmla="*/ 0 w 3700440"/>
              <a:gd name="textAreaRight" fmla="*/ 3700800 w 3700440"/>
              <a:gd name="textAreaTop" fmla="*/ 0 h 176040"/>
              <a:gd name="textAreaBottom" fmla="*/ 176400 h 176040"/>
            </a:gdLst>
            <a:ahLst/>
            <a:rect l="textAreaLeft" t="textAreaTop" r="textAreaRight" b="textAreaBottom"/>
            <a:pathLst>
              <a:path w="3700677" h="176223">
                <a:moveTo>
                  <a:pt x="0" y="0"/>
                </a:moveTo>
                <a:lnTo>
                  <a:pt x="3700677" y="0"/>
                </a:lnTo>
                <a:lnTo>
                  <a:pt x="3700677" y="176223"/>
                </a:lnTo>
                <a:lnTo>
                  <a:pt x="0" y="176223"/>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4" name="TextBox 11"/>
          <p:cNvSpPr/>
          <p:nvPr/>
        </p:nvSpPr>
        <p:spPr>
          <a:xfrm>
            <a:off x="508320" y="2201760"/>
            <a:ext cx="878940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Négociation TLS 1.3 (Handshake simplifié)</a:t>
            </a:r>
            <a:endParaRPr b="0" lang="fr-FR" sz="3500" spc="-1" strike="noStrike">
              <a:solidFill>
                <a:srgbClr val="ffffff"/>
              </a:solidFill>
              <a:latin typeface="Arial"/>
            </a:endParaRPr>
          </a:p>
        </p:txBody>
      </p:sp>
      <p:sp>
        <p:nvSpPr>
          <p:cNvPr id="305" name="Freeform 12"/>
          <p:cNvSpPr/>
          <p:nvPr/>
        </p:nvSpPr>
        <p:spPr>
          <a:xfrm>
            <a:off x="1884240" y="4702680"/>
            <a:ext cx="3700440" cy="176040"/>
          </a:xfrm>
          <a:custGeom>
            <a:avLst/>
            <a:gdLst>
              <a:gd name="textAreaLeft" fmla="*/ 0 w 3700440"/>
              <a:gd name="textAreaRight" fmla="*/ 3700800 w 3700440"/>
              <a:gd name="textAreaTop" fmla="*/ 0 h 176040"/>
              <a:gd name="textAreaBottom" fmla="*/ 176400 h 176040"/>
            </a:gdLst>
            <a:ahLst/>
            <a:rect l="textAreaLeft" t="textAreaTop" r="textAreaRight" b="textAreaBottom"/>
            <a:pathLst>
              <a:path w="3700677" h="176223">
                <a:moveTo>
                  <a:pt x="0" y="0"/>
                </a:moveTo>
                <a:lnTo>
                  <a:pt x="3700677" y="0"/>
                </a:lnTo>
                <a:lnTo>
                  <a:pt x="3700677" y="176223"/>
                </a:lnTo>
                <a:lnTo>
                  <a:pt x="0" y="176223"/>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6" name="Freeform 13"/>
          <p:cNvSpPr/>
          <p:nvPr/>
        </p:nvSpPr>
        <p:spPr>
          <a:xfrm>
            <a:off x="1826280" y="5991120"/>
            <a:ext cx="3700440" cy="176040"/>
          </a:xfrm>
          <a:custGeom>
            <a:avLst/>
            <a:gdLst>
              <a:gd name="textAreaLeft" fmla="*/ 0 w 3700440"/>
              <a:gd name="textAreaRight" fmla="*/ 3700800 w 3700440"/>
              <a:gd name="textAreaTop" fmla="*/ 0 h 176040"/>
              <a:gd name="textAreaBottom" fmla="*/ 176400 h 176040"/>
            </a:gdLst>
            <a:ahLst/>
            <a:rect l="textAreaLeft" t="textAreaTop" r="textAreaRight" b="textAreaBottom"/>
            <a:pathLst>
              <a:path w="3700677" h="176223">
                <a:moveTo>
                  <a:pt x="0" y="0"/>
                </a:moveTo>
                <a:lnTo>
                  <a:pt x="3700677" y="0"/>
                </a:lnTo>
                <a:lnTo>
                  <a:pt x="3700677" y="176223"/>
                </a:lnTo>
                <a:lnTo>
                  <a:pt x="0" y="176223"/>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07" name="TextBox 14"/>
          <p:cNvSpPr/>
          <p:nvPr/>
        </p:nvSpPr>
        <p:spPr>
          <a:xfrm>
            <a:off x="6901200" y="4218840"/>
            <a:ext cx="138816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Server</a:t>
            </a:r>
            <a:endParaRPr b="0" lang="fr-FR" sz="3500" spc="-1" strike="noStrike">
              <a:solidFill>
                <a:srgbClr val="ffffff"/>
              </a:solidFill>
              <a:latin typeface="Arial"/>
            </a:endParaRPr>
          </a:p>
        </p:txBody>
      </p:sp>
      <p:sp>
        <p:nvSpPr>
          <p:cNvPr id="308" name="TextBox 15"/>
          <p:cNvSpPr/>
          <p:nvPr/>
        </p:nvSpPr>
        <p:spPr>
          <a:xfrm>
            <a:off x="6901200" y="5581800"/>
            <a:ext cx="138816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Server</a:t>
            </a:r>
            <a:endParaRPr b="0" lang="fr-FR" sz="3500" spc="-1" strike="noStrike">
              <a:solidFill>
                <a:srgbClr val="ffffff"/>
              </a:solidFill>
              <a:latin typeface="Arial"/>
            </a:endParaRPr>
          </a:p>
        </p:txBody>
      </p:sp>
      <p:sp>
        <p:nvSpPr>
          <p:cNvPr id="309" name="Freeform 16"/>
          <p:cNvSpPr/>
          <p:nvPr/>
        </p:nvSpPr>
        <p:spPr>
          <a:xfrm>
            <a:off x="7547760" y="2563200"/>
            <a:ext cx="47160" cy="5160600"/>
          </a:xfrm>
          <a:custGeom>
            <a:avLst/>
            <a:gdLst>
              <a:gd name="textAreaLeft" fmla="*/ 0 w 47160"/>
              <a:gd name="textAreaRight" fmla="*/ 47520 w 47160"/>
              <a:gd name="textAreaTop" fmla="*/ 0 h 5160600"/>
              <a:gd name="textAreaBottom" fmla="*/ 5160960 h 5160600"/>
            </a:gdLst>
            <a:ahLst/>
            <a:rect l="textAreaLeft" t="textAreaTop" r="textAreaRight" b="textAreaBottom"/>
            <a:pathLst>
              <a:path w="47625" h="5160894">
                <a:moveTo>
                  <a:pt x="0" y="0"/>
                </a:moveTo>
                <a:lnTo>
                  <a:pt x="47625" y="0"/>
                </a:lnTo>
                <a:lnTo>
                  <a:pt x="47625" y="5160894"/>
                </a:lnTo>
                <a:lnTo>
                  <a:pt x="0" y="5160894"/>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0" name="Freeform 17"/>
          <p:cNvSpPr/>
          <p:nvPr/>
        </p:nvSpPr>
        <p:spPr>
          <a:xfrm>
            <a:off x="10042560" y="2972880"/>
            <a:ext cx="2637360" cy="960480"/>
          </a:xfrm>
          <a:custGeom>
            <a:avLst/>
            <a:gdLst>
              <a:gd name="textAreaLeft" fmla="*/ 0 w 2637360"/>
              <a:gd name="textAreaRight" fmla="*/ 2637720 w 2637360"/>
              <a:gd name="textAreaTop" fmla="*/ 0 h 960480"/>
              <a:gd name="textAreaBottom" fmla="*/ 960840 h 960480"/>
            </a:gdLst>
            <a:ahLst/>
            <a:rect l="textAreaLeft" t="textAreaTop" r="textAreaRight" b="textAreaBottom"/>
            <a:pathLst>
              <a:path w="2637838" h="960927">
                <a:moveTo>
                  <a:pt x="0" y="0"/>
                </a:moveTo>
                <a:lnTo>
                  <a:pt x="2637838" y="0"/>
                </a:lnTo>
                <a:lnTo>
                  <a:pt x="2637838" y="960927"/>
                </a:lnTo>
                <a:lnTo>
                  <a:pt x="0" y="960927"/>
                </a:lnTo>
                <a:lnTo>
                  <a:pt x="0" y="0"/>
                </a:lnTo>
                <a:close/>
              </a:path>
            </a:pathLst>
          </a:custGeom>
          <a:blipFill rotWithShape="0">
            <a:blip r:embed="rId1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1" name="Freeform 18"/>
          <p:cNvSpPr/>
          <p:nvPr/>
        </p:nvSpPr>
        <p:spPr>
          <a:xfrm>
            <a:off x="12780720" y="2972880"/>
            <a:ext cx="2637360" cy="960480"/>
          </a:xfrm>
          <a:custGeom>
            <a:avLst/>
            <a:gdLst>
              <a:gd name="textAreaLeft" fmla="*/ 0 w 2637360"/>
              <a:gd name="textAreaRight" fmla="*/ 2637720 w 2637360"/>
              <a:gd name="textAreaTop" fmla="*/ 0 h 960480"/>
              <a:gd name="textAreaBottom" fmla="*/ 960840 h 960480"/>
            </a:gdLst>
            <a:ahLst/>
            <a:rect l="textAreaLeft" t="textAreaTop" r="textAreaRight" b="textAreaBottom"/>
            <a:pathLst>
              <a:path w="2637838" h="960927">
                <a:moveTo>
                  <a:pt x="0" y="0"/>
                </a:moveTo>
                <a:lnTo>
                  <a:pt x="2637838" y="0"/>
                </a:lnTo>
                <a:lnTo>
                  <a:pt x="2637838" y="960927"/>
                </a:lnTo>
                <a:lnTo>
                  <a:pt x="0" y="960927"/>
                </a:lnTo>
                <a:lnTo>
                  <a:pt x="0" y="0"/>
                </a:lnTo>
                <a:close/>
              </a:path>
            </a:pathLst>
          </a:custGeom>
          <a:blipFill rotWithShape="0">
            <a:blip r:embed="rId1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2" name="Freeform 19"/>
          <p:cNvSpPr/>
          <p:nvPr/>
        </p:nvSpPr>
        <p:spPr>
          <a:xfrm>
            <a:off x="15483960" y="2944800"/>
            <a:ext cx="2637360" cy="960480"/>
          </a:xfrm>
          <a:custGeom>
            <a:avLst/>
            <a:gdLst>
              <a:gd name="textAreaLeft" fmla="*/ 0 w 2637360"/>
              <a:gd name="textAreaRight" fmla="*/ 2637720 w 2637360"/>
              <a:gd name="textAreaTop" fmla="*/ 0 h 960480"/>
              <a:gd name="textAreaBottom" fmla="*/ 960840 h 960480"/>
            </a:gdLst>
            <a:ahLst/>
            <a:rect l="textAreaLeft" t="textAreaTop" r="textAreaRight" b="textAreaBottom"/>
            <a:pathLst>
              <a:path w="2637838" h="960927">
                <a:moveTo>
                  <a:pt x="0" y="0"/>
                </a:moveTo>
                <a:lnTo>
                  <a:pt x="2637838" y="0"/>
                </a:lnTo>
                <a:lnTo>
                  <a:pt x="2637838" y="960927"/>
                </a:lnTo>
                <a:lnTo>
                  <a:pt x="0" y="960927"/>
                </a:lnTo>
                <a:lnTo>
                  <a:pt x="0" y="0"/>
                </a:lnTo>
                <a:close/>
              </a:path>
            </a:pathLst>
          </a:custGeom>
          <a:blipFill rotWithShape="0">
            <a:blip r:embed="rId1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3" name="Freeform 20"/>
          <p:cNvSpPr/>
          <p:nvPr/>
        </p:nvSpPr>
        <p:spPr>
          <a:xfrm>
            <a:off x="10004760" y="4155120"/>
            <a:ext cx="2658240" cy="968040"/>
          </a:xfrm>
          <a:custGeom>
            <a:avLst/>
            <a:gdLst>
              <a:gd name="textAreaLeft" fmla="*/ 0 w 2658240"/>
              <a:gd name="textAreaRight" fmla="*/ 2658600 w 2658240"/>
              <a:gd name="textAreaTop" fmla="*/ 0 h 968040"/>
              <a:gd name="textAreaBottom" fmla="*/ 968400 h 968040"/>
            </a:gdLst>
            <a:ahLst/>
            <a:rect l="textAreaLeft" t="textAreaTop" r="textAreaRight" b="textAreaBottom"/>
            <a:pathLst>
              <a:path w="2658539" h="968468">
                <a:moveTo>
                  <a:pt x="0" y="0"/>
                </a:moveTo>
                <a:lnTo>
                  <a:pt x="2658539" y="0"/>
                </a:lnTo>
                <a:lnTo>
                  <a:pt x="2658539" y="968468"/>
                </a:lnTo>
                <a:lnTo>
                  <a:pt x="0" y="968468"/>
                </a:lnTo>
                <a:lnTo>
                  <a:pt x="0" y="0"/>
                </a:lnTo>
                <a:close/>
              </a:path>
            </a:pathLst>
          </a:custGeom>
          <a:blipFill rotWithShape="0">
            <a:blip r:embed="rId1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4" name="Freeform 21"/>
          <p:cNvSpPr/>
          <p:nvPr/>
        </p:nvSpPr>
        <p:spPr>
          <a:xfrm>
            <a:off x="12804120" y="4133880"/>
            <a:ext cx="2614320" cy="952200"/>
          </a:xfrm>
          <a:custGeom>
            <a:avLst/>
            <a:gdLst>
              <a:gd name="textAreaLeft" fmla="*/ 0 w 2614320"/>
              <a:gd name="textAreaRight" fmla="*/ 2614680 w 2614320"/>
              <a:gd name="textAreaTop" fmla="*/ 0 h 952200"/>
              <a:gd name="textAreaBottom" fmla="*/ 952560 h 952200"/>
            </a:gdLst>
            <a:ahLst/>
            <a:rect l="textAreaLeft" t="textAreaTop" r="textAreaRight" b="textAreaBottom"/>
            <a:pathLst>
              <a:path w="2614515" h="952430">
                <a:moveTo>
                  <a:pt x="0" y="0"/>
                </a:moveTo>
                <a:lnTo>
                  <a:pt x="2614515" y="0"/>
                </a:lnTo>
                <a:lnTo>
                  <a:pt x="2614515" y="952430"/>
                </a:lnTo>
                <a:lnTo>
                  <a:pt x="0" y="952430"/>
                </a:lnTo>
                <a:lnTo>
                  <a:pt x="0" y="0"/>
                </a:lnTo>
                <a:close/>
              </a:path>
            </a:pathLst>
          </a:custGeom>
          <a:blipFill rotWithShape="0">
            <a:blip r:embed="rId1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5" name="Freeform 22"/>
          <p:cNvSpPr/>
          <p:nvPr/>
        </p:nvSpPr>
        <p:spPr>
          <a:xfrm>
            <a:off x="15536160" y="4111200"/>
            <a:ext cx="2585160" cy="941400"/>
          </a:xfrm>
          <a:custGeom>
            <a:avLst/>
            <a:gdLst>
              <a:gd name="textAreaLeft" fmla="*/ 0 w 2585160"/>
              <a:gd name="textAreaRight" fmla="*/ 2585520 w 2585160"/>
              <a:gd name="textAreaTop" fmla="*/ 0 h 941400"/>
              <a:gd name="textAreaBottom" fmla="*/ 941760 h 941400"/>
            </a:gdLst>
            <a:ahLst/>
            <a:rect l="textAreaLeft" t="textAreaTop" r="textAreaRight" b="textAreaBottom"/>
            <a:pathLst>
              <a:path w="2585513" h="941865">
                <a:moveTo>
                  <a:pt x="0" y="0"/>
                </a:moveTo>
                <a:lnTo>
                  <a:pt x="2585513" y="0"/>
                </a:lnTo>
                <a:lnTo>
                  <a:pt x="2585513" y="941865"/>
                </a:lnTo>
                <a:lnTo>
                  <a:pt x="0" y="941865"/>
                </a:lnTo>
                <a:lnTo>
                  <a:pt x="0" y="0"/>
                </a:lnTo>
                <a:close/>
              </a:path>
            </a:pathLst>
          </a:custGeom>
          <a:blipFill rotWithShape="0">
            <a:blip r:embed="rId1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6" name="Freeform 23"/>
          <p:cNvSpPr/>
          <p:nvPr/>
        </p:nvSpPr>
        <p:spPr>
          <a:xfrm>
            <a:off x="9970560" y="5323320"/>
            <a:ext cx="2692080" cy="980640"/>
          </a:xfrm>
          <a:custGeom>
            <a:avLst/>
            <a:gdLst>
              <a:gd name="textAreaLeft" fmla="*/ 0 w 2692080"/>
              <a:gd name="textAreaRight" fmla="*/ 2692440 w 2692080"/>
              <a:gd name="textAreaTop" fmla="*/ 0 h 980640"/>
              <a:gd name="textAreaBottom" fmla="*/ 981000 h 980640"/>
            </a:gdLst>
            <a:ahLst/>
            <a:rect l="textAreaLeft" t="textAreaTop" r="textAreaRight" b="textAreaBottom"/>
            <a:pathLst>
              <a:path w="2692584" h="980870">
                <a:moveTo>
                  <a:pt x="0" y="0"/>
                </a:moveTo>
                <a:lnTo>
                  <a:pt x="2692584" y="0"/>
                </a:lnTo>
                <a:lnTo>
                  <a:pt x="2692584" y="980870"/>
                </a:lnTo>
                <a:lnTo>
                  <a:pt x="0" y="980870"/>
                </a:lnTo>
                <a:lnTo>
                  <a:pt x="0" y="0"/>
                </a:lnTo>
                <a:close/>
              </a:path>
            </a:pathLst>
          </a:custGeom>
          <a:blipFill rotWithShape="0">
            <a:blip r:embed="rId2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17" name="TextBox 24"/>
          <p:cNvSpPr/>
          <p:nvPr/>
        </p:nvSpPr>
        <p:spPr>
          <a:xfrm>
            <a:off x="1436040" y="796680"/>
            <a:ext cx="1389996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03 — TLS / DTLS : Le Socle du Chiffrement IoT</a:t>
            </a:r>
            <a:endParaRPr b="0" lang="fr-FR" sz="5000" spc="-1" strike="noStrike">
              <a:solidFill>
                <a:srgbClr val="ffffff"/>
              </a:solidFill>
              <a:latin typeface="Arial"/>
            </a:endParaRPr>
          </a:p>
        </p:txBody>
      </p:sp>
      <p:sp>
        <p:nvSpPr>
          <p:cNvPr id="318" name="TextBox 25"/>
          <p:cNvSpPr/>
          <p:nvPr/>
        </p:nvSpPr>
        <p:spPr>
          <a:xfrm>
            <a:off x="11565360" y="2201760"/>
            <a:ext cx="5595480" cy="5158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Comparaison TLS vs DTLS</a:t>
            </a:r>
            <a:endParaRPr b="0" lang="fr-FR" sz="3500" spc="-1" strike="noStrike">
              <a:solidFill>
                <a:srgbClr val="ffffff"/>
              </a:solidFill>
              <a:latin typeface="Arial"/>
            </a:endParaRPr>
          </a:p>
        </p:txBody>
      </p:sp>
      <p:sp>
        <p:nvSpPr>
          <p:cNvPr id="319" name="TextBox 26"/>
          <p:cNvSpPr/>
          <p:nvPr/>
        </p:nvSpPr>
        <p:spPr>
          <a:xfrm>
            <a:off x="1826280" y="3149280"/>
            <a:ext cx="1388160" cy="5158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Client</a:t>
            </a:r>
            <a:endParaRPr b="0" lang="fr-FR" sz="3500" spc="-1" strike="noStrike">
              <a:solidFill>
                <a:srgbClr val="ffffff"/>
              </a:solidFill>
              <a:latin typeface="Arial"/>
            </a:endParaRPr>
          </a:p>
        </p:txBody>
      </p:sp>
      <p:sp>
        <p:nvSpPr>
          <p:cNvPr id="320" name="TextBox 27"/>
          <p:cNvSpPr/>
          <p:nvPr/>
        </p:nvSpPr>
        <p:spPr>
          <a:xfrm>
            <a:off x="508320" y="3690720"/>
            <a:ext cx="413928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bf63"/>
                </a:solidFill>
                <a:latin typeface="Telegraf Medium"/>
                <a:ea typeface="Telegraf Medium"/>
              </a:rPr>
              <a:t>ClientHello + Supported Groups</a:t>
            </a:r>
            <a:endParaRPr b="0" lang="fr-FR" sz="2100" spc="-1" strike="noStrike">
              <a:solidFill>
                <a:srgbClr val="ffffff"/>
              </a:solidFill>
              <a:latin typeface="Arial"/>
            </a:endParaRPr>
          </a:p>
        </p:txBody>
      </p:sp>
      <p:sp>
        <p:nvSpPr>
          <p:cNvPr id="321" name="TextBox 28"/>
          <p:cNvSpPr/>
          <p:nvPr/>
        </p:nvSpPr>
        <p:spPr>
          <a:xfrm>
            <a:off x="1884240" y="6381360"/>
            <a:ext cx="1388160" cy="5158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Client</a:t>
            </a:r>
            <a:endParaRPr b="0" lang="fr-FR" sz="3500" spc="-1" strike="noStrike">
              <a:solidFill>
                <a:srgbClr val="ffffff"/>
              </a:solidFill>
              <a:latin typeface="Arial"/>
            </a:endParaRPr>
          </a:p>
        </p:txBody>
      </p:sp>
      <p:sp>
        <p:nvSpPr>
          <p:cNvPr id="322" name="TextBox 29"/>
          <p:cNvSpPr/>
          <p:nvPr/>
        </p:nvSpPr>
        <p:spPr>
          <a:xfrm>
            <a:off x="508320" y="6993360"/>
            <a:ext cx="413928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bf63"/>
                </a:solidFill>
                <a:latin typeface="Telegraf Medium"/>
                <a:ea typeface="Telegraf Medium"/>
              </a:rPr>
              <a:t>Finished → Données chiffrées</a:t>
            </a:r>
            <a:endParaRPr b="0" lang="fr-FR" sz="2100" spc="-1" strike="noStrike">
              <a:solidFill>
                <a:srgbClr val="ffffff"/>
              </a:solidFill>
              <a:latin typeface="Arial"/>
            </a:endParaRPr>
          </a:p>
        </p:txBody>
      </p:sp>
      <p:sp>
        <p:nvSpPr>
          <p:cNvPr id="323" name="TextBox 30"/>
          <p:cNvSpPr/>
          <p:nvPr/>
        </p:nvSpPr>
        <p:spPr>
          <a:xfrm>
            <a:off x="5584680" y="4937040"/>
            <a:ext cx="413928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ServerHello + Certificate</a:t>
            </a:r>
            <a:endParaRPr b="0" lang="fr-FR" sz="2100" spc="-1" strike="noStrike">
              <a:solidFill>
                <a:srgbClr val="ffffff"/>
              </a:solidFill>
              <a:latin typeface="Arial"/>
            </a:endParaRPr>
          </a:p>
        </p:txBody>
      </p:sp>
      <p:sp>
        <p:nvSpPr>
          <p:cNvPr id="324" name="TextBox 31"/>
          <p:cNvSpPr/>
          <p:nvPr/>
        </p:nvSpPr>
        <p:spPr>
          <a:xfrm>
            <a:off x="5478120" y="6319800"/>
            <a:ext cx="413928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CertificateVerify + Finished</a:t>
            </a:r>
            <a:endParaRPr b="0" lang="fr-FR" sz="2100" spc="-1" strike="noStrike">
              <a:solidFill>
                <a:srgbClr val="ffffff"/>
              </a:solidFill>
              <a:latin typeface="Arial"/>
            </a:endParaRPr>
          </a:p>
        </p:txBody>
      </p:sp>
      <p:sp>
        <p:nvSpPr>
          <p:cNvPr id="325" name="Freeform 32"/>
          <p:cNvSpPr/>
          <p:nvPr/>
        </p:nvSpPr>
        <p:spPr>
          <a:xfrm>
            <a:off x="12753360" y="5286240"/>
            <a:ext cx="2692080" cy="980640"/>
          </a:xfrm>
          <a:custGeom>
            <a:avLst/>
            <a:gdLst>
              <a:gd name="textAreaLeft" fmla="*/ 0 w 2692080"/>
              <a:gd name="textAreaRight" fmla="*/ 2692440 w 2692080"/>
              <a:gd name="textAreaTop" fmla="*/ 0 h 980640"/>
              <a:gd name="textAreaBottom" fmla="*/ 981000 h 980640"/>
            </a:gdLst>
            <a:ahLst/>
            <a:rect l="textAreaLeft" t="textAreaTop" r="textAreaRight" b="textAreaBottom"/>
            <a:pathLst>
              <a:path w="2692584" h="980870">
                <a:moveTo>
                  <a:pt x="0" y="0"/>
                </a:moveTo>
                <a:lnTo>
                  <a:pt x="2692584" y="0"/>
                </a:lnTo>
                <a:lnTo>
                  <a:pt x="2692584" y="980870"/>
                </a:lnTo>
                <a:lnTo>
                  <a:pt x="0" y="980870"/>
                </a:lnTo>
                <a:lnTo>
                  <a:pt x="0" y="0"/>
                </a:lnTo>
                <a:close/>
              </a:path>
            </a:pathLst>
          </a:custGeom>
          <a:blipFill rotWithShape="0">
            <a:blip r:embed="rId2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26" name="Freeform 33"/>
          <p:cNvSpPr/>
          <p:nvPr/>
        </p:nvSpPr>
        <p:spPr>
          <a:xfrm>
            <a:off x="15518880" y="5249160"/>
            <a:ext cx="2602440" cy="947880"/>
          </a:xfrm>
          <a:custGeom>
            <a:avLst/>
            <a:gdLst>
              <a:gd name="textAreaLeft" fmla="*/ 0 w 2602440"/>
              <a:gd name="textAreaRight" fmla="*/ 2602800 w 2602440"/>
              <a:gd name="textAreaTop" fmla="*/ 0 h 947880"/>
              <a:gd name="textAreaBottom" fmla="*/ 948240 h 947880"/>
            </a:gdLst>
            <a:ahLst/>
            <a:rect l="textAreaLeft" t="textAreaTop" r="textAreaRight" b="textAreaBottom"/>
            <a:pathLst>
              <a:path w="2602743" h="948142">
                <a:moveTo>
                  <a:pt x="0" y="0"/>
                </a:moveTo>
                <a:lnTo>
                  <a:pt x="2602743" y="0"/>
                </a:lnTo>
                <a:lnTo>
                  <a:pt x="2602743" y="948142"/>
                </a:lnTo>
                <a:lnTo>
                  <a:pt x="0" y="948142"/>
                </a:lnTo>
                <a:lnTo>
                  <a:pt x="0" y="0"/>
                </a:lnTo>
                <a:close/>
              </a:path>
            </a:pathLst>
          </a:custGeom>
          <a:blipFill rotWithShape="0">
            <a:blip r:embed="rId2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27" name="Freeform 34"/>
          <p:cNvSpPr/>
          <p:nvPr/>
        </p:nvSpPr>
        <p:spPr>
          <a:xfrm>
            <a:off x="9970560" y="6467400"/>
            <a:ext cx="2658240" cy="968040"/>
          </a:xfrm>
          <a:custGeom>
            <a:avLst/>
            <a:gdLst>
              <a:gd name="textAreaLeft" fmla="*/ 0 w 2658240"/>
              <a:gd name="textAreaRight" fmla="*/ 2658600 w 2658240"/>
              <a:gd name="textAreaTop" fmla="*/ 0 h 968040"/>
              <a:gd name="textAreaBottom" fmla="*/ 968400 h 968040"/>
            </a:gdLst>
            <a:ahLst/>
            <a:rect l="textAreaLeft" t="textAreaTop" r="textAreaRight" b="textAreaBottom"/>
            <a:pathLst>
              <a:path w="2658539" h="968468">
                <a:moveTo>
                  <a:pt x="0" y="0"/>
                </a:moveTo>
                <a:lnTo>
                  <a:pt x="2658538" y="0"/>
                </a:lnTo>
                <a:lnTo>
                  <a:pt x="2658538" y="968468"/>
                </a:lnTo>
                <a:lnTo>
                  <a:pt x="0" y="968468"/>
                </a:lnTo>
                <a:lnTo>
                  <a:pt x="0" y="0"/>
                </a:lnTo>
                <a:close/>
              </a:path>
            </a:pathLst>
          </a:custGeom>
          <a:blipFill rotWithShape="0">
            <a:blip r:embed="rId2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28" name="Freeform 35"/>
          <p:cNvSpPr/>
          <p:nvPr/>
        </p:nvSpPr>
        <p:spPr>
          <a:xfrm>
            <a:off x="12804120" y="6467400"/>
            <a:ext cx="2658240" cy="968040"/>
          </a:xfrm>
          <a:custGeom>
            <a:avLst/>
            <a:gdLst>
              <a:gd name="textAreaLeft" fmla="*/ 0 w 2658240"/>
              <a:gd name="textAreaRight" fmla="*/ 2658600 w 2658240"/>
              <a:gd name="textAreaTop" fmla="*/ 0 h 968040"/>
              <a:gd name="textAreaBottom" fmla="*/ 968400 h 968040"/>
            </a:gdLst>
            <a:ahLst/>
            <a:rect l="textAreaLeft" t="textAreaTop" r="textAreaRight" b="textAreaBottom"/>
            <a:pathLst>
              <a:path w="2658539" h="968468">
                <a:moveTo>
                  <a:pt x="0" y="0"/>
                </a:moveTo>
                <a:lnTo>
                  <a:pt x="2658539" y="0"/>
                </a:lnTo>
                <a:lnTo>
                  <a:pt x="2658539" y="968468"/>
                </a:lnTo>
                <a:lnTo>
                  <a:pt x="0" y="968468"/>
                </a:lnTo>
                <a:lnTo>
                  <a:pt x="0" y="0"/>
                </a:lnTo>
                <a:close/>
              </a:path>
            </a:pathLst>
          </a:custGeom>
          <a:blipFill rotWithShape="0">
            <a:blip r:embed="rId2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29" name="Freeform 36"/>
          <p:cNvSpPr/>
          <p:nvPr/>
        </p:nvSpPr>
        <p:spPr>
          <a:xfrm>
            <a:off x="15562440" y="6467040"/>
            <a:ext cx="2558880" cy="932040"/>
          </a:xfrm>
          <a:custGeom>
            <a:avLst/>
            <a:gdLst>
              <a:gd name="textAreaLeft" fmla="*/ 0 w 2558880"/>
              <a:gd name="textAreaRight" fmla="*/ 2559240 w 2558880"/>
              <a:gd name="textAreaTop" fmla="*/ 0 h 932040"/>
              <a:gd name="textAreaBottom" fmla="*/ 932400 h 932040"/>
            </a:gdLst>
            <a:ahLst/>
            <a:rect l="textAreaLeft" t="textAreaTop" r="textAreaRight" b="textAreaBottom"/>
            <a:pathLst>
              <a:path w="2559173" h="932270">
                <a:moveTo>
                  <a:pt x="0" y="0"/>
                </a:moveTo>
                <a:lnTo>
                  <a:pt x="2559173" y="0"/>
                </a:lnTo>
                <a:lnTo>
                  <a:pt x="2559173" y="932270"/>
                </a:lnTo>
                <a:lnTo>
                  <a:pt x="0" y="932270"/>
                </a:lnTo>
                <a:lnTo>
                  <a:pt x="0" y="0"/>
                </a:lnTo>
                <a:close/>
              </a:path>
            </a:pathLst>
          </a:custGeom>
          <a:blipFill rotWithShape="0">
            <a:blip r:embed="rId2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30" name="Freeform 37"/>
          <p:cNvSpPr/>
          <p:nvPr/>
        </p:nvSpPr>
        <p:spPr>
          <a:xfrm>
            <a:off x="9970560" y="7597800"/>
            <a:ext cx="2692080" cy="980640"/>
          </a:xfrm>
          <a:custGeom>
            <a:avLst/>
            <a:gdLst>
              <a:gd name="textAreaLeft" fmla="*/ 0 w 2692080"/>
              <a:gd name="textAreaRight" fmla="*/ 2692440 w 2692080"/>
              <a:gd name="textAreaTop" fmla="*/ 0 h 980640"/>
              <a:gd name="textAreaBottom" fmla="*/ 981000 h 980640"/>
            </a:gdLst>
            <a:ahLst/>
            <a:rect l="textAreaLeft" t="textAreaTop" r="textAreaRight" b="textAreaBottom"/>
            <a:pathLst>
              <a:path w="2692584" h="980870">
                <a:moveTo>
                  <a:pt x="0" y="0"/>
                </a:moveTo>
                <a:lnTo>
                  <a:pt x="2692584" y="0"/>
                </a:lnTo>
                <a:lnTo>
                  <a:pt x="2692584" y="980870"/>
                </a:lnTo>
                <a:lnTo>
                  <a:pt x="0" y="980870"/>
                </a:lnTo>
                <a:lnTo>
                  <a:pt x="0" y="0"/>
                </a:lnTo>
                <a:close/>
              </a:path>
            </a:pathLst>
          </a:custGeom>
          <a:blipFill rotWithShape="0">
            <a:blip r:embed="rId2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31" name="Freeform 38"/>
          <p:cNvSpPr/>
          <p:nvPr/>
        </p:nvSpPr>
        <p:spPr>
          <a:xfrm>
            <a:off x="12769920" y="7597800"/>
            <a:ext cx="2692080" cy="980640"/>
          </a:xfrm>
          <a:custGeom>
            <a:avLst/>
            <a:gdLst>
              <a:gd name="textAreaLeft" fmla="*/ 0 w 2692080"/>
              <a:gd name="textAreaRight" fmla="*/ 2692440 w 2692080"/>
              <a:gd name="textAreaTop" fmla="*/ 0 h 980640"/>
              <a:gd name="textAreaBottom" fmla="*/ 981000 h 980640"/>
            </a:gdLst>
            <a:ahLst/>
            <a:rect l="textAreaLeft" t="textAreaTop" r="textAreaRight" b="textAreaBottom"/>
            <a:pathLst>
              <a:path w="2692584" h="980870">
                <a:moveTo>
                  <a:pt x="0" y="0"/>
                </a:moveTo>
                <a:lnTo>
                  <a:pt x="2692585" y="0"/>
                </a:lnTo>
                <a:lnTo>
                  <a:pt x="2692585" y="980870"/>
                </a:lnTo>
                <a:lnTo>
                  <a:pt x="0" y="980870"/>
                </a:lnTo>
                <a:lnTo>
                  <a:pt x="0" y="0"/>
                </a:lnTo>
                <a:close/>
              </a:path>
            </a:pathLst>
          </a:custGeom>
          <a:blipFill rotWithShape="0">
            <a:blip r:embed="rId2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32" name="Freeform 39"/>
          <p:cNvSpPr/>
          <p:nvPr/>
        </p:nvSpPr>
        <p:spPr>
          <a:xfrm>
            <a:off x="15545520" y="7597800"/>
            <a:ext cx="2575800" cy="938160"/>
          </a:xfrm>
          <a:custGeom>
            <a:avLst/>
            <a:gdLst>
              <a:gd name="textAreaLeft" fmla="*/ 0 w 2575800"/>
              <a:gd name="textAreaRight" fmla="*/ 2576160 w 2575800"/>
              <a:gd name="textAreaTop" fmla="*/ 0 h 938160"/>
              <a:gd name="textAreaBottom" fmla="*/ 938520 h 938160"/>
            </a:gdLst>
            <a:ahLst/>
            <a:rect l="textAreaLeft" t="textAreaTop" r="textAreaRight" b="textAreaBottom"/>
            <a:pathLst>
              <a:path w="2576196" h="938471">
                <a:moveTo>
                  <a:pt x="0" y="0"/>
                </a:moveTo>
                <a:lnTo>
                  <a:pt x="2576195" y="0"/>
                </a:lnTo>
                <a:lnTo>
                  <a:pt x="2576195" y="938471"/>
                </a:lnTo>
                <a:lnTo>
                  <a:pt x="0" y="938471"/>
                </a:lnTo>
                <a:lnTo>
                  <a:pt x="0" y="0"/>
                </a:lnTo>
                <a:close/>
              </a:path>
            </a:pathLst>
          </a:custGeom>
          <a:blipFill rotWithShape="0">
            <a:blip r:embed="rId2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33" name="TextBox 40"/>
          <p:cNvSpPr/>
          <p:nvPr/>
        </p:nvSpPr>
        <p:spPr>
          <a:xfrm>
            <a:off x="10667160" y="3198240"/>
            <a:ext cx="13881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Critère</a:t>
            </a:r>
            <a:endParaRPr b="0" lang="fr-FR" sz="3000" spc="-1" strike="noStrike">
              <a:solidFill>
                <a:srgbClr val="ffffff"/>
              </a:solidFill>
              <a:latin typeface="Arial"/>
            </a:endParaRPr>
          </a:p>
        </p:txBody>
      </p:sp>
      <p:sp>
        <p:nvSpPr>
          <p:cNvPr id="334" name="TextBox 41"/>
          <p:cNvSpPr/>
          <p:nvPr/>
        </p:nvSpPr>
        <p:spPr>
          <a:xfrm>
            <a:off x="13426560" y="3237480"/>
            <a:ext cx="13881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TLS</a:t>
            </a:r>
            <a:endParaRPr b="0" lang="fr-FR" sz="3000" spc="-1" strike="noStrike">
              <a:solidFill>
                <a:srgbClr val="ffffff"/>
              </a:solidFill>
              <a:latin typeface="Arial"/>
            </a:endParaRPr>
          </a:p>
        </p:txBody>
      </p:sp>
      <p:sp>
        <p:nvSpPr>
          <p:cNvPr id="335" name="TextBox 42"/>
          <p:cNvSpPr/>
          <p:nvPr/>
        </p:nvSpPr>
        <p:spPr>
          <a:xfrm>
            <a:off x="16254720" y="3277080"/>
            <a:ext cx="13881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DTLS</a:t>
            </a:r>
            <a:endParaRPr b="0" lang="fr-FR" sz="3000" spc="-1" strike="noStrike">
              <a:solidFill>
                <a:srgbClr val="ffffff"/>
              </a:solidFill>
              <a:latin typeface="Arial"/>
            </a:endParaRPr>
          </a:p>
        </p:txBody>
      </p:sp>
      <p:sp>
        <p:nvSpPr>
          <p:cNvPr id="336" name="TextBox 43"/>
          <p:cNvSpPr/>
          <p:nvPr/>
        </p:nvSpPr>
        <p:spPr>
          <a:xfrm>
            <a:off x="10396440" y="4384080"/>
            <a:ext cx="180648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Transport</a:t>
            </a:r>
            <a:endParaRPr b="0" lang="fr-FR" sz="3000" spc="-1" strike="noStrike">
              <a:solidFill>
                <a:srgbClr val="ffffff"/>
              </a:solidFill>
              <a:latin typeface="Arial"/>
            </a:endParaRPr>
          </a:p>
        </p:txBody>
      </p:sp>
      <p:sp>
        <p:nvSpPr>
          <p:cNvPr id="337" name="TextBox 44"/>
          <p:cNvSpPr/>
          <p:nvPr/>
        </p:nvSpPr>
        <p:spPr>
          <a:xfrm>
            <a:off x="13234320" y="438408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TCP</a:t>
            </a:r>
            <a:endParaRPr b="0" lang="fr-FR" sz="3000" spc="-1" strike="noStrike">
              <a:solidFill>
                <a:srgbClr val="ffffff"/>
              </a:solidFill>
              <a:latin typeface="Arial"/>
            </a:endParaRPr>
          </a:p>
        </p:txBody>
      </p:sp>
      <p:sp>
        <p:nvSpPr>
          <p:cNvPr id="338" name="TextBox 45"/>
          <p:cNvSpPr/>
          <p:nvPr/>
        </p:nvSpPr>
        <p:spPr>
          <a:xfrm>
            <a:off x="16071840" y="438408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UDP</a:t>
            </a:r>
            <a:endParaRPr b="0" lang="fr-FR" sz="3000" spc="-1" strike="noStrike">
              <a:solidFill>
                <a:srgbClr val="ffffff"/>
              </a:solidFill>
              <a:latin typeface="Arial"/>
            </a:endParaRPr>
          </a:p>
        </p:txBody>
      </p:sp>
      <p:sp>
        <p:nvSpPr>
          <p:cNvPr id="339" name="TextBox 46"/>
          <p:cNvSpPr/>
          <p:nvPr/>
        </p:nvSpPr>
        <p:spPr>
          <a:xfrm>
            <a:off x="10396440" y="5509440"/>
            <a:ext cx="19828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Usage IoT</a:t>
            </a:r>
            <a:endParaRPr b="0" lang="fr-FR" sz="3000" spc="-1" strike="noStrike">
              <a:solidFill>
                <a:srgbClr val="ffffff"/>
              </a:solidFill>
              <a:latin typeface="Arial"/>
            </a:endParaRPr>
          </a:p>
        </p:txBody>
      </p:sp>
      <p:sp>
        <p:nvSpPr>
          <p:cNvPr id="340" name="TextBox 47"/>
          <p:cNvSpPr/>
          <p:nvPr/>
        </p:nvSpPr>
        <p:spPr>
          <a:xfrm>
            <a:off x="10396440" y="663480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Latence</a:t>
            </a:r>
            <a:endParaRPr b="0" lang="fr-FR" sz="3000" spc="-1" strike="noStrike">
              <a:solidFill>
                <a:srgbClr val="ffffff"/>
              </a:solidFill>
              <a:latin typeface="Arial"/>
            </a:endParaRPr>
          </a:p>
        </p:txBody>
      </p:sp>
      <p:sp>
        <p:nvSpPr>
          <p:cNvPr id="341" name="TextBox 48"/>
          <p:cNvSpPr/>
          <p:nvPr/>
        </p:nvSpPr>
        <p:spPr>
          <a:xfrm>
            <a:off x="10484640" y="782640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Fiabilité</a:t>
            </a:r>
            <a:endParaRPr b="0" lang="fr-FR" sz="3000" spc="-1" strike="noStrike">
              <a:solidFill>
                <a:srgbClr val="ffffff"/>
              </a:solidFill>
              <a:latin typeface="Arial"/>
            </a:endParaRPr>
          </a:p>
        </p:txBody>
      </p:sp>
      <p:sp>
        <p:nvSpPr>
          <p:cNvPr id="342" name="TextBox 49"/>
          <p:cNvSpPr/>
          <p:nvPr/>
        </p:nvSpPr>
        <p:spPr>
          <a:xfrm>
            <a:off x="12629160" y="5509440"/>
            <a:ext cx="28108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MQTT, HTTPS</a:t>
            </a:r>
            <a:endParaRPr b="0" lang="fr-FR" sz="3000" spc="-1" strike="noStrike">
              <a:solidFill>
                <a:srgbClr val="ffffff"/>
              </a:solidFill>
              <a:latin typeface="Arial"/>
            </a:endParaRPr>
          </a:p>
        </p:txBody>
      </p:sp>
      <p:sp>
        <p:nvSpPr>
          <p:cNvPr id="343" name="TextBox 50"/>
          <p:cNvSpPr/>
          <p:nvPr/>
        </p:nvSpPr>
        <p:spPr>
          <a:xfrm>
            <a:off x="13234320" y="658476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Élevée</a:t>
            </a:r>
            <a:endParaRPr b="0" lang="fr-FR" sz="3000" spc="-1" strike="noStrike">
              <a:solidFill>
                <a:srgbClr val="ffffff"/>
              </a:solidFill>
              <a:latin typeface="Arial"/>
            </a:endParaRPr>
          </a:p>
        </p:txBody>
      </p:sp>
      <p:sp>
        <p:nvSpPr>
          <p:cNvPr id="344" name="TextBox 51"/>
          <p:cNvSpPr/>
          <p:nvPr/>
        </p:nvSpPr>
        <p:spPr>
          <a:xfrm>
            <a:off x="13217400" y="768528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Garantie</a:t>
            </a:r>
            <a:endParaRPr b="0" lang="fr-FR" sz="3000" spc="-1" strike="noStrike">
              <a:solidFill>
                <a:srgbClr val="ffffff"/>
              </a:solidFill>
              <a:latin typeface="Arial"/>
            </a:endParaRPr>
          </a:p>
        </p:txBody>
      </p:sp>
      <p:sp>
        <p:nvSpPr>
          <p:cNvPr id="345" name="TextBox 52"/>
          <p:cNvSpPr/>
          <p:nvPr/>
        </p:nvSpPr>
        <p:spPr>
          <a:xfrm>
            <a:off x="15693480" y="5484240"/>
            <a:ext cx="22543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CoAP, QUIC</a:t>
            </a:r>
            <a:endParaRPr b="0" lang="fr-FR" sz="3000" spc="-1" strike="noStrike">
              <a:solidFill>
                <a:srgbClr val="ffffff"/>
              </a:solidFill>
              <a:latin typeface="Arial"/>
            </a:endParaRPr>
          </a:p>
        </p:txBody>
      </p:sp>
      <p:sp>
        <p:nvSpPr>
          <p:cNvPr id="346" name="TextBox 53"/>
          <p:cNvSpPr/>
          <p:nvPr/>
        </p:nvSpPr>
        <p:spPr>
          <a:xfrm>
            <a:off x="16210440" y="6584760"/>
            <a:ext cx="18064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Faible</a:t>
            </a:r>
            <a:endParaRPr b="0" lang="fr-FR" sz="3000" spc="-1" strike="noStrike">
              <a:solidFill>
                <a:srgbClr val="ffffff"/>
              </a:solidFill>
              <a:latin typeface="Arial"/>
            </a:endParaRPr>
          </a:p>
        </p:txBody>
      </p:sp>
      <p:sp>
        <p:nvSpPr>
          <p:cNvPr id="347" name="TextBox 54"/>
          <p:cNvSpPr/>
          <p:nvPr/>
        </p:nvSpPr>
        <p:spPr>
          <a:xfrm>
            <a:off x="15693480" y="7685280"/>
            <a:ext cx="23929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0000"/>
                </a:solidFill>
                <a:latin typeface="Telegraf Medium"/>
                <a:ea typeface="Telegraf Medium"/>
              </a:rPr>
              <a:t>Optionnelle</a:t>
            </a:r>
            <a:endParaRPr b="0" lang="fr-FR"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348"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49"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0"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1" name="Freeform 5"/>
          <p:cNvSpPr/>
          <p:nvPr/>
        </p:nvSpPr>
        <p:spPr>
          <a:xfrm>
            <a:off x="16156440" y="766440"/>
            <a:ext cx="1102680" cy="1102680"/>
          </a:xfrm>
          <a:custGeom>
            <a:avLst/>
            <a:gdLst>
              <a:gd name="textAreaLeft" fmla="*/ 0 w 1102680"/>
              <a:gd name="textAreaRight" fmla="*/ 1103040 w 1102680"/>
              <a:gd name="textAreaTop" fmla="*/ 0 h 1102680"/>
              <a:gd name="textAreaBottom" fmla="*/ 1103040 h 1102680"/>
            </a:gdLst>
            <a:ahLst/>
            <a:rect l="textAreaLeft" t="textAreaTop" r="textAreaRight" b="textAreaBottom"/>
            <a:pathLst>
              <a:path w="1103021" h="1103021">
                <a:moveTo>
                  <a:pt x="0" y="0"/>
                </a:moveTo>
                <a:lnTo>
                  <a:pt x="1103021" y="0"/>
                </a:lnTo>
                <a:lnTo>
                  <a:pt x="1103021" y="1103021"/>
                </a:lnTo>
                <a:lnTo>
                  <a:pt x="0" y="1103021"/>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2" name="Freeform 6"/>
          <p:cNvSpPr/>
          <p:nvPr/>
        </p:nvSpPr>
        <p:spPr>
          <a:xfrm>
            <a:off x="895680" y="3088080"/>
            <a:ext cx="6203160" cy="1243440"/>
          </a:xfrm>
          <a:custGeom>
            <a:avLst/>
            <a:gdLst>
              <a:gd name="textAreaLeft" fmla="*/ 0 w 6203160"/>
              <a:gd name="textAreaRight" fmla="*/ 6203520 w 6203160"/>
              <a:gd name="textAreaTop" fmla="*/ 0 h 1243440"/>
              <a:gd name="textAreaBottom" fmla="*/ 1243800 h 1243440"/>
            </a:gdLst>
            <a:ahLst/>
            <a:rect l="textAreaLeft" t="textAreaTop" r="textAreaRight" b="textAreaBottom"/>
            <a:pathLst>
              <a:path w="6203550" h="1243707">
                <a:moveTo>
                  <a:pt x="0" y="0"/>
                </a:moveTo>
                <a:lnTo>
                  <a:pt x="6203550" y="0"/>
                </a:lnTo>
                <a:lnTo>
                  <a:pt x="6203550" y="1243707"/>
                </a:lnTo>
                <a:lnTo>
                  <a:pt x="0" y="1243707"/>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3" name="Freeform 7"/>
          <p:cNvSpPr/>
          <p:nvPr/>
        </p:nvSpPr>
        <p:spPr>
          <a:xfrm>
            <a:off x="895680" y="4917960"/>
            <a:ext cx="6203160" cy="1243440"/>
          </a:xfrm>
          <a:custGeom>
            <a:avLst/>
            <a:gdLst>
              <a:gd name="textAreaLeft" fmla="*/ 0 w 6203160"/>
              <a:gd name="textAreaRight" fmla="*/ 6203520 w 6203160"/>
              <a:gd name="textAreaTop" fmla="*/ 0 h 1243440"/>
              <a:gd name="textAreaBottom" fmla="*/ 1243800 h 1243440"/>
            </a:gdLst>
            <a:ahLst/>
            <a:rect l="textAreaLeft" t="textAreaTop" r="textAreaRight" b="textAreaBottom"/>
            <a:pathLst>
              <a:path w="6203550" h="1243707">
                <a:moveTo>
                  <a:pt x="0" y="0"/>
                </a:moveTo>
                <a:lnTo>
                  <a:pt x="6203550" y="0"/>
                </a:lnTo>
                <a:lnTo>
                  <a:pt x="6203550" y="1243707"/>
                </a:lnTo>
                <a:lnTo>
                  <a:pt x="0" y="1243707"/>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4" name="Freeform 8"/>
          <p:cNvSpPr/>
          <p:nvPr/>
        </p:nvSpPr>
        <p:spPr>
          <a:xfrm>
            <a:off x="731160" y="6821280"/>
            <a:ext cx="6367680" cy="1276200"/>
          </a:xfrm>
          <a:custGeom>
            <a:avLst/>
            <a:gdLst>
              <a:gd name="textAreaLeft" fmla="*/ 0 w 6367680"/>
              <a:gd name="textAreaRight" fmla="*/ 6368040 w 6367680"/>
              <a:gd name="textAreaTop" fmla="*/ 0 h 1276200"/>
              <a:gd name="textAreaBottom" fmla="*/ 1276560 h 1276200"/>
            </a:gdLst>
            <a:ahLst/>
            <a:rect l="textAreaLeft" t="textAreaTop" r="textAreaRight" b="textAreaBottom"/>
            <a:pathLst>
              <a:path w="6368179" h="1276712">
                <a:moveTo>
                  <a:pt x="0" y="0"/>
                </a:moveTo>
                <a:lnTo>
                  <a:pt x="6368179" y="0"/>
                </a:lnTo>
                <a:lnTo>
                  <a:pt x="6368179" y="1276713"/>
                </a:lnTo>
                <a:lnTo>
                  <a:pt x="0" y="1276713"/>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355" name="Group 9"/>
          <p:cNvGrpSpPr/>
          <p:nvPr/>
        </p:nvGrpSpPr>
        <p:grpSpPr>
          <a:xfrm>
            <a:off x="9706680" y="3072600"/>
            <a:ext cx="731160" cy="851040"/>
            <a:chOff x="9706680" y="3072600"/>
            <a:chExt cx="731160" cy="851040"/>
          </a:xfrm>
        </p:grpSpPr>
        <p:sp>
          <p:nvSpPr>
            <p:cNvPr id="356" name="Freeform 10"/>
            <p:cNvSpPr/>
            <p:nvPr/>
          </p:nvSpPr>
          <p:spPr>
            <a:xfrm>
              <a:off x="9706680" y="307260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57" name="TextBox 11"/>
            <p:cNvSpPr/>
            <p:nvPr/>
          </p:nvSpPr>
          <p:spPr>
            <a:xfrm>
              <a:off x="9706680" y="319896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358" name="Group 12"/>
          <p:cNvGrpSpPr/>
          <p:nvPr/>
        </p:nvGrpSpPr>
        <p:grpSpPr>
          <a:xfrm>
            <a:off x="9798120" y="4267080"/>
            <a:ext cx="731160" cy="851040"/>
            <a:chOff x="9798120" y="4267080"/>
            <a:chExt cx="731160" cy="851040"/>
          </a:xfrm>
        </p:grpSpPr>
        <p:sp>
          <p:nvSpPr>
            <p:cNvPr id="359" name="Freeform 13"/>
            <p:cNvSpPr/>
            <p:nvPr/>
          </p:nvSpPr>
          <p:spPr>
            <a:xfrm>
              <a:off x="9798120" y="426708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60" name="TextBox 14"/>
            <p:cNvSpPr/>
            <p:nvPr/>
          </p:nvSpPr>
          <p:spPr>
            <a:xfrm>
              <a:off x="9798120" y="439344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361" name="Group 15"/>
          <p:cNvGrpSpPr/>
          <p:nvPr/>
        </p:nvGrpSpPr>
        <p:grpSpPr>
          <a:xfrm>
            <a:off x="9798120" y="5442120"/>
            <a:ext cx="731160" cy="851040"/>
            <a:chOff x="9798120" y="5442120"/>
            <a:chExt cx="731160" cy="851040"/>
          </a:xfrm>
        </p:grpSpPr>
        <p:sp>
          <p:nvSpPr>
            <p:cNvPr id="362" name="Freeform 16"/>
            <p:cNvSpPr/>
            <p:nvPr/>
          </p:nvSpPr>
          <p:spPr>
            <a:xfrm>
              <a:off x="9798120" y="544212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63" name="TextBox 17"/>
            <p:cNvSpPr/>
            <p:nvPr/>
          </p:nvSpPr>
          <p:spPr>
            <a:xfrm>
              <a:off x="9798120" y="556848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364" name="Group 18"/>
          <p:cNvGrpSpPr/>
          <p:nvPr/>
        </p:nvGrpSpPr>
        <p:grpSpPr>
          <a:xfrm>
            <a:off x="9798120" y="6657840"/>
            <a:ext cx="731160" cy="851040"/>
            <a:chOff x="9798120" y="6657840"/>
            <a:chExt cx="731160" cy="851040"/>
          </a:xfrm>
        </p:grpSpPr>
        <p:sp>
          <p:nvSpPr>
            <p:cNvPr id="365" name="Freeform 19"/>
            <p:cNvSpPr/>
            <p:nvPr/>
          </p:nvSpPr>
          <p:spPr>
            <a:xfrm>
              <a:off x="9798120" y="665784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66" name="TextBox 20"/>
            <p:cNvSpPr/>
            <p:nvPr/>
          </p:nvSpPr>
          <p:spPr>
            <a:xfrm>
              <a:off x="9798120" y="678420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367" name="Group 21"/>
          <p:cNvGrpSpPr/>
          <p:nvPr/>
        </p:nvGrpSpPr>
        <p:grpSpPr>
          <a:xfrm>
            <a:off x="9798120" y="7832880"/>
            <a:ext cx="731160" cy="851040"/>
            <a:chOff x="9798120" y="7832880"/>
            <a:chExt cx="731160" cy="851040"/>
          </a:xfrm>
        </p:grpSpPr>
        <p:sp>
          <p:nvSpPr>
            <p:cNvPr id="368" name="Freeform 22"/>
            <p:cNvSpPr/>
            <p:nvPr/>
          </p:nvSpPr>
          <p:spPr>
            <a:xfrm>
              <a:off x="9798120" y="783288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69" name="TextBox 23"/>
            <p:cNvSpPr/>
            <p:nvPr/>
          </p:nvSpPr>
          <p:spPr>
            <a:xfrm>
              <a:off x="9798120" y="795924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370" name="Group 24"/>
          <p:cNvGrpSpPr/>
          <p:nvPr/>
        </p:nvGrpSpPr>
        <p:grpSpPr>
          <a:xfrm>
            <a:off x="9798120" y="8996400"/>
            <a:ext cx="731160" cy="851040"/>
            <a:chOff x="9798120" y="8996400"/>
            <a:chExt cx="731160" cy="851040"/>
          </a:xfrm>
        </p:grpSpPr>
        <p:sp>
          <p:nvSpPr>
            <p:cNvPr id="371" name="Freeform 25"/>
            <p:cNvSpPr/>
            <p:nvPr/>
          </p:nvSpPr>
          <p:spPr>
            <a:xfrm>
              <a:off x="9798120" y="899640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72" name="TextBox 26"/>
            <p:cNvSpPr/>
            <p:nvPr/>
          </p:nvSpPr>
          <p:spPr>
            <a:xfrm>
              <a:off x="9798120" y="912276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373" name="TextBox 27"/>
          <p:cNvSpPr/>
          <p:nvPr/>
        </p:nvSpPr>
        <p:spPr>
          <a:xfrm>
            <a:off x="1436040" y="796680"/>
            <a:ext cx="1284660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04 — Authentification &amp; Gestion d'Identité</a:t>
            </a:r>
            <a:endParaRPr b="0" lang="fr-FR" sz="5000" spc="-1" strike="noStrike">
              <a:solidFill>
                <a:srgbClr val="ffffff"/>
              </a:solidFill>
              <a:latin typeface="Arial"/>
            </a:endParaRPr>
          </a:p>
        </p:txBody>
      </p:sp>
      <p:sp>
        <p:nvSpPr>
          <p:cNvPr id="374" name="TextBox 28"/>
          <p:cNvSpPr/>
          <p:nvPr/>
        </p:nvSpPr>
        <p:spPr>
          <a:xfrm>
            <a:off x="731160" y="2174760"/>
            <a:ext cx="811080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5284ff"/>
                </a:solidFill>
                <a:latin typeface="Telegraf Medium"/>
                <a:ea typeface="Telegraf Medium"/>
              </a:rPr>
              <a:t>Structure d'un JSON Web Token (JWT)</a:t>
            </a:r>
            <a:endParaRPr b="0" lang="fr-FR" sz="3500" spc="-1" strike="noStrike">
              <a:solidFill>
                <a:srgbClr val="ffffff"/>
              </a:solidFill>
              <a:latin typeface="Arial"/>
            </a:endParaRPr>
          </a:p>
        </p:txBody>
      </p:sp>
      <p:sp>
        <p:nvSpPr>
          <p:cNvPr id="375" name="TextBox 29"/>
          <p:cNvSpPr/>
          <p:nvPr/>
        </p:nvSpPr>
        <p:spPr>
          <a:xfrm>
            <a:off x="9981000" y="2174760"/>
            <a:ext cx="811080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Flux OAuth 2.0 pour IoT (Device Flow)</a:t>
            </a:r>
            <a:endParaRPr b="0" lang="fr-FR" sz="3500" spc="-1" strike="noStrike">
              <a:solidFill>
                <a:srgbClr val="ffffff"/>
              </a:solidFill>
              <a:latin typeface="Arial"/>
            </a:endParaRPr>
          </a:p>
        </p:txBody>
      </p:sp>
      <p:sp>
        <p:nvSpPr>
          <p:cNvPr id="376" name="TextBox 30"/>
          <p:cNvSpPr/>
          <p:nvPr/>
        </p:nvSpPr>
        <p:spPr>
          <a:xfrm>
            <a:off x="895680" y="3099240"/>
            <a:ext cx="1898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3131"/>
                </a:solidFill>
                <a:latin typeface="Telegraf Medium"/>
                <a:ea typeface="Telegraf Medium"/>
              </a:rPr>
              <a:t>HEADER</a:t>
            </a:r>
            <a:endParaRPr b="0" lang="fr-FR" sz="3000" spc="-1" strike="noStrike">
              <a:solidFill>
                <a:srgbClr val="ffffff"/>
              </a:solidFill>
              <a:latin typeface="Arial"/>
            </a:endParaRPr>
          </a:p>
        </p:txBody>
      </p:sp>
      <p:sp>
        <p:nvSpPr>
          <p:cNvPr id="377" name="TextBox 31"/>
          <p:cNvSpPr/>
          <p:nvPr/>
        </p:nvSpPr>
        <p:spPr>
          <a:xfrm>
            <a:off x="1028880" y="3895560"/>
            <a:ext cx="3186000" cy="58860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{"alg":"RS256","typ":"JWT"}</a:t>
            </a:r>
            <a:endParaRPr b="0" lang="fr-FR" sz="2000" spc="-1" strike="noStrike">
              <a:solidFill>
                <a:srgbClr val="ffffff"/>
              </a:solidFill>
              <a:latin typeface="Arial"/>
            </a:endParaRPr>
          </a:p>
        </p:txBody>
      </p:sp>
      <p:sp>
        <p:nvSpPr>
          <p:cNvPr id="378" name="TextBox 32"/>
          <p:cNvSpPr/>
          <p:nvPr/>
        </p:nvSpPr>
        <p:spPr>
          <a:xfrm>
            <a:off x="1081440" y="5002560"/>
            <a:ext cx="1898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5284ff"/>
                </a:solidFill>
                <a:latin typeface="Telegraf Medium"/>
                <a:ea typeface="Telegraf Medium"/>
              </a:rPr>
              <a:t>PAYLOAD</a:t>
            </a:r>
            <a:endParaRPr b="0" lang="fr-FR" sz="3000" spc="-1" strike="noStrike">
              <a:solidFill>
                <a:srgbClr val="ffffff"/>
              </a:solidFill>
              <a:latin typeface="Arial"/>
            </a:endParaRPr>
          </a:p>
        </p:txBody>
      </p:sp>
      <p:sp>
        <p:nvSpPr>
          <p:cNvPr id="379" name="TextBox 33"/>
          <p:cNvSpPr/>
          <p:nvPr/>
        </p:nvSpPr>
        <p:spPr>
          <a:xfrm>
            <a:off x="1028880" y="5551560"/>
            <a:ext cx="5744880" cy="88308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{"sub":"device-001","iss":"iot-server","exp":1735000000,"scope":"sensor:read"}</a:t>
            </a:r>
            <a:endParaRPr b="0" lang="fr-FR" sz="2000" spc="-1" strike="noStrike">
              <a:solidFill>
                <a:srgbClr val="ffffff"/>
              </a:solidFill>
              <a:latin typeface="Arial"/>
            </a:endParaRPr>
          </a:p>
        </p:txBody>
      </p:sp>
      <p:sp>
        <p:nvSpPr>
          <p:cNvPr id="380" name="TextBox 34"/>
          <p:cNvSpPr/>
          <p:nvPr/>
        </p:nvSpPr>
        <p:spPr>
          <a:xfrm>
            <a:off x="895680" y="7027200"/>
            <a:ext cx="22291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bf63"/>
                </a:solidFill>
                <a:latin typeface="Telegraf Medium"/>
                <a:ea typeface="Telegraf Medium"/>
              </a:rPr>
              <a:t>SIGNATURE</a:t>
            </a:r>
            <a:endParaRPr b="0" lang="fr-FR" sz="3000" spc="-1" strike="noStrike">
              <a:solidFill>
                <a:srgbClr val="ffffff"/>
              </a:solidFill>
              <a:latin typeface="Arial"/>
            </a:endParaRPr>
          </a:p>
        </p:txBody>
      </p:sp>
      <p:sp>
        <p:nvSpPr>
          <p:cNvPr id="381" name="TextBox 35"/>
          <p:cNvSpPr/>
          <p:nvPr/>
        </p:nvSpPr>
        <p:spPr>
          <a:xfrm>
            <a:off x="879840" y="7480440"/>
            <a:ext cx="5304240" cy="589320"/>
          </a:xfrm>
          <a:prstGeom prst="rect">
            <a:avLst/>
          </a:prstGeom>
          <a:noFill/>
          <a:ln w="0">
            <a:noFill/>
          </a:ln>
        </p:spPr>
        <p:style>
          <a:lnRef idx="0"/>
          <a:fillRef idx="0"/>
          <a:effectRef idx="0"/>
          <a:fontRef idx="minor"/>
        </p:style>
        <p:txBody>
          <a:bodyPr lIns="0" rIns="0" tIns="0" bIns="0" anchor="t">
            <a:spAutoFit/>
          </a:bodyPr>
          <a:p>
            <a:pPr algn="ctr" defTabSz="914400">
              <a:lnSpc>
                <a:spcPts val="2319"/>
              </a:lnSpc>
            </a:pPr>
            <a:r>
              <a:rPr b="1" lang="en-US" sz="2000" spc="-1" strike="noStrike">
                <a:solidFill>
                  <a:srgbClr val="ffffff"/>
                </a:solidFill>
                <a:latin typeface="Telegraf Medium"/>
                <a:ea typeface="Telegraf Medium"/>
              </a:rPr>
              <a:t>RS256(base64(header)+'.'+base64(payload), privateKey)</a:t>
            </a:r>
            <a:endParaRPr b="0" lang="fr-FR" sz="2000" spc="-1" strike="noStrike">
              <a:solidFill>
                <a:srgbClr val="ffffff"/>
              </a:solidFill>
              <a:latin typeface="Arial"/>
            </a:endParaRPr>
          </a:p>
        </p:txBody>
      </p:sp>
      <p:sp>
        <p:nvSpPr>
          <p:cNvPr id="382" name="TextBox 36"/>
          <p:cNvSpPr/>
          <p:nvPr/>
        </p:nvSpPr>
        <p:spPr>
          <a:xfrm>
            <a:off x="9828000" y="320724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01</a:t>
            </a:r>
            <a:endParaRPr b="0" lang="fr-FR" sz="3080" spc="-1" strike="noStrike">
              <a:solidFill>
                <a:srgbClr val="ffffff"/>
              </a:solidFill>
              <a:latin typeface="Arial"/>
            </a:endParaRPr>
          </a:p>
        </p:txBody>
      </p:sp>
      <p:sp>
        <p:nvSpPr>
          <p:cNvPr id="383" name="TextBox 37"/>
          <p:cNvSpPr/>
          <p:nvPr/>
        </p:nvSpPr>
        <p:spPr>
          <a:xfrm>
            <a:off x="9828000" y="445140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02</a:t>
            </a:r>
            <a:endParaRPr b="0" lang="fr-FR" sz="3080" spc="-1" strike="noStrike">
              <a:solidFill>
                <a:srgbClr val="ffffff"/>
              </a:solidFill>
              <a:latin typeface="Arial"/>
            </a:endParaRPr>
          </a:p>
        </p:txBody>
      </p:sp>
      <p:sp>
        <p:nvSpPr>
          <p:cNvPr id="384" name="TextBox 38"/>
          <p:cNvSpPr/>
          <p:nvPr/>
        </p:nvSpPr>
        <p:spPr>
          <a:xfrm>
            <a:off x="9828000" y="554004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03</a:t>
            </a:r>
            <a:endParaRPr b="0" lang="fr-FR" sz="3080" spc="-1" strike="noStrike">
              <a:solidFill>
                <a:srgbClr val="ffffff"/>
              </a:solidFill>
              <a:latin typeface="Arial"/>
            </a:endParaRPr>
          </a:p>
        </p:txBody>
      </p:sp>
      <p:sp>
        <p:nvSpPr>
          <p:cNvPr id="385" name="TextBox 39"/>
          <p:cNvSpPr/>
          <p:nvPr/>
        </p:nvSpPr>
        <p:spPr>
          <a:xfrm>
            <a:off x="9798120" y="681732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04</a:t>
            </a:r>
            <a:endParaRPr b="0" lang="fr-FR" sz="3080" spc="-1" strike="noStrike">
              <a:solidFill>
                <a:srgbClr val="ffffff"/>
              </a:solidFill>
              <a:latin typeface="Arial"/>
            </a:endParaRPr>
          </a:p>
        </p:txBody>
      </p:sp>
      <p:sp>
        <p:nvSpPr>
          <p:cNvPr id="386" name="TextBox 40"/>
          <p:cNvSpPr/>
          <p:nvPr/>
        </p:nvSpPr>
        <p:spPr>
          <a:xfrm>
            <a:off x="9828000" y="803304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05</a:t>
            </a:r>
            <a:endParaRPr b="0" lang="fr-FR" sz="3080" spc="-1" strike="noStrike">
              <a:solidFill>
                <a:srgbClr val="ffffff"/>
              </a:solidFill>
              <a:latin typeface="Arial"/>
            </a:endParaRPr>
          </a:p>
        </p:txBody>
      </p:sp>
      <p:sp>
        <p:nvSpPr>
          <p:cNvPr id="387" name="TextBox 41"/>
          <p:cNvSpPr/>
          <p:nvPr/>
        </p:nvSpPr>
        <p:spPr>
          <a:xfrm>
            <a:off x="9894240" y="909864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06</a:t>
            </a:r>
            <a:endParaRPr b="0" lang="fr-FR" sz="3080" spc="-1" strike="noStrike">
              <a:solidFill>
                <a:srgbClr val="ffffff"/>
              </a:solidFill>
              <a:latin typeface="Arial"/>
            </a:endParaRPr>
          </a:p>
        </p:txBody>
      </p:sp>
      <p:sp>
        <p:nvSpPr>
          <p:cNvPr id="388" name="TextBox 42"/>
          <p:cNvSpPr/>
          <p:nvPr/>
        </p:nvSpPr>
        <p:spPr>
          <a:xfrm>
            <a:off x="10530000" y="3256560"/>
            <a:ext cx="70372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appareil  : demande device_code → Auth Server</a:t>
            </a:r>
            <a:endParaRPr b="0" lang="fr-FR" sz="2500" spc="-1" strike="noStrike">
              <a:solidFill>
                <a:srgbClr val="ffffff"/>
              </a:solidFill>
              <a:latin typeface="Arial"/>
            </a:endParaRPr>
          </a:p>
        </p:txBody>
      </p:sp>
      <p:sp>
        <p:nvSpPr>
          <p:cNvPr id="389" name="TextBox 43"/>
          <p:cNvSpPr/>
          <p:nvPr/>
        </p:nvSpPr>
        <p:spPr>
          <a:xfrm>
            <a:off x="10595880" y="4467240"/>
            <a:ext cx="723564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Auth Server → réçoit : device_code + user_code</a:t>
            </a:r>
            <a:endParaRPr b="0" lang="fr-FR" sz="2500" spc="-1" strike="noStrike">
              <a:solidFill>
                <a:srgbClr val="ffffff"/>
              </a:solidFill>
              <a:latin typeface="Arial"/>
            </a:endParaRPr>
          </a:p>
        </p:txBody>
      </p:sp>
      <p:sp>
        <p:nvSpPr>
          <p:cNvPr id="390" name="TextBox 44"/>
          <p:cNvSpPr/>
          <p:nvPr/>
        </p:nvSpPr>
        <p:spPr>
          <a:xfrm>
            <a:off x="10662120" y="5677560"/>
            <a:ext cx="632304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Utilisateur entre user_code sur navigateur</a:t>
            </a:r>
            <a:endParaRPr b="0" lang="fr-FR" sz="2500" spc="-1" strike="noStrike">
              <a:solidFill>
                <a:srgbClr val="ffffff"/>
              </a:solidFill>
              <a:latin typeface="Arial"/>
            </a:endParaRPr>
          </a:p>
        </p:txBody>
      </p:sp>
      <p:sp>
        <p:nvSpPr>
          <p:cNvPr id="391" name="TextBox 45"/>
          <p:cNvSpPr/>
          <p:nvPr/>
        </p:nvSpPr>
        <p:spPr>
          <a:xfrm>
            <a:off x="10530000" y="6833160"/>
            <a:ext cx="60742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Device demande access_token (polling)</a:t>
            </a:r>
            <a:endParaRPr b="0" lang="fr-FR" sz="2500" spc="-1" strike="noStrike">
              <a:solidFill>
                <a:srgbClr val="ffffff"/>
              </a:solidFill>
              <a:latin typeface="Arial"/>
            </a:endParaRPr>
          </a:p>
        </p:txBody>
      </p:sp>
      <p:sp>
        <p:nvSpPr>
          <p:cNvPr id="392" name="TextBox 46"/>
          <p:cNvSpPr/>
          <p:nvPr/>
        </p:nvSpPr>
        <p:spPr>
          <a:xfrm>
            <a:off x="10530000" y="8101080"/>
            <a:ext cx="677304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Auth Server valide et retourne access_token</a:t>
            </a:r>
            <a:endParaRPr b="0" lang="fr-FR" sz="2500" spc="-1" strike="noStrike">
              <a:solidFill>
                <a:srgbClr val="ffffff"/>
              </a:solidFill>
              <a:latin typeface="Arial"/>
            </a:endParaRPr>
          </a:p>
        </p:txBody>
      </p:sp>
      <p:sp>
        <p:nvSpPr>
          <p:cNvPr id="393" name="TextBox 47"/>
          <p:cNvSpPr/>
          <p:nvPr/>
        </p:nvSpPr>
        <p:spPr>
          <a:xfrm>
            <a:off x="10438200" y="9265320"/>
            <a:ext cx="70372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Récevoir access_token utilise pour appels API</a:t>
            </a:r>
            <a:endParaRPr b="0" lang="fr-FR" sz="2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394"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95"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96"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97" name="TextBox 5"/>
          <p:cNvSpPr/>
          <p:nvPr/>
        </p:nvSpPr>
        <p:spPr>
          <a:xfrm>
            <a:off x="1436040" y="796680"/>
            <a:ext cx="1079820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05 — Chiffrement des Données IoT</a:t>
            </a:r>
            <a:endParaRPr b="0" lang="fr-FR" sz="5000" spc="-1" strike="noStrike">
              <a:solidFill>
                <a:srgbClr val="ffffff"/>
              </a:solidFill>
              <a:latin typeface="Arial"/>
            </a:endParaRPr>
          </a:p>
        </p:txBody>
      </p:sp>
      <p:sp>
        <p:nvSpPr>
          <p:cNvPr id="398" name="Freeform 6"/>
          <p:cNvSpPr/>
          <p:nvPr/>
        </p:nvSpPr>
        <p:spPr>
          <a:xfrm>
            <a:off x="16009920" y="651600"/>
            <a:ext cx="955800" cy="1124640"/>
          </a:xfrm>
          <a:custGeom>
            <a:avLst/>
            <a:gdLst>
              <a:gd name="textAreaLeft" fmla="*/ 0 w 955800"/>
              <a:gd name="textAreaRight" fmla="*/ 956160 w 955800"/>
              <a:gd name="textAreaTop" fmla="*/ 0 h 1124640"/>
              <a:gd name="textAreaBottom" fmla="*/ 1125000 h 1124640"/>
            </a:gdLst>
            <a:ahLst/>
            <a:rect l="textAreaLeft" t="textAreaTop" r="textAreaRight" b="textAreaBottom"/>
            <a:pathLst>
              <a:path w="955985" h="1125031">
                <a:moveTo>
                  <a:pt x="0" y="0"/>
                </a:moveTo>
                <a:lnTo>
                  <a:pt x="955984" y="0"/>
                </a:lnTo>
                <a:lnTo>
                  <a:pt x="955984" y="1125031"/>
                </a:lnTo>
                <a:lnTo>
                  <a:pt x="0" y="1125031"/>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399" name="Freeform 7"/>
          <p:cNvSpPr/>
          <p:nvPr/>
        </p:nvSpPr>
        <p:spPr>
          <a:xfrm>
            <a:off x="863280" y="203436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7" y="0"/>
                </a:lnTo>
                <a:lnTo>
                  <a:pt x="8435037" y="3615016"/>
                </a:lnTo>
                <a:lnTo>
                  <a:pt x="0" y="3615016"/>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00" name="Freeform 8"/>
          <p:cNvSpPr/>
          <p:nvPr/>
        </p:nvSpPr>
        <p:spPr>
          <a:xfrm>
            <a:off x="1036800" y="2216160"/>
            <a:ext cx="8006760" cy="831960"/>
          </a:xfrm>
          <a:custGeom>
            <a:avLst/>
            <a:gdLst>
              <a:gd name="textAreaLeft" fmla="*/ 0 w 8006760"/>
              <a:gd name="textAreaRight" fmla="*/ 8007120 w 8006760"/>
              <a:gd name="textAreaTop" fmla="*/ 0 h 831960"/>
              <a:gd name="textAreaBottom" fmla="*/ 832320 h 831960"/>
            </a:gdLst>
            <a:ahLst/>
            <a:rect l="textAreaLeft" t="textAreaTop" r="textAreaRight" b="textAreaBottom"/>
            <a:pathLst>
              <a:path w="8007219" h="832159">
                <a:moveTo>
                  <a:pt x="0" y="0"/>
                </a:moveTo>
                <a:lnTo>
                  <a:pt x="8007218" y="0"/>
                </a:lnTo>
                <a:lnTo>
                  <a:pt x="8007218" y="832159"/>
                </a:lnTo>
                <a:lnTo>
                  <a:pt x="0" y="832159"/>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01" name="TextBox 9"/>
          <p:cNvSpPr/>
          <p:nvPr/>
        </p:nvSpPr>
        <p:spPr>
          <a:xfrm>
            <a:off x="1378800" y="237672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Symétrique — AES-256-GCM</a:t>
            </a:r>
            <a:endParaRPr b="0" lang="fr-FR" sz="3000" spc="-1" strike="noStrike">
              <a:solidFill>
                <a:srgbClr val="ffffff"/>
              </a:solidFill>
              <a:latin typeface="Arial"/>
            </a:endParaRPr>
          </a:p>
        </p:txBody>
      </p:sp>
      <p:sp>
        <p:nvSpPr>
          <p:cNvPr id="402" name="TextBox 10"/>
          <p:cNvSpPr/>
          <p:nvPr/>
        </p:nvSpPr>
        <p:spPr>
          <a:xfrm>
            <a:off x="1028880" y="4109760"/>
            <a:ext cx="456732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bf63"/>
                </a:solidFill>
                <a:latin typeface="Telegraf Medium"/>
                <a:ea typeface="Telegraf Medium"/>
              </a:rPr>
              <a:t>✓ </a:t>
            </a:r>
            <a:r>
              <a:rPr b="1" lang="en-US" sz="2500" spc="-1" strike="noStrike">
                <a:solidFill>
                  <a:srgbClr val="00bf63"/>
                </a:solidFill>
                <a:latin typeface="Telegraf Medium"/>
                <a:ea typeface="Telegraf Medium"/>
              </a:rPr>
              <a:t>Très rapide, faible overhead</a:t>
            </a:r>
            <a:endParaRPr b="0" lang="fr-FR" sz="2500" spc="-1" strike="noStrike">
              <a:solidFill>
                <a:srgbClr val="ffffff"/>
              </a:solidFill>
              <a:latin typeface="Arial"/>
            </a:endParaRPr>
          </a:p>
        </p:txBody>
      </p:sp>
      <p:sp>
        <p:nvSpPr>
          <p:cNvPr id="403" name="TextBox 11"/>
          <p:cNvSpPr/>
          <p:nvPr/>
        </p:nvSpPr>
        <p:spPr>
          <a:xfrm>
            <a:off x="1077840" y="3362400"/>
            <a:ext cx="7188840" cy="795240"/>
          </a:xfrm>
          <a:prstGeom prst="rect">
            <a:avLst/>
          </a:prstGeom>
          <a:noFill/>
          <a:ln w="0">
            <a:noFill/>
          </a:ln>
        </p:spPr>
        <p:style>
          <a:lnRef idx="0"/>
          <a:fillRef idx="0"/>
          <a:effectRef idx="0"/>
          <a:fontRef idx="minor"/>
        </p:style>
        <p:txBody>
          <a:bodyPr lIns="0" rIns="0" tIns="0" bIns="0" anchor="t">
            <a:spAutoFit/>
          </a:bodyPr>
          <a:p>
            <a:pPr algn="ctr" defTabSz="914400">
              <a:lnSpc>
                <a:spcPts val="3132"/>
              </a:lnSpc>
            </a:pPr>
            <a:r>
              <a:rPr b="1" lang="en-US" sz="2700" spc="-1" strike="noStrike">
                <a:solidFill>
                  <a:srgbClr val="000000"/>
                </a:solidFill>
                <a:latin typeface="Telegraf Medium"/>
                <a:ea typeface="Telegraf Medium"/>
              </a:rPr>
              <a:t>Usage : Données en transit (MQTT payloads)</a:t>
            </a:r>
            <a:endParaRPr b="0" lang="fr-FR" sz="2700" spc="-1" strike="noStrike">
              <a:solidFill>
                <a:srgbClr val="ffffff"/>
              </a:solidFill>
              <a:latin typeface="Arial"/>
            </a:endParaRPr>
          </a:p>
        </p:txBody>
      </p:sp>
      <p:sp>
        <p:nvSpPr>
          <p:cNvPr id="404" name="TextBox 12"/>
          <p:cNvSpPr/>
          <p:nvPr/>
        </p:nvSpPr>
        <p:spPr>
          <a:xfrm>
            <a:off x="952560" y="4740120"/>
            <a:ext cx="45673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3131"/>
                </a:solidFill>
                <a:latin typeface="Telegraf Medium"/>
                <a:ea typeface="Telegraf Medium"/>
              </a:rPr>
              <a:t>✗ </a:t>
            </a:r>
            <a:r>
              <a:rPr b="1" lang="en-US" sz="2500" spc="-1" strike="noStrike">
                <a:solidFill>
                  <a:srgbClr val="ff3131"/>
                </a:solidFill>
                <a:latin typeface="Telegraf Medium"/>
                <a:ea typeface="Telegraf Medium"/>
              </a:rPr>
              <a:t>Distribution de clé difficile</a:t>
            </a:r>
            <a:endParaRPr b="0" lang="fr-FR" sz="2500" spc="-1" strike="noStrike">
              <a:solidFill>
                <a:srgbClr val="ffffff"/>
              </a:solidFill>
              <a:latin typeface="Arial"/>
            </a:endParaRPr>
          </a:p>
        </p:txBody>
      </p:sp>
      <p:sp>
        <p:nvSpPr>
          <p:cNvPr id="405" name="Freeform 13"/>
          <p:cNvSpPr/>
          <p:nvPr/>
        </p:nvSpPr>
        <p:spPr>
          <a:xfrm>
            <a:off x="9414360" y="1960200"/>
            <a:ext cx="8562960" cy="3669480"/>
          </a:xfrm>
          <a:custGeom>
            <a:avLst/>
            <a:gdLst>
              <a:gd name="textAreaLeft" fmla="*/ 0 w 8562960"/>
              <a:gd name="textAreaRight" fmla="*/ 8563320 w 8562960"/>
              <a:gd name="textAreaTop" fmla="*/ 0 h 3669480"/>
              <a:gd name="textAreaBottom" fmla="*/ 3669840 h 3669480"/>
            </a:gdLst>
            <a:ahLst/>
            <a:rect l="textAreaLeft" t="textAreaTop" r="textAreaRight" b="textAreaBottom"/>
            <a:pathLst>
              <a:path w="8563301" h="3669986">
                <a:moveTo>
                  <a:pt x="0" y="0"/>
                </a:moveTo>
                <a:lnTo>
                  <a:pt x="8563301" y="0"/>
                </a:lnTo>
                <a:lnTo>
                  <a:pt x="8563301" y="3669987"/>
                </a:lnTo>
                <a:lnTo>
                  <a:pt x="0" y="3669987"/>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06" name="Freeform 14"/>
          <p:cNvSpPr/>
          <p:nvPr/>
        </p:nvSpPr>
        <p:spPr>
          <a:xfrm>
            <a:off x="9595080" y="2148480"/>
            <a:ext cx="8106840" cy="842040"/>
          </a:xfrm>
          <a:custGeom>
            <a:avLst/>
            <a:gdLst>
              <a:gd name="textAreaLeft" fmla="*/ 0 w 8106840"/>
              <a:gd name="textAreaRight" fmla="*/ 8107200 w 8106840"/>
              <a:gd name="textAreaTop" fmla="*/ 0 h 842040"/>
              <a:gd name="textAreaBottom" fmla="*/ 842400 h 842040"/>
            </a:gdLst>
            <a:ahLst/>
            <a:rect l="textAreaLeft" t="textAreaTop" r="textAreaRight" b="textAreaBottom"/>
            <a:pathLst>
              <a:path w="8107222" h="842552">
                <a:moveTo>
                  <a:pt x="0" y="0"/>
                </a:moveTo>
                <a:lnTo>
                  <a:pt x="8107222" y="0"/>
                </a:lnTo>
                <a:lnTo>
                  <a:pt x="8107222" y="842552"/>
                </a:lnTo>
                <a:lnTo>
                  <a:pt x="0" y="842552"/>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07" name="TextBox 15"/>
          <p:cNvSpPr/>
          <p:nvPr/>
        </p:nvSpPr>
        <p:spPr>
          <a:xfrm>
            <a:off x="10283400" y="231444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Asymétrique — RSA-2048 / ECDH</a:t>
            </a:r>
            <a:endParaRPr b="0" lang="fr-FR" sz="3000" spc="-1" strike="noStrike">
              <a:solidFill>
                <a:srgbClr val="ffffff"/>
              </a:solidFill>
              <a:latin typeface="Arial"/>
            </a:endParaRPr>
          </a:p>
        </p:txBody>
      </p:sp>
      <p:sp>
        <p:nvSpPr>
          <p:cNvPr id="408" name="TextBox 16"/>
          <p:cNvSpPr/>
          <p:nvPr/>
        </p:nvSpPr>
        <p:spPr>
          <a:xfrm>
            <a:off x="9613800" y="3362400"/>
            <a:ext cx="5866920" cy="795240"/>
          </a:xfrm>
          <a:prstGeom prst="rect">
            <a:avLst/>
          </a:prstGeom>
          <a:noFill/>
          <a:ln w="0">
            <a:noFill/>
          </a:ln>
        </p:spPr>
        <p:style>
          <a:lnRef idx="0"/>
          <a:fillRef idx="0"/>
          <a:effectRef idx="0"/>
          <a:fontRef idx="minor"/>
        </p:style>
        <p:txBody>
          <a:bodyPr lIns="0" rIns="0" tIns="0" bIns="0" anchor="t">
            <a:spAutoFit/>
          </a:bodyPr>
          <a:p>
            <a:pPr algn="ctr" defTabSz="914400">
              <a:lnSpc>
                <a:spcPts val="3132"/>
              </a:lnSpc>
            </a:pPr>
            <a:r>
              <a:rPr b="1" lang="en-US" sz="2700" spc="-1" strike="noStrike">
                <a:solidFill>
                  <a:srgbClr val="000000"/>
                </a:solidFill>
                <a:latin typeface="Telegraf Medium"/>
                <a:ea typeface="Telegraf Medium"/>
              </a:rPr>
              <a:t>Usage : Échange de clés, signatures</a:t>
            </a:r>
            <a:endParaRPr b="0" lang="fr-FR" sz="2700" spc="-1" strike="noStrike">
              <a:solidFill>
                <a:srgbClr val="ffffff"/>
              </a:solidFill>
              <a:latin typeface="Arial"/>
            </a:endParaRPr>
          </a:p>
        </p:txBody>
      </p:sp>
      <p:sp>
        <p:nvSpPr>
          <p:cNvPr id="409" name="TextBox 17"/>
          <p:cNvSpPr/>
          <p:nvPr/>
        </p:nvSpPr>
        <p:spPr>
          <a:xfrm>
            <a:off x="9613800" y="4109760"/>
            <a:ext cx="456732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bf63"/>
                </a:solidFill>
                <a:latin typeface="Telegraf Medium"/>
                <a:ea typeface="Telegraf Medium"/>
              </a:rPr>
              <a:t>✓ </a:t>
            </a:r>
            <a:r>
              <a:rPr b="1" lang="en-US" sz="2500" spc="-1" strike="noStrike">
                <a:solidFill>
                  <a:srgbClr val="00bf63"/>
                </a:solidFill>
                <a:latin typeface="Telegraf Medium"/>
                <a:ea typeface="Telegraf Medium"/>
              </a:rPr>
              <a:t>Pas de secret partagé initial</a:t>
            </a:r>
            <a:endParaRPr b="0" lang="fr-FR" sz="2500" spc="-1" strike="noStrike">
              <a:solidFill>
                <a:srgbClr val="ffffff"/>
              </a:solidFill>
              <a:latin typeface="Arial"/>
            </a:endParaRPr>
          </a:p>
        </p:txBody>
      </p:sp>
      <p:sp>
        <p:nvSpPr>
          <p:cNvPr id="410" name="TextBox 18"/>
          <p:cNvSpPr/>
          <p:nvPr/>
        </p:nvSpPr>
        <p:spPr>
          <a:xfrm>
            <a:off x="9414360" y="4760640"/>
            <a:ext cx="45673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3131"/>
                </a:solidFill>
                <a:latin typeface="Telegraf Medium"/>
                <a:ea typeface="Telegraf Medium"/>
              </a:rPr>
              <a:t>✗ </a:t>
            </a:r>
            <a:r>
              <a:rPr b="1" lang="en-US" sz="2500" spc="-1" strike="noStrike">
                <a:solidFill>
                  <a:srgbClr val="ff3131"/>
                </a:solidFill>
                <a:latin typeface="Telegraf Medium"/>
                <a:ea typeface="Telegraf Medium"/>
              </a:rPr>
              <a:t>Lent pour MCU contraints</a:t>
            </a:r>
            <a:endParaRPr b="0" lang="fr-FR" sz="2500" spc="-1" strike="noStrike">
              <a:solidFill>
                <a:srgbClr val="ffffff"/>
              </a:solidFill>
              <a:latin typeface="Arial"/>
            </a:endParaRPr>
          </a:p>
        </p:txBody>
      </p:sp>
      <p:sp>
        <p:nvSpPr>
          <p:cNvPr id="411" name="Freeform 19"/>
          <p:cNvSpPr/>
          <p:nvPr/>
        </p:nvSpPr>
        <p:spPr>
          <a:xfrm>
            <a:off x="863280" y="590652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7" y="0"/>
                </a:lnTo>
                <a:lnTo>
                  <a:pt x="8435037" y="3615017"/>
                </a:lnTo>
                <a:lnTo>
                  <a:pt x="0" y="3615017"/>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12" name="Freeform 20"/>
          <p:cNvSpPr/>
          <p:nvPr/>
        </p:nvSpPr>
        <p:spPr>
          <a:xfrm>
            <a:off x="9414360" y="5787000"/>
            <a:ext cx="8713800" cy="3734280"/>
          </a:xfrm>
          <a:custGeom>
            <a:avLst/>
            <a:gdLst>
              <a:gd name="textAreaLeft" fmla="*/ 0 w 8713800"/>
              <a:gd name="textAreaRight" fmla="*/ 8714160 w 8713800"/>
              <a:gd name="textAreaTop" fmla="*/ 0 h 3734280"/>
              <a:gd name="textAreaBottom" fmla="*/ 3734640 h 3734280"/>
            </a:gdLst>
            <a:ahLst/>
            <a:rect l="textAreaLeft" t="textAreaTop" r="textAreaRight" b="textAreaBottom"/>
            <a:pathLst>
              <a:path w="8714186" h="3734651">
                <a:moveTo>
                  <a:pt x="0" y="0"/>
                </a:moveTo>
                <a:lnTo>
                  <a:pt x="8714185" y="0"/>
                </a:lnTo>
                <a:lnTo>
                  <a:pt x="8714185" y="3734652"/>
                </a:lnTo>
                <a:lnTo>
                  <a:pt x="0" y="3734652"/>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13" name="Freeform 21"/>
          <p:cNvSpPr/>
          <p:nvPr/>
        </p:nvSpPr>
        <p:spPr>
          <a:xfrm>
            <a:off x="1019160" y="6106680"/>
            <a:ext cx="8006760" cy="831960"/>
          </a:xfrm>
          <a:custGeom>
            <a:avLst/>
            <a:gdLst>
              <a:gd name="textAreaLeft" fmla="*/ 0 w 8006760"/>
              <a:gd name="textAreaRight" fmla="*/ 8007120 w 8006760"/>
              <a:gd name="textAreaTop" fmla="*/ 0 h 831960"/>
              <a:gd name="textAreaBottom" fmla="*/ 832320 h 831960"/>
            </a:gdLst>
            <a:ahLst/>
            <a:rect l="textAreaLeft" t="textAreaTop" r="textAreaRight" b="textAreaBottom"/>
            <a:pathLst>
              <a:path w="8007219" h="832159">
                <a:moveTo>
                  <a:pt x="0" y="0"/>
                </a:moveTo>
                <a:lnTo>
                  <a:pt x="8007219" y="0"/>
                </a:lnTo>
                <a:lnTo>
                  <a:pt x="8007219" y="832159"/>
                </a:lnTo>
                <a:lnTo>
                  <a:pt x="0" y="832159"/>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14" name="Freeform 22"/>
          <p:cNvSpPr/>
          <p:nvPr/>
        </p:nvSpPr>
        <p:spPr>
          <a:xfrm>
            <a:off x="9576000" y="5973120"/>
            <a:ext cx="8334000" cy="865800"/>
          </a:xfrm>
          <a:custGeom>
            <a:avLst/>
            <a:gdLst>
              <a:gd name="textAreaLeft" fmla="*/ 0 w 8334000"/>
              <a:gd name="textAreaRight" fmla="*/ 8334360 w 8334000"/>
              <a:gd name="textAreaTop" fmla="*/ 0 h 865800"/>
              <a:gd name="textAreaBottom" fmla="*/ 866160 h 865800"/>
            </a:gdLst>
            <a:ahLst/>
            <a:rect l="textAreaLeft" t="textAreaTop" r="textAreaRight" b="textAreaBottom"/>
            <a:pathLst>
              <a:path w="8334511" h="866173">
                <a:moveTo>
                  <a:pt x="0" y="0"/>
                </a:moveTo>
                <a:lnTo>
                  <a:pt x="8334511" y="0"/>
                </a:lnTo>
                <a:lnTo>
                  <a:pt x="8334511" y="866173"/>
                </a:lnTo>
                <a:lnTo>
                  <a:pt x="0" y="866173"/>
                </a:lnTo>
                <a:lnTo>
                  <a:pt x="0" y="0"/>
                </a:lnTo>
                <a:close/>
              </a:path>
            </a:pathLst>
          </a:custGeom>
          <a:blipFill rotWithShape="0">
            <a:blip r:embed="rId1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15" name="TextBox 23"/>
          <p:cNvSpPr/>
          <p:nvPr/>
        </p:nvSpPr>
        <p:spPr>
          <a:xfrm>
            <a:off x="1584360" y="623988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Légère (IoT) — ChaCha20-Poly1305</a:t>
            </a:r>
            <a:endParaRPr b="0" lang="fr-FR" sz="3000" spc="-1" strike="noStrike">
              <a:solidFill>
                <a:srgbClr val="ffffff"/>
              </a:solidFill>
              <a:latin typeface="Arial"/>
            </a:endParaRPr>
          </a:p>
        </p:txBody>
      </p:sp>
      <p:sp>
        <p:nvSpPr>
          <p:cNvPr id="416" name="TextBox 24"/>
          <p:cNvSpPr/>
          <p:nvPr/>
        </p:nvSpPr>
        <p:spPr>
          <a:xfrm>
            <a:off x="9805320" y="619236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Hachage — SHA-256 / HMAC</a:t>
            </a:r>
            <a:endParaRPr b="0" lang="fr-FR" sz="3000" spc="-1" strike="noStrike">
              <a:solidFill>
                <a:srgbClr val="ffffff"/>
              </a:solidFill>
              <a:latin typeface="Arial"/>
            </a:endParaRPr>
          </a:p>
        </p:txBody>
      </p:sp>
      <p:sp>
        <p:nvSpPr>
          <p:cNvPr id="417" name="TextBox 25"/>
          <p:cNvSpPr/>
          <p:nvPr/>
        </p:nvSpPr>
        <p:spPr>
          <a:xfrm>
            <a:off x="1125360" y="7252920"/>
            <a:ext cx="5118120" cy="795240"/>
          </a:xfrm>
          <a:prstGeom prst="rect">
            <a:avLst/>
          </a:prstGeom>
          <a:noFill/>
          <a:ln w="0">
            <a:noFill/>
          </a:ln>
        </p:spPr>
        <p:style>
          <a:lnRef idx="0"/>
          <a:fillRef idx="0"/>
          <a:effectRef idx="0"/>
          <a:fontRef idx="minor"/>
        </p:style>
        <p:txBody>
          <a:bodyPr lIns="0" rIns="0" tIns="0" bIns="0" anchor="t">
            <a:spAutoFit/>
          </a:bodyPr>
          <a:p>
            <a:pPr algn="ctr" defTabSz="914400">
              <a:lnSpc>
                <a:spcPts val="3132"/>
              </a:lnSpc>
            </a:pPr>
            <a:r>
              <a:rPr b="1" lang="en-US" sz="2700" spc="-1" strike="noStrike">
                <a:solidFill>
                  <a:srgbClr val="000000"/>
                </a:solidFill>
                <a:latin typeface="Telegraf Medium"/>
                <a:ea typeface="Telegraf Medium"/>
              </a:rPr>
              <a:t>Usage : MCU faibles ressources</a:t>
            </a:r>
            <a:endParaRPr b="0" lang="fr-FR" sz="2700" spc="-1" strike="noStrike">
              <a:solidFill>
                <a:srgbClr val="ffffff"/>
              </a:solidFill>
              <a:latin typeface="Arial"/>
            </a:endParaRPr>
          </a:p>
        </p:txBody>
      </p:sp>
      <p:sp>
        <p:nvSpPr>
          <p:cNvPr id="418" name="TextBox 26"/>
          <p:cNvSpPr/>
          <p:nvPr/>
        </p:nvSpPr>
        <p:spPr>
          <a:xfrm>
            <a:off x="1036800" y="8000280"/>
            <a:ext cx="456732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bf63"/>
                </a:solidFill>
                <a:latin typeface="Telegraf Medium"/>
                <a:ea typeface="Telegraf Medium"/>
              </a:rPr>
              <a:t>✓ </a:t>
            </a:r>
            <a:r>
              <a:rPr b="1" lang="en-US" sz="2500" spc="-1" strike="noStrike">
                <a:solidFill>
                  <a:srgbClr val="00bf63"/>
                </a:solidFill>
                <a:latin typeface="Telegraf Medium"/>
                <a:ea typeface="Telegraf Medium"/>
              </a:rPr>
              <a:t>Rapide sans AES hardware</a:t>
            </a:r>
            <a:endParaRPr b="0" lang="fr-FR" sz="2500" spc="-1" strike="noStrike">
              <a:solidFill>
                <a:srgbClr val="ffffff"/>
              </a:solidFill>
              <a:latin typeface="Arial"/>
            </a:endParaRPr>
          </a:p>
        </p:txBody>
      </p:sp>
      <p:sp>
        <p:nvSpPr>
          <p:cNvPr id="419" name="TextBox 27"/>
          <p:cNvSpPr/>
          <p:nvPr/>
        </p:nvSpPr>
        <p:spPr>
          <a:xfrm>
            <a:off x="1125360" y="8632080"/>
            <a:ext cx="379980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3131"/>
                </a:solidFill>
                <a:latin typeface="Telegraf Medium"/>
                <a:ea typeface="Telegraf Medium"/>
              </a:rPr>
              <a:t>✗ </a:t>
            </a:r>
            <a:r>
              <a:rPr b="1" lang="en-US" sz="2500" spc="-1" strike="noStrike">
                <a:solidFill>
                  <a:srgbClr val="ff3131"/>
                </a:solidFill>
                <a:latin typeface="Telegraf Medium"/>
                <a:ea typeface="Telegraf Medium"/>
              </a:rPr>
              <a:t>Moins universel qu'AES</a:t>
            </a:r>
            <a:endParaRPr b="0" lang="fr-FR" sz="2500" spc="-1" strike="noStrike">
              <a:solidFill>
                <a:srgbClr val="ffffff"/>
              </a:solidFill>
              <a:latin typeface="Arial"/>
            </a:endParaRPr>
          </a:p>
        </p:txBody>
      </p:sp>
      <p:sp>
        <p:nvSpPr>
          <p:cNvPr id="420" name="TextBox 28"/>
          <p:cNvSpPr/>
          <p:nvPr/>
        </p:nvSpPr>
        <p:spPr>
          <a:xfrm>
            <a:off x="9675000" y="7281360"/>
            <a:ext cx="5426280" cy="795240"/>
          </a:xfrm>
          <a:prstGeom prst="rect">
            <a:avLst/>
          </a:prstGeom>
          <a:noFill/>
          <a:ln w="0">
            <a:noFill/>
          </a:ln>
        </p:spPr>
        <p:style>
          <a:lnRef idx="0"/>
          <a:fillRef idx="0"/>
          <a:effectRef idx="0"/>
          <a:fontRef idx="minor"/>
        </p:style>
        <p:txBody>
          <a:bodyPr lIns="0" rIns="0" tIns="0" bIns="0" anchor="t">
            <a:spAutoFit/>
          </a:bodyPr>
          <a:p>
            <a:pPr algn="ctr" defTabSz="914400">
              <a:lnSpc>
                <a:spcPts val="3132"/>
              </a:lnSpc>
            </a:pPr>
            <a:r>
              <a:rPr b="1" lang="en-US" sz="2700" spc="-1" strike="noStrike">
                <a:solidFill>
                  <a:srgbClr val="000000"/>
                </a:solidFill>
                <a:latin typeface="Telegraf Medium"/>
                <a:ea typeface="Telegraf Medium"/>
              </a:rPr>
              <a:t>Usage : Intégrité, signatures JWT</a:t>
            </a:r>
            <a:endParaRPr b="0" lang="fr-FR" sz="2700" spc="-1" strike="noStrike">
              <a:solidFill>
                <a:srgbClr val="ffffff"/>
              </a:solidFill>
              <a:latin typeface="Arial"/>
            </a:endParaRPr>
          </a:p>
        </p:txBody>
      </p:sp>
      <p:sp>
        <p:nvSpPr>
          <p:cNvPr id="421" name="TextBox 29"/>
          <p:cNvSpPr/>
          <p:nvPr/>
        </p:nvSpPr>
        <p:spPr>
          <a:xfrm>
            <a:off x="9576000" y="8000280"/>
            <a:ext cx="333396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bf63"/>
                </a:solidFill>
                <a:latin typeface="Telegraf Medium"/>
                <a:ea typeface="Telegraf Medium"/>
              </a:rPr>
              <a:t>✓ </a:t>
            </a:r>
            <a:r>
              <a:rPr b="1" lang="en-US" sz="2500" spc="-1" strike="noStrike">
                <a:solidFill>
                  <a:srgbClr val="00bf63"/>
                </a:solidFill>
                <a:latin typeface="Telegraf Medium"/>
                <a:ea typeface="Telegraf Medium"/>
              </a:rPr>
              <a:t>Irréversible, rapide</a:t>
            </a:r>
            <a:endParaRPr b="0" lang="fr-FR" sz="2500" spc="-1" strike="noStrike">
              <a:solidFill>
                <a:srgbClr val="ffffff"/>
              </a:solidFill>
              <a:latin typeface="Arial"/>
            </a:endParaRPr>
          </a:p>
        </p:txBody>
      </p:sp>
      <p:sp>
        <p:nvSpPr>
          <p:cNvPr id="422" name="TextBox 30"/>
          <p:cNvSpPr/>
          <p:nvPr/>
        </p:nvSpPr>
        <p:spPr>
          <a:xfrm>
            <a:off x="9675000" y="8632080"/>
            <a:ext cx="2558880" cy="36864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3131"/>
                </a:solidFill>
                <a:latin typeface="Telegraf Medium"/>
                <a:ea typeface="Telegraf Medium"/>
              </a:rPr>
              <a:t>✗ </a:t>
            </a:r>
            <a:r>
              <a:rPr b="1" lang="en-US" sz="2500" spc="-1" strike="noStrike">
                <a:solidFill>
                  <a:srgbClr val="ff3131"/>
                </a:solidFill>
                <a:latin typeface="Telegraf Medium"/>
                <a:ea typeface="Telegraf Medium"/>
              </a:rPr>
              <a:t>Ne chiffre pas</a:t>
            </a:r>
            <a:endParaRPr b="0" lang="fr-FR" sz="2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423"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4"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5" name="Freeform 4"/>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6" name="Freeform 5"/>
          <p:cNvSpPr/>
          <p:nvPr/>
        </p:nvSpPr>
        <p:spPr>
          <a:xfrm>
            <a:off x="15948360" y="558720"/>
            <a:ext cx="1310400" cy="1310400"/>
          </a:xfrm>
          <a:custGeom>
            <a:avLst/>
            <a:gdLst>
              <a:gd name="textAreaLeft" fmla="*/ 0 w 1310400"/>
              <a:gd name="textAreaRight" fmla="*/ 1310760 w 1310400"/>
              <a:gd name="textAreaTop" fmla="*/ 0 h 1310400"/>
              <a:gd name="textAreaBottom" fmla="*/ 1310760 h 1310400"/>
            </a:gdLst>
            <a:ahLst/>
            <a:rect l="textAreaLeft" t="textAreaTop" r="textAreaRight" b="textAreaBottom"/>
            <a:pathLst>
              <a:path w="1310907" h="1310907">
                <a:moveTo>
                  <a:pt x="0" y="0"/>
                </a:moveTo>
                <a:lnTo>
                  <a:pt x="1310907" y="0"/>
                </a:lnTo>
                <a:lnTo>
                  <a:pt x="1310907" y="1310907"/>
                </a:lnTo>
                <a:lnTo>
                  <a:pt x="0" y="1310907"/>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7" name="TextBox 6"/>
          <p:cNvSpPr/>
          <p:nvPr/>
        </p:nvSpPr>
        <p:spPr>
          <a:xfrm>
            <a:off x="1436040" y="796680"/>
            <a:ext cx="1079820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06 — Bonnes Pratiques &amp; Standards</a:t>
            </a:r>
            <a:endParaRPr b="0" lang="fr-FR" sz="5000" spc="-1" strike="noStrike">
              <a:solidFill>
                <a:srgbClr val="ffffff"/>
              </a:solidFill>
              <a:latin typeface="Arial"/>
            </a:endParaRPr>
          </a:p>
        </p:txBody>
      </p:sp>
      <p:sp>
        <p:nvSpPr>
          <p:cNvPr id="428" name="Freeform 7"/>
          <p:cNvSpPr/>
          <p:nvPr/>
        </p:nvSpPr>
        <p:spPr>
          <a:xfrm>
            <a:off x="734760" y="2312640"/>
            <a:ext cx="8562960" cy="3669480"/>
          </a:xfrm>
          <a:custGeom>
            <a:avLst/>
            <a:gdLst>
              <a:gd name="textAreaLeft" fmla="*/ 0 w 8562960"/>
              <a:gd name="textAreaRight" fmla="*/ 8563320 w 8562960"/>
              <a:gd name="textAreaTop" fmla="*/ 0 h 3669480"/>
              <a:gd name="textAreaBottom" fmla="*/ 3669840 h 3669480"/>
            </a:gdLst>
            <a:ahLst/>
            <a:rect l="textAreaLeft" t="textAreaTop" r="textAreaRight" b="textAreaBottom"/>
            <a:pathLst>
              <a:path w="8563301" h="3669986">
                <a:moveTo>
                  <a:pt x="0" y="0"/>
                </a:moveTo>
                <a:lnTo>
                  <a:pt x="8563301" y="0"/>
                </a:lnTo>
                <a:lnTo>
                  <a:pt x="8563301" y="3669986"/>
                </a:lnTo>
                <a:lnTo>
                  <a:pt x="0" y="3669986"/>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9" name="Freeform 8"/>
          <p:cNvSpPr/>
          <p:nvPr/>
        </p:nvSpPr>
        <p:spPr>
          <a:xfrm>
            <a:off x="915480" y="2507040"/>
            <a:ext cx="8106840" cy="842040"/>
          </a:xfrm>
          <a:custGeom>
            <a:avLst/>
            <a:gdLst>
              <a:gd name="textAreaLeft" fmla="*/ 0 w 8106840"/>
              <a:gd name="textAreaRight" fmla="*/ 8107200 w 8106840"/>
              <a:gd name="textAreaTop" fmla="*/ 0 h 842040"/>
              <a:gd name="textAreaBottom" fmla="*/ 842400 h 842040"/>
            </a:gdLst>
            <a:ahLst/>
            <a:rect l="textAreaLeft" t="textAreaTop" r="textAreaRight" b="textAreaBottom"/>
            <a:pathLst>
              <a:path w="8107222" h="842552">
                <a:moveTo>
                  <a:pt x="0" y="0"/>
                </a:moveTo>
                <a:lnTo>
                  <a:pt x="8107223" y="0"/>
                </a:lnTo>
                <a:lnTo>
                  <a:pt x="8107223" y="842552"/>
                </a:lnTo>
                <a:lnTo>
                  <a:pt x="0" y="842552"/>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0" name="TextBox 9"/>
          <p:cNvSpPr/>
          <p:nvPr/>
        </p:nvSpPr>
        <p:spPr>
          <a:xfrm>
            <a:off x="1436040" y="267300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Conception (Security by Design)</a:t>
            </a:r>
            <a:endParaRPr b="0" lang="fr-FR" sz="3000" spc="-1" strike="noStrike">
              <a:solidFill>
                <a:srgbClr val="ffffff"/>
              </a:solidFill>
              <a:latin typeface="Arial"/>
            </a:endParaRPr>
          </a:p>
        </p:txBody>
      </p:sp>
      <p:sp>
        <p:nvSpPr>
          <p:cNvPr id="431" name="TextBox 10"/>
          <p:cNvSpPr/>
          <p:nvPr/>
        </p:nvSpPr>
        <p:spPr>
          <a:xfrm>
            <a:off x="915480" y="3714840"/>
            <a:ext cx="718884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Authentification forte dès le démarrage (Secure Boot)</a:t>
            </a:r>
            <a:endParaRPr b="0" lang="fr-FR" sz="2100" spc="-1" strike="noStrike">
              <a:solidFill>
                <a:srgbClr val="ffffff"/>
              </a:solidFill>
              <a:latin typeface="Arial"/>
            </a:endParaRPr>
          </a:p>
        </p:txBody>
      </p:sp>
      <p:sp>
        <p:nvSpPr>
          <p:cNvPr id="432" name="TextBox 11"/>
          <p:cNvSpPr/>
          <p:nvPr/>
        </p:nvSpPr>
        <p:spPr>
          <a:xfrm>
            <a:off x="915480" y="4364640"/>
            <a:ext cx="718884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Principe du moindre privilège pour chaque composant</a:t>
            </a:r>
            <a:endParaRPr b="0" lang="fr-FR" sz="2100" spc="-1" strike="noStrike">
              <a:solidFill>
                <a:srgbClr val="ffffff"/>
              </a:solidFill>
              <a:latin typeface="Arial"/>
            </a:endParaRPr>
          </a:p>
        </p:txBody>
      </p:sp>
      <p:sp>
        <p:nvSpPr>
          <p:cNvPr id="433" name="TextBox 12"/>
          <p:cNvSpPr/>
          <p:nvPr/>
        </p:nvSpPr>
        <p:spPr>
          <a:xfrm>
            <a:off x="915480" y="5016600"/>
            <a:ext cx="527220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Segmentation réseau (VLAN IoT isolé)</a:t>
            </a:r>
            <a:endParaRPr b="0" lang="fr-FR" sz="2100" spc="-1" strike="noStrike">
              <a:solidFill>
                <a:srgbClr val="ffffff"/>
              </a:solidFill>
              <a:latin typeface="Arial"/>
            </a:endParaRPr>
          </a:p>
        </p:txBody>
      </p:sp>
      <p:sp>
        <p:nvSpPr>
          <p:cNvPr id="434" name="Freeform 13"/>
          <p:cNvSpPr/>
          <p:nvPr/>
        </p:nvSpPr>
        <p:spPr>
          <a:xfrm>
            <a:off x="9498240" y="236772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7" y="0"/>
                </a:lnTo>
                <a:lnTo>
                  <a:pt x="8435037" y="3615016"/>
                </a:lnTo>
                <a:lnTo>
                  <a:pt x="0" y="3615016"/>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5" name="Freeform 14"/>
          <p:cNvSpPr/>
          <p:nvPr/>
        </p:nvSpPr>
        <p:spPr>
          <a:xfrm>
            <a:off x="9498240" y="630288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7" y="0"/>
                </a:lnTo>
                <a:lnTo>
                  <a:pt x="8435037" y="3615016"/>
                </a:lnTo>
                <a:lnTo>
                  <a:pt x="0" y="3615016"/>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6" name="Freeform 15"/>
          <p:cNvSpPr/>
          <p:nvPr/>
        </p:nvSpPr>
        <p:spPr>
          <a:xfrm>
            <a:off x="580680" y="6248160"/>
            <a:ext cx="8562960" cy="3669480"/>
          </a:xfrm>
          <a:custGeom>
            <a:avLst/>
            <a:gdLst>
              <a:gd name="textAreaLeft" fmla="*/ 0 w 8562960"/>
              <a:gd name="textAreaRight" fmla="*/ 8563320 w 8562960"/>
              <a:gd name="textAreaTop" fmla="*/ 0 h 3669480"/>
              <a:gd name="textAreaBottom" fmla="*/ 3669840 h 3669480"/>
            </a:gdLst>
            <a:ahLst/>
            <a:rect l="textAreaLeft" t="textAreaTop" r="textAreaRight" b="textAreaBottom"/>
            <a:pathLst>
              <a:path w="8563301" h="3669986">
                <a:moveTo>
                  <a:pt x="0" y="0"/>
                </a:moveTo>
                <a:lnTo>
                  <a:pt x="8563301" y="0"/>
                </a:lnTo>
                <a:lnTo>
                  <a:pt x="8563301" y="3669986"/>
                </a:lnTo>
                <a:lnTo>
                  <a:pt x="0" y="3669986"/>
                </a:lnTo>
                <a:lnTo>
                  <a:pt x="0" y="0"/>
                </a:lnTo>
                <a:close/>
              </a:path>
            </a:pathLst>
          </a:custGeom>
          <a:blipFill rotWithShape="0">
            <a:blip r:embed="rId10"/>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7" name="Freeform 16"/>
          <p:cNvSpPr/>
          <p:nvPr/>
        </p:nvSpPr>
        <p:spPr>
          <a:xfrm>
            <a:off x="753840" y="6449400"/>
            <a:ext cx="8106840" cy="842040"/>
          </a:xfrm>
          <a:custGeom>
            <a:avLst/>
            <a:gdLst>
              <a:gd name="textAreaLeft" fmla="*/ 0 w 8106840"/>
              <a:gd name="textAreaRight" fmla="*/ 8107200 w 8106840"/>
              <a:gd name="textAreaTop" fmla="*/ 0 h 842040"/>
              <a:gd name="textAreaBottom" fmla="*/ 842400 h 842040"/>
            </a:gdLst>
            <a:ahLst/>
            <a:rect l="textAreaLeft" t="textAreaTop" r="textAreaRight" b="textAreaBottom"/>
            <a:pathLst>
              <a:path w="8107222" h="842552">
                <a:moveTo>
                  <a:pt x="0" y="0"/>
                </a:moveTo>
                <a:lnTo>
                  <a:pt x="8107222" y="0"/>
                </a:lnTo>
                <a:lnTo>
                  <a:pt x="8107222" y="842552"/>
                </a:lnTo>
                <a:lnTo>
                  <a:pt x="0" y="842552"/>
                </a:lnTo>
                <a:lnTo>
                  <a:pt x="0" y="0"/>
                </a:lnTo>
                <a:close/>
              </a:path>
            </a:pathLst>
          </a:custGeom>
          <a:blipFill rotWithShape="0">
            <a:blip r:embed="rId1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8" name="Freeform 17"/>
          <p:cNvSpPr/>
          <p:nvPr/>
        </p:nvSpPr>
        <p:spPr>
          <a:xfrm>
            <a:off x="9633600" y="2539440"/>
            <a:ext cx="8106840" cy="842040"/>
          </a:xfrm>
          <a:custGeom>
            <a:avLst/>
            <a:gdLst>
              <a:gd name="textAreaLeft" fmla="*/ 0 w 8106840"/>
              <a:gd name="textAreaRight" fmla="*/ 8107200 w 8106840"/>
              <a:gd name="textAreaTop" fmla="*/ 0 h 842040"/>
              <a:gd name="textAreaBottom" fmla="*/ 842400 h 842040"/>
            </a:gdLst>
            <a:ahLst/>
            <a:rect l="textAreaLeft" t="textAreaTop" r="textAreaRight" b="textAreaBottom"/>
            <a:pathLst>
              <a:path w="8107222" h="842552">
                <a:moveTo>
                  <a:pt x="0" y="0"/>
                </a:moveTo>
                <a:lnTo>
                  <a:pt x="8107223" y="0"/>
                </a:lnTo>
                <a:lnTo>
                  <a:pt x="8107223" y="842552"/>
                </a:lnTo>
                <a:lnTo>
                  <a:pt x="0" y="842552"/>
                </a:lnTo>
                <a:lnTo>
                  <a:pt x="0" y="0"/>
                </a:lnTo>
                <a:close/>
              </a:path>
            </a:pathLst>
          </a:custGeom>
          <a:blipFill rotWithShape="0">
            <a:blip r:embed="rId1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39" name="Freeform 18"/>
          <p:cNvSpPr/>
          <p:nvPr/>
        </p:nvSpPr>
        <p:spPr>
          <a:xfrm>
            <a:off x="9652680" y="6497280"/>
            <a:ext cx="8006760" cy="831960"/>
          </a:xfrm>
          <a:custGeom>
            <a:avLst/>
            <a:gdLst>
              <a:gd name="textAreaLeft" fmla="*/ 0 w 8006760"/>
              <a:gd name="textAreaRight" fmla="*/ 8007120 w 8006760"/>
              <a:gd name="textAreaTop" fmla="*/ 0 h 831960"/>
              <a:gd name="textAreaBottom" fmla="*/ 832320 h 831960"/>
            </a:gdLst>
            <a:ahLst/>
            <a:rect l="textAreaLeft" t="textAreaTop" r="textAreaRight" b="textAreaBottom"/>
            <a:pathLst>
              <a:path w="8007219" h="832159">
                <a:moveTo>
                  <a:pt x="0" y="0"/>
                </a:moveTo>
                <a:lnTo>
                  <a:pt x="8007219" y="0"/>
                </a:lnTo>
                <a:lnTo>
                  <a:pt x="8007219" y="832159"/>
                </a:lnTo>
                <a:lnTo>
                  <a:pt x="0" y="832159"/>
                </a:lnTo>
                <a:lnTo>
                  <a:pt x="0" y="0"/>
                </a:lnTo>
                <a:close/>
              </a:path>
            </a:pathLst>
          </a:custGeom>
          <a:blipFill rotWithShape="0">
            <a:blip r:embed="rId1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40" name="TextBox 19"/>
          <p:cNvSpPr/>
          <p:nvPr/>
        </p:nvSpPr>
        <p:spPr>
          <a:xfrm>
            <a:off x="9870840" y="271512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Déploiement &amp; Gestion</a:t>
            </a:r>
            <a:endParaRPr b="0" lang="fr-FR" sz="3000" spc="-1" strike="noStrike">
              <a:solidFill>
                <a:srgbClr val="ffffff"/>
              </a:solidFill>
              <a:latin typeface="Arial"/>
            </a:endParaRPr>
          </a:p>
        </p:txBody>
      </p:sp>
      <p:sp>
        <p:nvSpPr>
          <p:cNvPr id="441" name="TextBox 20"/>
          <p:cNvSpPr/>
          <p:nvPr/>
        </p:nvSpPr>
        <p:spPr>
          <a:xfrm>
            <a:off x="9796320" y="3714840"/>
            <a:ext cx="746244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Changer tous les mots de passe par défaut (I9 OWASP)</a:t>
            </a:r>
            <a:endParaRPr b="0" lang="fr-FR" sz="2100" spc="-1" strike="noStrike">
              <a:solidFill>
                <a:srgbClr val="ffffff"/>
              </a:solidFill>
              <a:latin typeface="Arial"/>
            </a:endParaRPr>
          </a:p>
        </p:txBody>
      </p:sp>
      <p:sp>
        <p:nvSpPr>
          <p:cNvPr id="442" name="TextBox 21"/>
          <p:cNvSpPr/>
          <p:nvPr/>
        </p:nvSpPr>
        <p:spPr>
          <a:xfrm>
            <a:off x="9796320" y="4364640"/>
            <a:ext cx="746244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Mises à jour firmware signées et vérifiées (OTA sécurisé)</a:t>
            </a:r>
            <a:endParaRPr b="0" lang="fr-FR" sz="2100" spc="-1" strike="noStrike">
              <a:solidFill>
                <a:srgbClr val="ffffff"/>
              </a:solidFill>
              <a:latin typeface="Arial"/>
            </a:endParaRPr>
          </a:p>
        </p:txBody>
      </p:sp>
      <p:sp>
        <p:nvSpPr>
          <p:cNvPr id="443" name="TextBox 22"/>
          <p:cNvSpPr/>
          <p:nvPr/>
        </p:nvSpPr>
        <p:spPr>
          <a:xfrm>
            <a:off x="9796320" y="5014440"/>
            <a:ext cx="615168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Inventaire et surveillance de tous les appareils</a:t>
            </a:r>
            <a:endParaRPr b="0" lang="fr-FR" sz="2100" spc="-1" strike="noStrike">
              <a:solidFill>
                <a:srgbClr val="ffffff"/>
              </a:solidFill>
              <a:latin typeface="Arial"/>
            </a:endParaRPr>
          </a:p>
        </p:txBody>
      </p:sp>
      <p:sp>
        <p:nvSpPr>
          <p:cNvPr id="444" name="TextBox 23"/>
          <p:cNvSpPr/>
          <p:nvPr/>
        </p:nvSpPr>
        <p:spPr>
          <a:xfrm>
            <a:off x="1168560" y="661536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Communication</a:t>
            </a:r>
            <a:endParaRPr b="0" lang="fr-FR" sz="3000" spc="-1" strike="noStrike">
              <a:solidFill>
                <a:srgbClr val="ffffff"/>
              </a:solidFill>
              <a:latin typeface="Arial"/>
            </a:endParaRPr>
          </a:p>
        </p:txBody>
      </p:sp>
      <p:sp>
        <p:nvSpPr>
          <p:cNvPr id="445" name="TextBox 24"/>
          <p:cNvSpPr/>
          <p:nvPr/>
        </p:nvSpPr>
        <p:spPr>
          <a:xfrm>
            <a:off x="753840" y="7653960"/>
            <a:ext cx="650592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TLS 1.3 minimum — désactiver SSLv3, TLS 1.0/1.1</a:t>
            </a:r>
            <a:endParaRPr b="0" lang="fr-FR" sz="2100" spc="-1" strike="noStrike">
              <a:solidFill>
                <a:srgbClr val="ffffff"/>
              </a:solidFill>
              <a:latin typeface="Arial"/>
            </a:endParaRPr>
          </a:p>
        </p:txBody>
      </p:sp>
      <p:sp>
        <p:nvSpPr>
          <p:cNvPr id="446" name="TextBox 25"/>
          <p:cNvSpPr/>
          <p:nvPr/>
        </p:nvSpPr>
        <p:spPr>
          <a:xfrm>
            <a:off x="753840" y="8302680"/>
            <a:ext cx="529416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Certificate pinning pour éviter les MitM</a:t>
            </a:r>
            <a:endParaRPr b="0" lang="fr-FR" sz="2100" spc="-1" strike="noStrike">
              <a:solidFill>
                <a:srgbClr val="ffffff"/>
              </a:solidFill>
              <a:latin typeface="Arial"/>
            </a:endParaRPr>
          </a:p>
        </p:txBody>
      </p:sp>
      <p:sp>
        <p:nvSpPr>
          <p:cNvPr id="447" name="TextBox 26"/>
          <p:cNvSpPr/>
          <p:nvPr/>
        </p:nvSpPr>
        <p:spPr>
          <a:xfrm>
            <a:off x="753840" y="8951400"/>
            <a:ext cx="5433480" cy="61812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Rotation régulière des clés et certificats</a:t>
            </a:r>
            <a:endParaRPr b="0" lang="fr-FR" sz="2100" spc="-1" strike="noStrike">
              <a:solidFill>
                <a:srgbClr val="ffffff"/>
              </a:solidFill>
              <a:latin typeface="Arial"/>
            </a:endParaRPr>
          </a:p>
        </p:txBody>
      </p:sp>
      <p:sp>
        <p:nvSpPr>
          <p:cNvPr id="448" name="TextBox 27"/>
          <p:cNvSpPr/>
          <p:nvPr/>
        </p:nvSpPr>
        <p:spPr>
          <a:xfrm>
            <a:off x="9921600" y="6657840"/>
            <a:ext cx="66819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Standards à connaître</a:t>
            </a:r>
            <a:endParaRPr b="0" lang="fr-FR" sz="3000" spc="-1" strike="noStrike">
              <a:solidFill>
                <a:srgbClr val="ffffff"/>
              </a:solidFill>
              <a:latin typeface="Arial"/>
            </a:endParaRPr>
          </a:p>
        </p:txBody>
      </p:sp>
      <p:sp>
        <p:nvSpPr>
          <p:cNvPr id="449" name="TextBox 28"/>
          <p:cNvSpPr/>
          <p:nvPr/>
        </p:nvSpPr>
        <p:spPr>
          <a:xfrm>
            <a:off x="9619200" y="7653960"/>
            <a:ext cx="650592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NIST SP 800-213 : guide IoT pour entreprises</a:t>
            </a:r>
            <a:endParaRPr b="0" lang="fr-FR" sz="2100" spc="-1" strike="noStrike">
              <a:solidFill>
                <a:srgbClr val="ffffff"/>
              </a:solidFill>
              <a:latin typeface="Arial"/>
            </a:endParaRPr>
          </a:p>
        </p:txBody>
      </p:sp>
      <p:sp>
        <p:nvSpPr>
          <p:cNvPr id="450" name="TextBox 29"/>
          <p:cNvSpPr/>
          <p:nvPr/>
        </p:nvSpPr>
        <p:spPr>
          <a:xfrm>
            <a:off x="9652680" y="8331480"/>
            <a:ext cx="650592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IEC 62443 : sécurité des systèmes industriels</a:t>
            </a:r>
            <a:endParaRPr b="0" lang="fr-FR" sz="2100" spc="-1" strike="noStrike">
              <a:solidFill>
                <a:srgbClr val="ffffff"/>
              </a:solidFill>
              <a:latin typeface="Arial"/>
            </a:endParaRPr>
          </a:p>
        </p:txBody>
      </p:sp>
      <p:sp>
        <p:nvSpPr>
          <p:cNvPr id="451" name="TextBox 30"/>
          <p:cNvSpPr/>
          <p:nvPr/>
        </p:nvSpPr>
        <p:spPr>
          <a:xfrm>
            <a:off x="9685800" y="9008640"/>
            <a:ext cx="6505920" cy="309600"/>
          </a:xfrm>
          <a:prstGeom prst="rect">
            <a:avLst/>
          </a:prstGeom>
          <a:noFill/>
          <a:ln w="0">
            <a:noFill/>
          </a:ln>
        </p:spPr>
        <p:style>
          <a:lnRef idx="0"/>
          <a:fillRef idx="0"/>
          <a:effectRef idx="0"/>
          <a:fontRef idx="minor"/>
        </p:style>
        <p:txBody>
          <a:bodyPr lIns="0" rIns="0" tIns="0" bIns="0" anchor="t">
            <a:spAutoFit/>
          </a:bodyPr>
          <a:p>
            <a:pPr algn="ctr" defTabSz="914400">
              <a:lnSpc>
                <a:spcPts val="2435"/>
              </a:lnSpc>
            </a:pPr>
            <a:r>
              <a:rPr b="1" lang="en-US" sz="2100" spc="-1" strike="noStrike">
                <a:solidFill>
                  <a:srgbClr val="000000"/>
                </a:solidFill>
                <a:latin typeface="Telegraf Medium"/>
                <a:ea typeface="Telegraf Medium"/>
              </a:rPr>
              <a:t>✓  </a:t>
            </a:r>
            <a:r>
              <a:rPr b="1" lang="en-US" sz="2100" spc="-1" strike="noStrike">
                <a:solidFill>
                  <a:srgbClr val="000000"/>
                </a:solidFill>
                <a:latin typeface="Telegraf Medium"/>
                <a:ea typeface="Telegraf Medium"/>
              </a:rPr>
              <a:t>ETSI EN 303 645 : standard IoT grand public</a:t>
            </a:r>
            <a:endParaRPr b="0" lang="fr-FR" sz="2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452"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53"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54" name="TextBox 4"/>
          <p:cNvSpPr/>
          <p:nvPr/>
        </p:nvSpPr>
        <p:spPr>
          <a:xfrm>
            <a:off x="719640" y="594360"/>
            <a:ext cx="4440600" cy="1765800"/>
          </a:xfrm>
          <a:prstGeom prst="rect">
            <a:avLst/>
          </a:prstGeom>
          <a:noFill/>
          <a:ln w="0">
            <a:noFill/>
          </a:ln>
        </p:spPr>
        <p:style>
          <a:lnRef idx="0"/>
          <a:fillRef idx="0"/>
          <a:effectRef idx="0"/>
          <a:fontRef idx="minor"/>
        </p:style>
        <p:txBody>
          <a:bodyPr lIns="0" rIns="0" tIns="0" bIns="0" anchor="t">
            <a:spAutoFit/>
          </a:bodyPr>
          <a:p>
            <a:pPr algn="just" defTabSz="914400">
              <a:lnSpc>
                <a:spcPts val="6953"/>
              </a:lnSpc>
            </a:pPr>
            <a:r>
              <a:rPr b="0" lang="en-US" sz="6000" spc="-1" strike="noStrike">
                <a:solidFill>
                  <a:srgbClr val="00bf63"/>
                </a:solidFill>
                <a:latin typeface="Antonio Light"/>
                <a:ea typeface="Antonio Light"/>
              </a:rPr>
              <a:t>DÉMONSTRATIONS</a:t>
            </a:r>
            <a:endParaRPr b="0" lang="fr-FR" sz="6000" spc="-1" strike="noStrike">
              <a:solidFill>
                <a:srgbClr val="ffffff"/>
              </a:solidFill>
              <a:latin typeface="Arial"/>
            </a:endParaRPr>
          </a:p>
        </p:txBody>
      </p:sp>
      <p:grpSp>
        <p:nvGrpSpPr>
          <p:cNvPr id="455" name="Group 5"/>
          <p:cNvGrpSpPr/>
          <p:nvPr/>
        </p:nvGrpSpPr>
        <p:grpSpPr>
          <a:xfrm>
            <a:off x="591480" y="4033440"/>
            <a:ext cx="2802600" cy="3261240"/>
            <a:chOff x="591480" y="4033440"/>
            <a:chExt cx="2802600" cy="3261240"/>
          </a:xfrm>
        </p:grpSpPr>
        <p:sp>
          <p:nvSpPr>
            <p:cNvPr id="456" name="Freeform 6"/>
            <p:cNvSpPr/>
            <p:nvPr/>
          </p:nvSpPr>
          <p:spPr>
            <a:xfrm>
              <a:off x="591480" y="4033440"/>
              <a:ext cx="2802600" cy="3261240"/>
            </a:xfrm>
            <a:custGeom>
              <a:avLst/>
              <a:gdLst>
                <a:gd name="textAreaLeft" fmla="*/ 0 w 2802600"/>
                <a:gd name="textAreaRight" fmla="*/ 2802960 w 2802600"/>
                <a:gd name="textAreaTop" fmla="*/ 0 h 3261240"/>
                <a:gd name="textAreaBottom" fmla="*/ 3261600 h 32612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243f81"/>
                </a:gs>
                <a:gs pos="100000">
                  <a:srgbClr val="288198"/>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57" name="TextBox 7"/>
            <p:cNvSpPr/>
            <p:nvPr/>
          </p:nvSpPr>
          <p:spPr>
            <a:xfrm>
              <a:off x="591480" y="4517640"/>
              <a:ext cx="2802600" cy="221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58" name="Group 8"/>
          <p:cNvGrpSpPr/>
          <p:nvPr/>
        </p:nvGrpSpPr>
        <p:grpSpPr>
          <a:xfrm>
            <a:off x="1090440" y="4514040"/>
            <a:ext cx="1892520" cy="995400"/>
            <a:chOff x="1090440" y="4514040"/>
            <a:chExt cx="1892520" cy="995400"/>
          </a:xfrm>
        </p:grpSpPr>
        <p:sp>
          <p:nvSpPr>
            <p:cNvPr id="459" name="Freeform 9"/>
            <p:cNvSpPr/>
            <p:nvPr/>
          </p:nvSpPr>
          <p:spPr>
            <a:xfrm>
              <a:off x="1090440" y="4514040"/>
              <a:ext cx="1892520" cy="995400"/>
            </a:xfrm>
            <a:custGeom>
              <a:avLst/>
              <a:gdLst>
                <a:gd name="textAreaLeft" fmla="*/ 0 w 1892520"/>
                <a:gd name="textAreaRight" fmla="*/ 1892880 w 1892520"/>
                <a:gd name="textAreaTop" fmla="*/ 0 h 995400"/>
                <a:gd name="textAreaBottom" fmla="*/ 995760 h 995400"/>
              </a:gdLst>
              <a:ahLst/>
              <a:rect l="textAreaLeft" t="textAreaTop" r="textAreaRight" b="textAreaBottom"/>
              <a:pathLst>
                <a:path w="1545239" h="812800">
                  <a:moveTo>
                    <a:pt x="772620" y="0"/>
                  </a:moveTo>
                  <a:lnTo>
                    <a:pt x="1545239" y="203200"/>
                  </a:lnTo>
                  <a:lnTo>
                    <a:pt x="1545239" y="609600"/>
                  </a:lnTo>
                  <a:lnTo>
                    <a:pt x="772620" y="812800"/>
                  </a:lnTo>
                  <a:lnTo>
                    <a:pt x="0" y="609600"/>
                  </a:lnTo>
                  <a:lnTo>
                    <a:pt x="0" y="203200"/>
                  </a:lnTo>
                  <a:lnTo>
                    <a:pt x="77262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60" name="TextBox 10"/>
            <p:cNvSpPr/>
            <p:nvPr/>
          </p:nvSpPr>
          <p:spPr>
            <a:xfrm>
              <a:off x="1090440" y="4662000"/>
              <a:ext cx="1892520" cy="676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461" name="TextBox 11"/>
          <p:cNvSpPr/>
          <p:nvPr/>
        </p:nvSpPr>
        <p:spPr>
          <a:xfrm>
            <a:off x="1305720" y="4829040"/>
            <a:ext cx="1462320" cy="380160"/>
          </a:xfrm>
          <a:prstGeom prst="rect">
            <a:avLst/>
          </a:prstGeom>
          <a:noFill/>
          <a:ln w="0">
            <a:noFill/>
          </a:ln>
        </p:spPr>
        <p:style>
          <a:lnRef idx="0"/>
          <a:fillRef idx="0"/>
          <a:effectRef idx="0"/>
          <a:fontRef idx="minor"/>
        </p:style>
        <p:txBody>
          <a:bodyPr lIns="0" rIns="0" tIns="0" bIns="0" anchor="t">
            <a:spAutoFit/>
          </a:bodyPr>
          <a:p>
            <a:pPr defTabSz="914400">
              <a:lnSpc>
                <a:spcPts val="2996"/>
              </a:lnSpc>
            </a:pPr>
            <a:r>
              <a:rPr b="1" lang="en-US" sz="2580" spc="-1" strike="noStrike">
                <a:solidFill>
                  <a:srgbClr val="1d386d"/>
                </a:solidFill>
                <a:latin typeface="Raleway Bold"/>
                <a:ea typeface="Raleway Bold"/>
              </a:rPr>
              <a:t>Démo 1</a:t>
            </a:r>
            <a:endParaRPr b="0" lang="fr-FR" sz="2580" spc="-1" strike="noStrike">
              <a:solidFill>
                <a:srgbClr val="ffffff"/>
              </a:solidFill>
              <a:latin typeface="Arial"/>
            </a:endParaRPr>
          </a:p>
        </p:txBody>
      </p:sp>
      <p:sp>
        <p:nvSpPr>
          <p:cNvPr id="462" name="TextBox 12"/>
          <p:cNvSpPr/>
          <p:nvPr/>
        </p:nvSpPr>
        <p:spPr>
          <a:xfrm>
            <a:off x="494280" y="5844960"/>
            <a:ext cx="3085200" cy="339120"/>
          </a:xfrm>
          <a:prstGeom prst="rect">
            <a:avLst/>
          </a:prstGeom>
          <a:noFill/>
          <a:ln w="0">
            <a:noFill/>
          </a:ln>
        </p:spPr>
        <p:style>
          <a:lnRef idx="0"/>
          <a:fillRef idx="0"/>
          <a:effectRef idx="0"/>
          <a:fontRef idx="minor"/>
        </p:style>
        <p:txBody>
          <a:bodyPr lIns="0" rIns="0" tIns="0" bIns="0" anchor="t">
            <a:spAutoFit/>
          </a:bodyPr>
          <a:p>
            <a:pPr algn="ctr" defTabSz="914400">
              <a:lnSpc>
                <a:spcPts val="2667"/>
              </a:lnSpc>
            </a:pPr>
            <a:r>
              <a:rPr b="1" lang="en-US" sz="2300" spc="-1" strike="noStrike">
                <a:solidFill>
                  <a:srgbClr val="ffffff"/>
                </a:solidFill>
                <a:latin typeface="Raleway Ultra-Bold"/>
                <a:ea typeface="Raleway Ultra-Bold"/>
              </a:rPr>
              <a:t>MITM sur MQTT</a:t>
            </a:r>
            <a:endParaRPr b="0" lang="fr-FR" sz="2300" spc="-1" strike="noStrike">
              <a:solidFill>
                <a:srgbClr val="ffffff"/>
              </a:solidFill>
              <a:latin typeface="Arial"/>
            </a:endParaRPr>
          </a:p>
        </p:txBody>
      </p:sp>
      <p:sp>
        <p:nvSpPr>
          <p:cNvPr id="463" name="TextBox 13"/>
          <p:cNvSpPr/>
          <p:nvPr/>
        </p:nvSpPr>
        <p:spPr>
          <a:xfrm>
            <a:off x="5160600" y="2169000"/>
            <a:ext cx="8119080" cy="1765800"/>
          </a:xfrm>
          <a:prstGeom prst="rect">
            <a:avLst/>
          </a:prstGeom>
          <a:noFill/>
          <a:ln w="0">
            <a:noFill/>
          </a:ln>
        </p:spPr>
        <p:style>
          <a:lnRef idx="0"/>
          <a:fillRef idx="0"/>
          <a:effectRef idx="0"/>
          <a:fontRef idx="minor"/>
        </p:style>
        <p:txBody>
          <a:bodyPr lIns="0" rIns="0" tIns="0" bIns="0" anchor="t">
            <a:spAutoFit/>
          </a:bodyPr>
          <a:p>
            <a:pPr algn="just" defTabSz="914400">
              <a:lnSpc>
                <a:spcPts val="6953"/>
              </a:lnSpc>
            </a:pPr>
            <a:r>
              <a:rPr b="0" lang="en-US" sz="6000" spc="-1" strike="noStrike">
                <a:solidFill>
                  <a:srgbClr val="ffffff"/>
                </a:solidFill>
                <a:latin typeface="Antonio Light"/>
                <a:ea typeface="Antonio Light"/>
              </a:rPr>
              <a:t>Sécurité Web IoT en Pratique</a:t>
            </a:r>
            <a:endParaRPr b="0" lang="fr-FR" sz="6000" spc="-1" strike="noStrike">
              <a:solidFill>
                <a:srgbClr val="ffffff"/>
              </a:solidFill>
              <a:latin typeface="Arial"/>
            </a:endParaRPr>
          </a:p>
        </p:txBody>
      </p:sp>
      <p:grpSp>
        <p:nvGrpSpPr>
          <p:cNvPr id="464" name="Group 14"/>
          <p:cNvGrpSpPr/>
          <p:nvPr/>
        </p:nvGrpSpPr>
        <p:grpSpPr>
          <a:xfrm>
            <a:off x="4797000" y="3943440"/>
            <a:ext cx="2802600" cy="3261240"/>
            <a:chOff x="4797000" y="3943440"/>
            <a:chExt cx="2802600" cy="3261240"/>
          </a:xfrm>
        </p:grpSpPr>
        <p:sp>
          <p:nvSpPr>
            <p:cNvPr id="465" name="Freeform 15"/>
            <p:cNvSpPr/>
            <p:nvPr/>
          </p:nvSpPr>
          <p:spPr>
            <a:xfrm>
              <a:off x="4797000" y="3943440"/>
              <a:ext cx="2802600" cy="3261240"/>
            </a:xfrm>
            <a:custGeom>
              <a:avLst/>
              <a:gdLst>
                <a:gd name="textAreaLeft" fmla="*/ 0 w 2802600"/>
                <a:gd name="textAreaRight" fmla="*/ 2802960 w 2802600"/>
                <a:gd name="textAreaTop" fmla="*/ 0 h 3261240"/>
                <a:gd name="textAreaBottom" fmla="*/ 3261600 h 32612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243f81"/>
                </a:gs>
                <a:gs pos="100000">
                  <a:srgbClr val="288198"/>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66" name="TextBox 16"/>
            <p:cNvSpPr/>
            <p:nvPr/>
          </p:nvSpPr>
          <p:spPr>
            <a:xfrm>
              <a:off x="4797000" y="4427640"/>
              <a:ext cx="2802600" cy="221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67" name="Group 17"/>
          <p:cNvGrpSpPr/>
          <p:nvPr/>
        </p:nvGrpSpPr>
        <p:grpSpPr>
          <a:xfrm>
            <a:off x="9333000" y="4029840"/>
            <a:ext cx="2802600" cy="3261240"/>
            <a:chOff x="9333000" y="4029840"/>
            <a:chExt cx="2802600" cy="3261240"/>
          </a:xfrm>
        </p:grpSpPr>
        <p:sp>
          <p:nvSpPr>
            <p:cNvPr id="468" name="Freeform 18"/>
            <p:cNvSpPr/>
            <p:nvPr/>
          </p:nvSpPr>
          <p:spPr>
            <a:xfrm>
              <a:off x="9333000" y="4029840"/>
              <a:ext cx="2802600" cy="3261240"/>
            </a:xfrm>
            <a:custGeom>
              <a:avLst/>
              <a:gdLst>
                <a:gd name="textAreaLeft" fmla="*/ 0 w 2802600"/>
                <a:gd name="textAreaRight" fmla="*/ 2802960 w 2802600"/>
                <a:gd name="textAreaTop" fmla="*/ 0 h 3261240"/>
                <a:gd name="textAreaBottom" fmla="*/ 3261600 h 32612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243f81"/>
                </a:gs>
                <a:gs pos="100000">
                  <a:srgbClr val="288198"/>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69" name="TextBox 19"/>
            <p:cNvSpPr/>
            <p:nvPr/>
          </p:nvSpPr>
          <p:spPr>
            <a:xfrm>
              <a:off x="9333000" y="4514040"/>
              <a:ext cx="2802600" cy="221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70" name="Group 20"/>
          <p:cNvGrpSpPr/>
          <p:nvPr/>
        </p:nvGrpSpPr>
        <p:grpSpPr>
          <a:xfrm>
            <a:off x="13869000" y="4115880"/>
            <a:ext cx="2802600" cy="3261240"/>
            <a:chOff x="13869000" y="4115880"/>
            <a:chExt cx="2802600" cy="3261240"/>
          </a:xfrm>
        </p:grpSpPr>
        <p:sp>
          <p:nvSpPr>
            <p:cNvPr id="471" name="Freeform 21"/>
            <p:cNvSpPr/>
            <p:nvPr/>
          </p:nvSpPr>
          <p:spPr>
            <a:xfrm>
              <a:off x="13869000" y="4115880"/>
              <a:ext cx="2802600" cy="3261240"/>
            </a:xfrm>
            <a:custGeom>
              <a:avLst/>
              <a:gdLst>
                <a:gd name="textAreaLeft" fmla="*/ 0 w 2802600"/>
                <a:gd name="textAreaRight" fmla="*/ 2802960 w 2802600"/>
                <a:gd name="textAreaTop" fmla="*/ 0 h 3261240"/>
                <a:gd name="textAreaBottom" fmla="*/ 3261600 h 32612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243f81"/>
                </a:gs>
                <a:gs pos="100000">
                  <a:srgbClr val="288198"/>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72" name="TextBox 22"/>
            <p:cNvSpPr/>
            <p:nvPr/>
          </p:nvSpPr>
          <p:spPr>
            <a:xfrm>
              <a:off x="13869000" y="4600080"/>
              <a:ext cx="2802600" cy="2216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73" name="Group 23"/>
          <p:cNvGrpSpPr/>
          <p:nvPr/>
        </p:nvGrpSpPr>
        <p:grpSpPr>
          <a:xfrm>
            <a:off x="5252040" y="4514040"/>
            <a:ext cx="1892520" cy="995400"/>
            <a:chOff x="5252040" y="4514040"/>
            <a:chExt cx="1892520" cy="995400"/>
          </a:xfrm>
        </p:grpSpPr>
        <p:sp>
          <p:nvSpPr>
            <p:cNvPr id="474" name="Freeform 24"/>
            <p:cNvSpPr/>
            <p:nvPr/>
          </p:nvSpPr>
          <p:spPr>
            <a:xfrm>
              <a:off x="5252040" y="4514040"/>
              <a:ext cx="1892520" cy="995400"/>
            </a:xfrm>
            <a:custGeom>
              <a:avLst/>
              <a:gdLst>
                <a:gd name="textAreaLeft" fmla="*/ 0 w 1892520"/>
                <a:gd name="textAreaRight" fmla="*/ 1892880 w 1892520"/>
                <a:gd name="textAreaTop" fmla="*/ 0 h 995400"/>
                <a:gd name="textAreaBottom" fmla="*/ 995760 h 995400"/>
              </a:gdLst>
              <a:ahLst/>
              <a:rect l="textAreaLeft" t="textAreaTop" r="textAreaRight" b="textAreaBottom"/>
              <a:pathLst>
                <a:path w="1545239" h="812800">
                  <a:moveTo>
                    <a:pt x="772620" y="0"/>
                  </a:moveTo>
                  <a:lnTo>
                    <a:pt x="1545239" y="203200"/>
                  </a:lnTo>
                  <a:lnTo>
                    <a:pt x="1545239" y="609600"/>
                  </a:lnTo>
                  <a:lnTo>
                    <a:pt x="772620" y="812800"/>
                  </a:lnTo>
                  <a:lnTo>
                    <a:pt x="0" y="609600"/>
                  </a:lnTo>
                  <a:lnTo>
                    <a:pt x="0" y="203200"/>
                  </a:lnTo>
                  <a:lnTo>
                    <a:pt x="77262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75" name="TextBox 25"/>
            <p:cNvSpPr/>
            <p:nvPr/>
          </p:nvSpPr>
          <p:spPr>
            <a:xfrm>
              <a:off x="5252040" y="4662000"/>
              <a:ext cx="1892520" cy="676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76" name="Group 26"/>
          <p:cNvGrpSpPr/>
          <p:nvPr/>
        </p:nvGrpSpPr>
        <p:grpSpPr>
          <a:xfrm>
            <a:off x="9788040" y="4514040"/>
            <a:ext cx="1892520" cy="995400"/>
            <a:chOff x="9788040" y="4514040"/>
            <a:chExt cx="1892520" cy="995400"/>
          </a:xfrm>
        </p:grpSpPr>
        <p:sp>
          <p:nvSpPr>
            <p:cNvPr id="477" name="Freeform 27"/>
            <p:cNvSpPr/>
            <p:nvPr/>
          </p:nvSpPr>
          <p:spPr>
            <a:xfrm>
              <a:off x="9788040" y="4514040"/>
              <a:ext cx="1892520" cy="995400"/>
            </a:xfrm>
            <a:custGeom>
              <a:avLst/>
              <a:gdLst>
                <a:gd name="textAreaLeft" fmla="*/ 0 w 1892520"/>
                <a:gd name="textAreaRight" fmla="*/ 1892880 w 1892520"/>
                <a:gd name="textAreaTop" fmla="*/ 0 h 995400"/>
                <a:gd name="textAreaBottom" fmla="*/ 995760 h 995400"/>
              </a:gdLst>
              <a:ahLst/>
              <a:rect l="textAreaLeft" t="textAreaTop" r="textAreaRight" b="textAreaBottom"/>
              <a:pathLst>
                <a:path w="1545239" h="812800">
                  <a:moveTo>
                    <a:pt x="772620" y="0"/>
                  </a:moveTo>
                  <a:lnTo>
                    <a:pt x="1545239" y="203200"/>
                  </a:lnTo>
                  <a:lnTo>
                    <a:pt x="1545239" y="609600"/>
                  </a:lnTo>
                  <a:lnTo>
                    <a:pt x="772620" y="812800"/>
                  </a:lnTo>
                  <a:lnTo>
                    <a:pt x="0" y="609600"/>
                  </a:lnTo>
                  <a:lnTo>
                    <a:pt x="0" y="203200"/>
                  </a:lnTo>
                  <a:lnTo>
                    <a:pt x="77262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78" name="TextBox 28"/>
            <p:cNvSpPr/>
            <p:nvPr/>
          </p:nvSpPr>
          <p:spPr>
            <a:xfrm>
              <a:off x="9788040" y="4662000"/>
              <a:ext cx="1892520" cy="676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479" name="Group 29"/>
          <p:cNvGrpSpPr/>
          <p:nvPr/>
        </p:nvGrpSpPr>
        <p:grpSpPr>
          <a:xfrm>
            <a:off x="14326920" y="4578480"/>
            <a:ext cx="1892520" cy="995400"/>
            <a:chOff x="14326920" y="4578480"/>
            <a:chExt cx="1892520" cy="995400"/>
          </a:xfrm>
        </p:grpSpPr>
        <p:sp>
          <p:nvSpPr>
            <p:cNvPr id="480" name="Freeform 30"/>
            <p:cNvSpPr/>
            <p:nvPr/>
          </p:nvSpPr>
          <p:spPr>
            <a:xfrm>
              <a:off x="14326920" y="4578480"/>
              <a:ext cx="1892520" cy="995400"/>
            </a:xfrm>
            <a:custGeom>
              <a:avLst/>
              <a:gdLst>
                <a:gd name="textAreaLeft" fmla="*/ 0 w 1892520"/>
                <a:gd name="textAreaRight" fmla="*/ 1892880 w 1892520"/>
                <a:gd name="textAreaTop" fmla="*/ 0 h 995400"/>
                <a:gd name="textAreaBottom" fmla="*/ 995760 h 995400"/>
              </a:gdLst>
              <a:ahLst/>
              <a:rect l="textAreaLeft" t="textAreaTop" r="textAreaRight" b="textAreaBottom"/>
              <a:pathLst>
                <a:path w="1545239" h="812800">
                  <a:moveTo>
                    <a:pt x="772620" y="0"/>
                  </a:moveTo>
                  <a:lnTo>
                    <a:pt x="1545239" y="203200"/>
                  </a:lnTo>
                  <a:lnTo>
                    <a:pt x="1545239" y="609600"/>
                  </a:lnTo>
                  <a:lnTo>
                    <a:pt x="772620" y="812800"/>
                  </a:lnTo>
                  <a:lnTo>
                    <a:pt x="0" y="609600"/>
                  </a:lnTo>
                  <a:lnTo>
                    <a:pt x="0" y="203200"/>
                  </a:lnTo>
                  <a:lnTo>
                    <a:pt x="77262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81" name="TextBox 31"/>
            <p:cNvSpPr/>
            <p:nvPr/>
          </p:nvSpPr>
          <p:spPr>
            <a:xfrm>
              <a:off x="14326920" y="4726440"/>
              <a:ext cx="1892520" cy="676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482" name="TextBox 32"/>
          <p:cNvSpPr/>
          <p:nvPr/>
        </p:nvSpPr>
        <p:spPr>
          <a:xfrm>
            <a:off x="5493240" y="4768560"/>
            <a:ext cx="1462320" cy="380160"/>
          </a:xfrm>
          <a:prstGeom prst="rect">
            <a:avLst/>
          </a:prstGeom>
          <a:noFill/>
          <a:ln w="0">
            <a:noFill/>
          </a:ln>
        </p:spPr>
        <p:style>
          <a:lnRef idx="0"/>
          <a:fillRef idx="0"/>
          <a:effectRef idx="0"/>
          <a:fontRef idx="minor"/>
        </p:style>
        <p:txBody>
          <a:bodyPr lIns="0" rIns="0" tIns="0" bIns="0" anchor="t">
            <a:spAutoFit/>
          </a:bodyPr>
          <a:p>
            <a:pPr defTabSz="914400">
              <a:lnSpc>
                <a:spcPts val="2996"/>
              </a:lnSpc>
            </a:pPr>
            <a:r>
              <a:rPr b="1" lang="en-US" sz="2580" spc="-1" strike="noStrike">
                <a:solidFill>
                  <a:srgbClr val="1d386d"/>
                </a:solidFill>
                <a:latin typeface="Raleway Bold"/>
                <a:ea typeface="Raleway Bold"/>
              </a:rPr>
              <a:t>Démo 2</a:t>
            </a:r>
            <a:endParaRPr b="0" lang="fr-FR" sz="2580" spc="-1" strike="noStrike">
              <a:solidFill>
                <a:srgbClr val="ffffff"/>
              </a:solidFill>
              <a:latin typeface="Arial"/>
            </a:endParaRPr>
          </a:p>
        </p:txBody>
      </p:sp>
      <p:sp>
        <p:nvSpPr>
          <p:cNvPr id="483" name="TextBox 33"/>
          <p:cNvSpPr/>
          <p:nvPr/>
        </p:nvSpPr>
        <p:spPr>
          <a:xfrm>
            <a:off x="10086120" y="4839120"/>
            <a:ext cx="1462320" cy="380160"/>
          </a:xfrm>
          <a:prstGeom prst="rect">
            <a:avLst/>
          </a:prstGeom>
          <a:noFill/>
          <a:ln w="0">
            <a:noFill/>
          </a:ln>
        </p:spPr>
        <p:style>
          <a:lnRef idx="0"/>
          <a:fillRef idx="0"/>
          <a:effectRef idx="0"/>
          <a:fontRef idx="minor"/>
        </p:style>
        <p:txBody>
          <a:bodyPr lIns="0" rIns="0" tIns="0" bIns="0" anchor="t">
            <a:spAutoFit/>
          </a:bodyPr>
          <a:p>
            <a:pPr defTabSz="914400">
              <a:lnSpc>
                <a:spcPts val="2996"/>
              </a:lnSpc>
            </a:pPr>
            <a:r>
              <a:rPr b="1" lang="en-US" sz="2580" spc="-1" strike="noStrike">
                <a:solidFill>
                  <a:srgbClr val="1d386d"/>
                </a:solidFill>
                <a:latin typeface="Raleway Bold"/>
                <a:ea typeface="Raleway Bold"/>
              </a:rPr>
              <a:t>Démo 3</a:t>
            </a:r>
            <a:endParaRPr b="0" lang="fr-FR" sz="2580" spc="-1" strike="noStrike">
              <a:solidFill>
                <a:srgbClr val="ffffff"/>
              </a:solidFill>
              <a:latin typeface="Arial"/>
            </a:endParaRPr>
          </a:p>
        </p:txBody>
      </p:sp>
      <p:sp>
        <p:nvSpPr>
          <p:cNvPr id="484" name="TextBox 34"/>
          <p:cNvSpPr/>
          <p:nvPr/>
        </p:nvSpPr>
        <p:spPr>
          <a:xfrm>
            <a:off x="14517360" y="4893480"/>
            <a:ext cx="1462320" cy="380160"/>
          </a:xfrm>
          <a:prstGeom prst="rect">
            <a:avLst/>
          </a:prstGeom>
          <a:noFill/>
          <a:ln w="0">
            <a:noFill/>
          </a:ln>
        </p:spPr>
        <p:style>
          <a:lnRef idx="0"/>
          <a:fillRef idx="0"/>
          <a:effectRef idx="0"/>
          <a:fontRef idx="minor"/>
        </p:style>
        <p:txBody>
          <a:bodyPr lIns="0" rIns="0" tIns="0" bIns="0" anchor="t">
            <a:spAutoFit/>
          </a:bodyPr>
          <a:p>
            <a:pPr defTabSz="914400">
              <a:lnSpc>
                <a:spcPts val="2996"/>
              </a:lnSpc>
            </a:pPr>
            <a:r>
              <a:rPr b="1" lang="en-US" sz="2580" spc="-1" strike="noStrike">
                <a:solidFill>
                  <a:srgbClr val="1d386d"/>
                </a:solidFill>
                <a:latin typeface="Raleway Bold"/>
                <a:ea typeface="Raleway Bold"/>
              </a:rPr>
              <a:t>Démo 4</a:t>
            </a:r>
            <a:endParaRPr b="0" lang="fr-FR" sz="2580" spc="-1" strike="noStrike">
              <a:solidFill>
                <a:srgbClr val="ffffff"/>
              </a:solidFill>
              <a:latin typeface="Arial"/>
            </a:endParaRPr>
          </a:p>
        </p:txBody>
      </p:sp>
      <p:sp>
        <p:nvSpPr>
          <p:cNvPr id="485" name="TextBox 35"/>
          <p:cNvSpPr/>
          <p:nvPr/>
        </p:nvSpPr>
        <p:spPr>
          <a:xfrm>
            <a:off x="4797000" y="5844960"/>
            <a:ext cx="3085200" cy="339120"/>
          </a:xfrm>
          <a:prstGeom prst="rect">
            <a:avLst/>
          </a:prstGeom>
          <a:noFill/>
          <a:ln w="0">
            <a:noFill/>
          </a:ln>
        </p:spPr>
        <p:style>
          <a:lnRef idx="0"/>
          <a:fillRef idx="0"/>
          <a:effectRef idx="0"/>
          <a:fontRef idx="minor"/>
        </p:style>
        <p:txBody>
          <a:bodyPr lIns="0" rIns="0" tIns="0" bIns="0" anchor="t">
            <a:spAutoFit/>
          </a:bodyPr>
          <a:p>
            <a:pPr algn="ctr" defTabSz="914400">
              <a:lnSpc>
                <a:spcPts val="2667"/>
              </a:lnSpc>
            </a:pPr>
            <a:r>
              <a:rPr b="1" lang="en-US" sz="2300" spc="-1" strike="noStrike">
                <a:solidFill>
                  <a:srgbClr val="ffffff"/>
                </a:solidFill>
                <a:latin typeface="Raleway Ultra-Bold"/>
                <a:ea typeface="Raleway Ultra-Bold"/>
              </a:rPr>
              <a:t>JWT Forgery</a:t>
            </a:r>
            <a:endParaRPr b="0" lang="fr-FR" sz="2300" spc="-1" strike="noStrike">
              <a:solidFill>
                <a:srgbClr val="ffffff"/>
              </a:solidFill>
              <a:latin typeface="Arial"/>
            </a:endParaRPr>
          </a:p>
        </p:txBody>
      </p:sp>
      <p:sp>
        <p:nvSpPr>
          <p:cNvPr id="486" name="TextBox 36"/>
          <p:cNvSpPr/>
          <p:nvPr/>
        </p:nvSpPr>
        <p:spPr>
          <a:xfrm>
            <a:off x="9191880" y="5895720"/>
            <a:ext cx="3085200" cy="339120"/>
          </a:xfrm>
          <a:prstGeom prst="rect">
            <a:avLst/>
          </a:prstGeom>
          <a:noFill/>
          <a:ln w="0">
            <a:noFill/>
          </a:ln>
        </p:spPr>
        <p:style>
          <a:lnRef idx="0"/>
          <a:fillRef idx="0"/>
          <a:effectRef idx="0"/>
          <a:fontRef idx="minor"/>
        </p:style>
        <p:txBody>
          <a:bodyPr lIns="0" rIns="0" tIns="0" bIns="0" anchor="t">
            <a:spAutoFit/>
          </a:bodyPr>
          <a:p>
            <a:pPr algn="ctr" defTabSz="914400">
              <a:lnSpc>
                <a:spcPts val="2667"/>
              </a:lnSpc>
            </a:pPr>
            <a:r>
              <a:rPr b="1" lang="en-US" sz="2300" spc="-1" strike="noStrike">
                <a:solidFill>
                  <a:srgbClr val="ffffff"/>
                </a:solidFill>
                <a:latin typeface="Raleway Ultra-Bold"/>
                <a:ea typeface="Raleway Ultra-Bold"/>
              </a:rPr>
              <a:t>Firmware Analyse</a:t>
            </a:r>
            <a:endParaRPr b="0" lang="fr-FR" sz="2300" spc="-1" strike="noStrike">
              <a:solidFill>
                <a:srgbClr val="ffffff"/>
              </a:solidFill>
              <a:latin typeface="Arial"/>
            </a:endParaRPr>
          </a:p>
        </p:txBody>
      </p:sp>
      <p:sp>
        <p:nvSpPr>
          <p:cNvPr id="487" name="TextBox 37"/>
          <p:cNvSpPr/>
          <p:nvPr/>
        </p:nvSpPr>
        <p:spPr>
          <a:xfrm>
            <a:off x="13730400" y="5844960"/>
            <a:ext cx="3085200" cy="339120"/>
          </a:xfrm>
          <a:prstGeom prst="rect">
            <a:avLst/>
          </a:prstGeom>
          <a:noFill/>
          <a:ln w="0">
            <a:noFill/>
          </a:ln>
        </p:spPr>
        <p:style>
          <a:lnRef idx="0"/>
          <a:fillRef idx="0"/>
          <a:effectRef idx="0"/>
          <a:fontRef idx="minor"/>
        </p:style>
        <p:txBody>
          <a:bodyPr lIns="0" rIns="0" tIns="0" bIns="0" anchor="t">
            <a:spAutoFit/>
          </a:bodyPr>
          <a:p>
            <a:pPr algn="ctr" defTabSz="914400">
              <a:lnSpc>
                <a:spcPts val="2667"/>
              </a:lnSpc>
            </a:pPr>
            <a:r>
              <a:rPr b="1" lang="en-US" sz="2300" spc="-1" strike="noStrike">
                <a:solidFill>
                  <a:srgbClr val="ffffff"/>
                </a:solidFill>
                <a:latin typeface="Raleway Ultra-Bold"/>
                <a:ea typeface="Raleway Ultra-Bold"/>
              </a:rPr>
              <a:t>TLS Hardening</a:t>
            </a:r>
            <a:endParaRPr b="0" lang="fr-FR" sz="2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488" name="Freeform 2"/>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89" name="Freeform 3"/>
          <p:cNvSpPr/>
          <p:nvPr/>
        </p:nvSpPr>
        <p:spPr>
          <a:xfrm>
            <a:off x="1028880" y="3157200"/>
            <a:ext cx="2876760" cy="1808640"/>
          </a:xfrm>
          <a:custGeom>
            <a:avLst/>
            <a:gdLst>
              <a:gd name="textAreaLeft" fmla="*/ 0 w 2876760"/>
              <a:gd name="textAreaRight" fmla="*/ 2877120 w 2876760"/>
              <a:gd name="textAreaTop" fmla="*/ 0 h 1808640"/>
              <a:gd name="textAreaBottom" fmla="*/ 1809000 h 1808640"/>
            </a:gdLst>
            <a:ahLst/>
            <a:rect l="textAreaLeft" t="textAreaTop" r="textAreaRight" b="textAreaBottom"/>
            <a:pathLst>
              <a:path w="2877248" h="1808858">
                <a:moveTo>
                  <a:pt x="0" y="0"/>
                </a:moveTo>
                <a:lnTo>
                  <a:pt x="2877248" y="0"/>
                </a:lnTo>
                <a:lnTo>
                  <a:pt x="2877248" y="1808858"/>
                </a:lnTo>
                <a:lnTo>
                  <a:pt x="0" y="1808858"/>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0" name="Freeform 4"/>
          <p:cNvSpPr/>
          <p:nvPr/>
        </p:nvSpPr>
        <p:spPr>
          <a:xfrm>
            <a:off x="6732000" y="3177360"/>
            <a:ext cx="2876760" cy="1808640"/>
          </a:xfrm>
          <a:custGeom>
            <a:avLst/>
            <a:gdLst>
              <a:gd name="textAreaLeft" fmla="*/ 0 w 2876760"/>
              <a:gd name="textAreaRight" fmla="*/ 2877120 w 2876760"/>
              <a:gd name="textAreaTop" fmla="*/ 0 h 1808640"/>
              <a:gd name="textAreaBottom" fmla="*/ 1809000 h 1808640"/>
            </a:gdLst>
            <a:ahLst/>
            <a:rect l="textAreaLeft" t="textAreaTop" r="textAreaRight" b="textAreaBottom"/>
            <a:pathLst>
              <a:path w="2877248" h="1808858">
                <a:moveTo>
                  <a:pt x="0" y="0"/>
                </a:moveTo>
                <a:lnTo>
                  <a:pt x="2877248" y="0"/>
                </a:lnTo>
                <a:lnTo>
                  <a:pt x="2877248" y="1808858"/>
                </a:lnTo>
                <a:lnTo>
                  <a:pt x="0" y="1808858"/>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1" name="Freeform 5"/>
          <p:cNvSpPr/>
          <p:nvPr/>
        </p:nvSpPr>
        <p:spPr>
          <a:xfrm>
            <a:off x="12435480" y="3197520"/>
            <a:ext cx="2876760" cy="1808640"/>
          </a:xfrm>
          <a:custGeom>
            <a:avLst/>
            <a:gdLst>
              <a:gd name="textAreaLeft" fmla="*/ 0 w 2876760"/>
              <a:gd name="textAreaRight" fmla="*/ 2877120 w 2876760"/>
              <a:gd name="textAreaTop" fmla="*/ 0 h 1808640"/>
              <a:gd name="textAreaBottom" fmla="*/ 1809000 h 1808640"/>
            </a:gdLst>
            <a:ahLst/>
            <a:rect l="textAreaLeft" t="textAreaTop" r="textAreaRight" b="textAreaBottom"/>
            <a:pathLst>
              <a:path w="2877248" h="1808858">
                <a:moveTo>
                  <a:pt x="0" y="0"/>
                </a:moveTo>
                <a:lnTo>
                  <a:pt x="2877248" y="0"/>
                </a:lnTo>
                <a:lnTo>
                  <a:pt x="2877248" y="1808858"/>
                </a:lnTo>
                <a:lnTo>
                  <a:pt x="0" y="1808858"/>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2" name="Freeform 6"/>
          <p:cNvSpPr/>
          <p:nvPr/>
        </p:nvSpPr>
        <p:spPr>
          <a:xfrm>
            <a:off x="3362040" y="2435760"/>
            <a:ext cx="3600360" cy="2979720"/>
          </a:xfrm>
          <a:custGeom>
            <a:avLst/>
            <a:gdLst>
              <a:gd name="textAreaLeft" fmla="*/ 0 w 3600360"/>
              <a:gd name="textAreaRight" fmla="*/ 3600720 w 3600360"/>
              <a:gd name="textAreaTop" fmla="*/ 0 h 2979720"/>
              <a:gd name="textAreaBottom" fmla="*/ 2980080 h 2979720"/>
            </a:gdLst>
            <a:ahLst/>
            <a:rect l="textAreaLeft" t="textAreaTop" r="textAreaRight" b="textAreaBottom"/>
            <a:pathLst>
              <a:path w="3600886" h="2980043">
                <a:moveTo>
                  <a:pt x="0" y="0"/>
                </a:moveTo>
                <a:lnTo>
                  <a:pt x="3600885" y="0"/>
                </a:lnTo>
                <a:lnTo>
                  <a:pt x="3600885" y="2980043"/>
                </a:lnTo>
                <a:lnTo>
                  <a:pt x="0" y="2980043"/>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3" name="TextBox 7"/>
          <p:cNvSpPr/>
          <p:nvPr/>
        </p:nvSpPr>
        <p:spPr>
          <a:xfrm>
            <a:off x="596880" y="2072520"/>
            <a:ext cx="12384000" cy="103068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ffff"/>
                </a:solidFill>
                <a:latin typeface="Telegraf Medium"/>
                <a:ea typeface="Telegraf Medium"/>
              </a:rPr>
              <a:t>Scénario : MQTT sans TLS — l'attaquant intercepte le trafic</a:t>
            </a:r>
            <a:endParaRPr b="0" lang="fr-FR" sz="3500" spc="-1" strike="noStrike">
              <a:solidFill>
                <a:srgbClr val="ffffff"/>
              </a:solidFill>
              <a:latin typeface="Arial"/>
            </a:endParaRPr>
          </a:p>
        </p:txBody>
      </p:sp>
      <p:sp>
        <p:nvSpPr>
          <p:cNvPr id="494" name="TextBox 8"/>
          <p:cNvSpPr/>
          <p:nvPr/>
        </p:nvSpPr>
        <p:spPr>
          <a:xfrm>
            <a:off x="7117200" y="3464280"/>
            <a:ext cx="2282040" cy="1105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Attaquant</a:t>
            </a:r>
            <a:endParaRPr b="0" lang="fr-FR" sz="2500" spc="-1" strike="noStrike">
              <a:solidFill>
                <a:srgbClr val="ffffff"/>
              </a:solidFill>
              <a:latin typeface="Arial"/>
            </a:endParaRPr>
          </a:p>
          <a:p>
            <a:pPr algn="ctr" defTabSz="914400">
              <a:lnSpc>
                <a:spcPts val="2900"/>
              </a:lnSpc>
            </a:pPr>
            <a:r>
              <a:rPr b="1" lang="en-US" sz="2500" spc="-1" strike="noStrike">
                <a:solidFill>
                  <a:srgbClr val="000000"/>
                </a:solidFill>
                <a:latin typeface="Telegraf Medium"/>
                <a:ea typeface="Telegraf Medium"/>
              </a:rPr>
              <a:t>(tcpdump/Wireshark)</a:t>
            </a:r>
            <a:endParaRPr b="0" lang="fr-FR" sz="2500" spc="-1" strike="noStrike">
              <a:solidFill>
                <a:srgbClr val="ffffff"/>
              </a:solidFill>
              <a:latin typeface="Arial"/>
            </a:endParaRPr>
          </a:p>
        </p:txBody>
      </p:sp>
      <p:sp>
        <p:nvSpPr>
          <p:cNvPr id="495" name="TextBox 9"/>
          <p:cNvSpPr/>
          <p:nvPr/>
        </p:nvSpPr>
        <p:spPr>
          <a:xfrm>
            <a:off x="12735360" y="3625560"/>
            <a:ext cx="2282040" cy="73692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Broker MQTT</a:t>
            </a:r>
            <a:endParaRPr b="0" lang="fr-FR" sz="2500" spc="-1" strike="noStrike">
              <a:solidFill>
                <a:srgbClr val="ffffff"/>
              </a:solidFill>
              <a:latin typeface="Arial"/>
            </a:endParaRPr>
          </a:p>
          <a:p>
            <a:pPr algn="ctr" defTabSz="914400">
              <a:lnSpc>
                <a:spcPts val="2900"/>
              </a:lnSpc>
            </a:pPr>
            <a:r>
              <a:rPr b="1" lang="en-US" sz="2500" spc="-1" strike="noStrike">
                <a:solidFill>
                  <a:srgbClr val="000000"/>
                </a:solidFill>
                <a:latin typeface="Telegraf Medium"/>
                <a:ea typeface="Telegraf Medium"/>
              </a:rPr>
              <a:t>(Port 1883)</a:t>
            </a:r>
            <a:endParaRPr b="0" lang="fr-FR" sz="2500" spc="-1" strike="noStrike">
              <a:solidFill>
                <a:srgbClr val="ffffff"/>
              </a:solidFill>
              <a:latin typeface="Arial"/>
            </a:endParaRPr>
          </a:p>
        </p:txBody>
      </p:sp>
      <p:sp>
        <p:nvSpPr>
          <p:cNvPr id="496" name="Freeform 10"/>
          <p:cNvSpPr/>
          <p:nvPr/>
        </p:nvSpPr>
        <p:spPr>
          <a:xfrm>
            <a:off x="9144000" y="2435760"/>
            <a:ext cx="3600360" cy="2979720"/>
          </a:xfrm>
          <a:custGeom>
            <a:avLst/>
            <a:gdLst>
              <a:gd name="textAreaLeft" fmla="*/ 0 w 3600360"/>
              <a:gd name="textAreaRight" fmla="*/ 3600720 w 3600360"/>
              <a:gd name="textAreaTop" fmla="*/ 0 h 2979720"/>
              <a:gd name="textAreaBottom" fmla="*/ 2980080 h 2979720"/>
            </a:gdLst>
            <a:ahLst/>
            <a:rect l="textAreaLeft" t="textAreaTop" r="textAreaRight" b="textAreaBottom"/>
            <a:pathLst>
              <a:path w="3600886" h="2980043">
                <a:moveTo>
                  <a:pt x="0" y="0"/>
                </a:moveTo>
                <a:lnTo>
                  <a:pt x="3600886" y="0"/>
                </a:lnTo>
                <a:lnTo>
                  <a:pt x="3600886" y="2980043"/>
                </a:lnTo>
                <a:lnTo>
                  <a:pt x="0" y="2980043"/>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7" name="Freeform 11"/>
          <p:cNvSpPr/>
          <p:nvPr/>
        </p:nvSpPr>
        <p:spPr>
          <a:xfrm>
            <a:off x="1028880" y="8142120"/>
            <a:ext cx="15680880" cy="1293120"/>
          </a:xfrm>
          <a:custGeom>
            <a:avLst/>
            <a:gdLst>
              <a:gd name="textAreaLeft" fmla="*/ 0 w 15680880"/>
              <a:gd name="textAreaRight" fmla="*/ 15681240 w 15680880"/>
              <a:gd name="textAreaTop" fmla="*/ 0 h 1293120"/>
              <a:gd name="textAreaBottom" fmla="*/ 1293480 h 1293120"/>
            </a:gdLst>
            <a:ahLst/>
            <a:rect l="textAreaLeft" t="textAreaTop" r="textAreaRight" b="textAreaBottom"/>
            <a:pathLst>
              <a:path w="15681081" h="1293468">
                <a:moveTo>
                  <a:pt x="0" y="0"/>
                </a:moveTo>
                <a:lnTo>
                  <a:pt x="15681081" y="0"/>
                </a:lnTo>
                <a:lnTo>
                  <a:pt x="15681081" y="1293468"/>
                </a:lnTo>
                <a:lnTo>
                  <a:pt x="0" y="1293468"/>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98" name="TextBox 12"/>
          <p:cNvSpPr/>
          <p:nvPr/>
        </p:nvSpPr>
        <p:spPr>
          <a:xfrm>
            <a:off x="1436040" y="796680"/>
            <a:ext cx="1383804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Démo 1 — Attaque MitM sur MQTT (Port 1883)</a:t>
            </a:r>
            <a:endParaRPr b="0" lang="fr-FR" sz="5000" spc="-1" strike="noStrike">
              <a:solidFill>
                <a:srgbClr val="ffffff"/>
              </a:solidFill>
              <a:latin typeface="Arial"/>
            </a:endParaRPr>
          </a:p>
        </p:txBody>
      </p:sp>
      <p:sp>
        <p:nvSpPr>
          <p:cNvPr id="499" name="TextBox 13"/>
          <p:cNvSpPr/>
          <p:nvPr/>
        </p:nvSpPr>
        <p:spPr>
          <a:xfrm>
            <a:off x="1326240" y="3664440"/>
            <a:ext cx="2282040" cy="73692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000000"/>
                </a:solidFill>
                <a:latin typeface="Telegraf Medium"/>
                <a:ea typeface="Telegraf Medium"/>
              </a:rPr>
              <a:t>Capteur IoT</a:t>
            </a:r>
            <a:endParaRPr b="0" lang="fr-FR" sz="2500" spc="-1" strike="noStrike">
              <a:solidFill>
                <a:srgbClr val="ffffff"/>
              </a:solidFill>
              <a:latin typeface="Arial"/>
            </a:endParaRPr>
          </a:p>
          <a:p>
            <a:pPr algn="ctr" defTabSz="914400">
              <a:lnSpc>
                <a:spcPts val="2900"/>
              </a:lnSpc>
            </a:pPr>
            <a:r>
              <a:rPr b="1" lang="en-US" sz="2500" spc="-1" strike="noStrike">
                <a:solidFill>
                  <a:srgbClr val="000000"/>
                </a:solidFill>
                <a:latin typeface="Telegraf Medium"/>
                <a:ea typeface="Telegraf Medium"/>
              </a:rPr>
              <a:t>(Publisher)</a:t>
            </a:r>
            <a:endParaRPr b="0" lang="fr-FR" sz="2500" spc="-1" strike="noStrike">
              <a:solidFill>
                <a:srgbClr val="ffffff"/>
              </a:solidFill>
              <a:latin typeface="Arial"/>
            </a:endParaRPr>
          </a:p>
        </p:txBody>
      </p:sp>
      <p:sp>
        <p:nvSpPr>
          <p:cNvPr id="500" name="TextBox 14"/>
          <p:cNvSpPr/>
          <p:nvPr/>
        </p:nvSpPr>
        <p:spPr>
          <a:xfrm>
            <a:off x="1326240" y="8515800"/>
            <a:ext cx="292104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3131"/>
                </a:solidFill>
                <a:latin typeface="Telegraf Medium"/>
                <a:ea typeface="Telegraf Medium"/>
              </a:rPr>
              <a:t>⚠  </a:t>
            </a:r>
            <a:r>
              <a:rPr b="1" lang="en-US" sz="3000" spc="-1" strike="noStrike">
                <a:solidFill>
                  <a:srgbClr val="ff3131"/>
                </a:solidFill>
                <a:latin typeface="Telegraf Medium"/>
                <a:ea typeface="Telegraf Medium"/>
              </a:rPr>
              <a:t>Impact réel : </a:t>
            </a:r>
            <a:endParaRPr b="0" lang="fr-FR" sz="3000" spc="-1" strike="noStrike">
              <a:solidFill>
                <a:srgbClr val="ffffff"/>
              </a:solidFill>
              <a:latin typeface="Arial"/>
            </a:endParaRPr>
          </a:p>
        </p:txBody>
      </p:sp>
      <p:sp>
        <p:nvSpPr>
          <p:cNvPr id="501" name="TextBox 15"/>
          <p:cNvSpPr/>
          <p:nvPr/>
        </p:nvSpPr>
        <p:spPr>
          <a:xfrm>
            <a:off x="4316040" y="8389800"/>
            <a:ext cx="12234600" cy="648360"/>
          </a:xfrm>
          <a:prstGeom prst="rect">
            <a:avLst/>
          </a:prstGeom>
          <a:noFill/>
          <a:ln w="0">
            <a:noFill/>
          </a:ln>
        </p:spPr>
        <p:style>
          <a:lnRef idx="0"/>
          <a:fillRef idx="0"/>
          <a:effectRef idx="0"/>
          <a:fontRef idx="minor"/>
        </p:style>
        <p:txBody>
          <a:bodyPr lIns="0" rIns="0" tIns="0" bIns="0" anchor="t">
            <a:spAutoFit/>
          </a:bodyPr>
          <a:p>
            <a:pPr algn="ctr" defTabSz="914400">
              <a:lnSpc>
                <a:spcPts val="2551"/>
              </a:lnSpc>
            </a:pPr>
            <a:r>
              <a:rPr b="1" lang="en-US" sz="2200" spc="-1" strike="noStrike">
                <a:solidFill>
                  <a:srgbClr val="ffffff"/>
                </a:solidFill>
                <a:latin typeface="Telegraf Medium"/>
                <a:ea typeface="Telegraf Medium"/>
              </a:rPr>
              <a:t>Le botnet Mirai (2016) a compromis 600 000 caméras IP via Telnet non chiffré. Attaque DDoS résultante : 1.2 Tbps — record mondial à l'époque.</a:t>
            </a:r>
            <a:endParaRPr b="0" lang="fr-FR" sz="2200" spc="-1" strike="noStrike">
              <a:solidFill>
                <a:srgbClr val="ffffff"/>
              </a:solidFill>
              <a:latin typeface="Arial"/>
            </a:endParaRPr>
          </a:p>
        </p:txBody>
      </p:sp>
      <p:sp>
        <p:nvSpPr>
          <p:cNvPr id="502" name="Freeform 16"/>
          <p:cNvSpPr/>
          <p:nvPr/>
        </p:nvSpPr>
        <p:spPr>
          <a:xfrm>
            <a:off x="1028880" y="5255280"/>
            <a:ext cx="6473880" cy="2774160"/>
          </a:xfrm>
          <a:custGeom>
            <a:avLst/>
            <a:gdLst>
              <a:gd name="textAreaLeft" fmla="*/ 0 w 6473880"/>
              <a:gd name="textAreaRight" fmla="*/ 6474240 w 6473880"/>
              <a:gd name="textAreaTop" fmla="*/ 0 h 2774160"/>
              <a:gd name="textAreaBottom" fmla="*/ 2774520 h 2774160"/>
            </a:gdLst>
            <a:ahLst/>
            <a:rect l="textAreaLeft" t="textAreaTop" r="textAreaRight" b="textAreaBottom"/>
            <a:pathLst>
              <a:path w="6474198" h="2774656">
                <a:moveTo>
                  <a:pt x="0" y="0"/>
                </a:moveTo>
                <a:lnTo>
                  <a:pt x="6474198" y="0"/>
                </a:lnTo>
                <a:lnTo>
                  <a:pt x="6474198" y="2774656"/>
                </a:lnTo>
                <a:lnTo>
                  <a:pt x="0" y="2774656"/>
                </a:lnTo>
                <a:lnTo>
                  <a:pt x="0" y="0"/>
                </a:lnTo>
                <a:close/>
              </a:path>
            </a:pathLst>
          </a:custGeom>
          <a:blipFill rotWithShape="0">
            <a:blip r:embed="rId8"/>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03" name="TextBox 17"/>
          <p:cNvSpPr/>
          <p:nvPr/>
        </p:nvSpPr>
        <p:spPr>
          <a:xfrm>
            <a:off x="1436040" y="5789520"/>
            <a:ext cx="5760360" cy="1780560"/>
          </a:xfrm>
          <a:prstGeom prst="rect">
            <a:avLst/>
          </a:prstGeom>
          <a:noFill/>
          <a:ln w="0">
            <a:noFill/>
          </a:ln>
        </p:spPr>
        <p:style>
          <a:lnRef idx="0"/>
          <a:fillRef idx="0"/>
          <a:effectRef idx="0"/>
          <a:fontRef idx="minor"/>
        </p:style>
        <p:txBody>
          <a:bodyPr lIns="0" rIns="0" tIns="0" bIns="0" anchor="t">
            <a:spAutoFit/>
          </a:bodyPr>
          <a:p>
            <a:pPr algn="ctr" defTabSz="914400">
              <a:lnSpc>
                <a:spcPts val="3546"/>
              </a:lnSpc>
            </a:pPr>
            <a:r>
              <a:rPr b="1" lang="en-US" sz="3060" spc="-1" strike="noStrike">
                <a:solidFill>
                  <a:srgbClr val="ff3131"/>
                </a:solidFill>
                <a:latin typeface="Telegraf Medium"/>
                <a:ea typeface="Telegraf Medium"/>
              </a:rPr>
              <a:t>AVANT — Port 1883 (sans TLS)</a:t>
            </a:r>
            <a:endParaRPr b="0" lang="fr-FR" sz="3060" spc="-1" strike="noStrike">
              <a:solidFill>
                <a:srgbClr val="ffffff"/>
              </a:solidFill>
              <a:latin typeface="Arial"/>
            </a:endParaRPr>
          </a:p>
          <a:p>
            <a:pPr algn="ctr" defTabSz="914400">
              <a:lnSpc>
                <a:spcPts val="2619"/>
              </a:lnSpc>
            </a:pPr>
            <a:r>
              <a:rPr b="1" lang="en-US" sz="2260" spc="-1" strike="noStrike">
                <a:solidFill>
                  <a:srgbClr val="000000"/>
                </a:solidFill>
                <a:latin typeface="Telegraf Medium"/>
                <a:ea typeface="Telegraf Medium"/>
              </a:rPr>
              <a:t>Le trafic (température, mot de passe du capteur) circule</a:t>
            </a:r>
            <a:endParaRPr b="0" lang="fr-FR" sz="2260" spc="-1" strike="noStrike">
              <a:solidFill>
                <a:srgbClr val="ffffff"/>
              </a:solidFill>
              <a:latin typeface="Arial"/>
            </a:endParaRPr>
          </a:p>
          <a:p>
            <a:pPr algn="ctr" defTabSz="914400">
              <a:lnSpc>
                <a:spcPts val="2619"/>
              </a:lnSpc>
            </a:pPr>
            <a:r>
              <a:rPr b="1" lang="en-US" sz="2260" spc="-1" strike="noStrike">
                <a:solidFill>
                  <a:srgbClr val="000000"/>
                </a:solidFill>
                <a:latin typeface="Telegraf Medium"/>
                <a:ea typeface="Telegraf Medium"/>
              </a:rPr>
              <a:t>en clair : n'importe qui sur le réseau peut l'intercepter.</a:t>
            </a:r>
            <a:endParaRPr b="0" lang="fr-FR" sz="2260" spc="-1" strike="noStrike">
              <a:solidFill>
                <a:srgbClr val="ffffff"/>
              </a:solidFill>
              <a:latin typeface="Arial"/>
            </a:endParaRPr>
          </a:p>
        </p:txBody>
      </p:sp>
      <p:sp>
        <p:nvSpPr>
          <p:cNvPr id="504" name="Freeform 18"/>
          <p:cNvSpPr/>
          <p:nvPr/>
        </p:nvSpPr>
        <p:spPr>
          <a:xfrm>
            <a:off x="9144000" y="5255280"/>
            <a:ext cx="6734880" cy="2886120"/>
          </a:xfrm>
          <a:custGeom>
            <a:avLst/>
            <a:gdLst>
              <a:gd name="textAreaLeft" fmla="*/ 0 w 6734880"/>
              <a:gd name="textAreaRight" fmla="*/ 6735240 w 6734880"/>
              <a:gd name="textAreaTop" fmla="*/ 0 h 2886120"/>
              <a:gd name="textAreaBottom" fmla="*/ 2886480 h 2886120"/>
            </a:gdLst>
            <a:ahLst/>
            <a:rect l="textAreaLeft" t="textAreaTop" r="textAreaRight" b="textAreaBottom"/>
            <a:pathLst>
              <a:path w="6735332" h="2886571">
                <a:moveTo>
                  <a:pt x="0" y="0"/>
                </a:moveTo>
                <a:lnTo>
                  <a:pt x="6735332" y="0"/>
                </a:lnTo>
                <a:lnTo>
                  <a:pt x="6735332" y="2886571"/>
                </a:lnTo>
                <a:lnTo>
                  <a:pt x="0" y="2886571"/>
                </a:lnTo>
                <a:lnTo>
                  <a:pt x="0" y="0"/>
                </a:lnTo>
                <a:close/>
              </a:path>
            </a:pathLst>
          </a:custGeom>
          <a:blipFill rotWithShape="0">
            <a:blip r:embed="rId9"/>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05" name="TextBox 19"/>
          <p:cNvSpPr/>
          <p:nvPr/>
        </p:nvSpPr>
        <p:spPr>
          <a:xfrm>
            <a:off x="9513720" y="5864040"/>
            <a:ext cx="5760360" cy="1780560"/>
          </a:xfrm>
          <a:prstGeom prst="rect">
            <a:avLst/>
          </a:prstGeom>
          <a:noFill/>
          <a:ln w="0">
            <a:noFill/>
          </a:ln>
        </p:spPr>
        <p:style>
          <a:lnRef idx="0"/>
          <a:fillRef idx="0"/>
          <a:effectRef idx="0"/>
          <a:fontRef idx="minor"/>
        </p:style>
        <p:txBody>
          <a:bodyPr lIns="0" rIns="0" tIns="0" bIns="0" anchor="t">
            <a:spAutoFit/>
          </a:bodyPr>
          <a:p>
            <a:pPr algn="ctr" defTabSz="914400">
              <a:lnSpc>
                <a:spcPts val="3546"/>
              </a:lnSpc>
            </a:pPr>
            <a:r>
              <a:rPr b="1" lang="en-US" sz="3060" spc="-1" strike="noStrike">
                <a:solidFill>
                  <a:srgbClr val="10bb82"/>
                </a:solidFill>
                <a:latin typeface="Telegraf Medium"/>
                <a:ea typeface="Telegraf Medium"/>
              </a:rPr>
              <a:t>APRÈS — Port 8883 (TLS)</a:t>
            </a:r>
            <a:endParaRPr b="0" lang="fr-FR" sz="3060" spc="-1" strike="noStrike">
              <a:solidFill>
                <a:srgbClr val="ffffff"/>
              </a:solidFill>
              <a:latin typeface="Arial"/>
            </a:endParaRPr>
          </a:p>
          <a:p>
            <a:pPr algn="ctr" defTabSz="914400">
              <a:lnSpc>
                <a:spcPts val="2619"/>
              </a:lnSpc>
            </a:pPr>
            <a:r>
              <a:rPr b="1" lang="en-US" sz="2260" spc="-1" strike="noStrike">
                <a:solidFill>
                  <a:srgbClr val="000000"/>
                </a:solidFill>
                <a:latin typeface="Telegraf Medium"/>
                <a:ea typeface="Telegraf Medium"/>
              </a:rPr>
              <a:t>Même trafic chiffré : illisible sans la clé privée.</a:t>
            </a:r>
            <a:endParaRPr b="0" lang="fr-FR" sz="2260" spc="-1" strike="noStrike">
              <a:solidFill>
                <a:srgbClr val="ffffff"/>
              </a:solidFill>
              <a:latin typeface="Arial"/>
            </a:endParaRPr>
          </a:p>
          <a:p>
            <a:pPr algn="ctr" defTabSz="914400">
              <a:lnSpc>
                <a:spcPts val="2619"/>
              </a:lnSpc>
            </a:pPr>
            <a:r>
              <a:rPr b="1" lang="en-US" sz="2260" spc="-1" strike="noStrike">
                <a:solidFill>
                  <a:srgbClr val="000000"/>
                </a:solidFill>
                <a:latin typeface="Telegraf Medium"/>
                <a:ea typeface="Telegraf Medium"/>
              </a:rPr>
              <a:t>Le contraste avant/après est démontré en direct au terminal.</a:t>
            </a:r>
            <a:endParaRPr b="0" lang="fr-FR" sz="2260" spc="-1" strike="noStrike">
              <a:solidFill>
                <a:srgbClr val="ffffff"/>
              </a:solidFill>
              <a:latin typeface="Arial"/>
            </a:endParaRPr>
          </a:p>
        </p:txBody>
      </p:sp>
      <p:sp>
        <p:nvSpPr>
          <p:cNvPr id="506" name="Freeform 20"/>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10">
              <a:extLst>
                <a:ext uri="{96DAC541-7B7A-43D3-8B79-37D633B846F1}">
                  <asvg:svgBlip xmlns:asvg="http://schemas.microsoft.com/office/drawing/2016/SVG/main" r:embed="rId11"/>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507" name="Freeform 2"/>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08" name="TextBox 3"/>
          <p:cNvSpPr/>
          <p:nvPr/>
        </p:nvSpPr>
        <p:spPr>
          <a:xfrm>
            <a:off x="1436040" y="796680"/>
            <a:ext cx="1392624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Démo 2 — Vulnérabilité JWT : Algorithme 'none'</a:t>
            </a:r>
            <a:endParaRPr b="0" lang="fr-FR" sz="5000" spc="-1" strike="noStrike">
              <a:solidFill>
                <a:srgbClr val="ffffff"/>
              </a:solidFill>
              <a:latin typeface="Arial"/>
            </a:endParaRPr>
          </a:p>
        </p:txBody>
      </p:sp>
      <p:sp>
        <p:nvSpPr>
          <p:cNvPr id="509" name="TextBox 4"/>
          <p:cNvSpPr/>
          <p:nvPr/>
        </p:nvSpPr>
        <p:spPr>
          <a:xfrm>
            <a:off x="596880" y="2081880"/>
            <a:ext cx="1738440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ffff"/>
                </a:solidFill>
                <a:latin typeface="Telegraf Medium"/>
                <a:ea typeface="Telegraf Medium"/>
              </a:rPr>
              <a:t>Principe : certaines APIs acceptent un JWT avec alg:"none" — sans vérification de signature !</a:t>
            </a:r>
            <a:endParaRPr b="0" lang="fr-FR" sz="3000" spc="-1" strike="noStrike">
              <a:solidFill>
                <a:srgbClr val="ffffff"/>
              </a:solidFill>
              <a:latin typeface="Arial"/>
            </a:endParaRPr>
          </a:p>
        </p:txBody>
      </p:sp>
      <p:sp>
        <p:nvSpPr>
          <p:cNvPr id="510" name="Freeform 5"/>
          <p:cNvSpPr/>
          <p:nvPr/>
        </p:nvSpPr>
        <p:spPr>
          <a:xfrm>
            <a:off x="1226880" y="3756240"/>
            <a:ext cx="7446960" cy="3191400"/>
          </a:xfrm>
          <a:custGeom>
            <a:avLst/>
            <a:gdLst>
              <a:gd name="textAreaLeft" fmla="*/ 0 w 7446960"/>
              <a:gd name="textAreaRight" fmla="*/ 7447320 w 7446960"/>
              <a:gd name="textAreaTop" fmla="*/ 0 h 3191400"/>
              <a:gd name="textAreaBottom" fmla="*/ 3191760 h 3191400"/>
            </a:gdLst>
            <a:ahLst/>
            <a:rect l="textAreaLeft" t="textAreaTop" r="textAreaRight" b="textAreaBottom"/>
            <a:pathLst>
              <a:path w="7447229" h="3191670">
                <a:moveTo>
                  <a:pt x="0" y="0"/>
                </a:moveTo>
                <a:lnTo>
                  <a:pt x="7447229" y="0"/>
                </a:lnTo>
                <a:lnTo>
                  <a:pt x="7447229" y="3191670"/>
                </a:lnTo>
                <a:lnTo>
                  <a:pt x="0" y="319167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11" name="Freeform 6"/>
          <p:cNvSpPr/>
          <p:nvPr/>
        </p:nvSpPr>
        <p:spPr>
          <a:xfrm>
            <a:off x="9584640" y="3802680"/>
            <a:ext cx="7338600" cy="3144960"/>
          </a:xfrm>
          <a:custGeom>
            <a:avLst/>
            <a:gdLst>
              <a:gd name="textAreaLeft" fmla="*/ 0 w 7338600"/>
              <a:gd name="textAreaRight" fmla="*/ 7338960 w 7338600"/>
              <a:gd name="textAreaTop" fmla="*/ 0 h 3144960"/>
              <a:gd name="textAreaBottom" fmla="*/ 3145320 h 3144960"/>
            </a:gdLst>
            <a:ahLst/>
            <a:rect l="textAreaLeft" t="textAreaTop" r="textAreaRight" b="textAreaBottom"/>
            <a:pathLst>
              <a:path w="7338825" h="3145211">
                <a:moveTo>
                  <a:pt x="0" y="0"/>
                </a:moveTo>
                <a:lnTo>
                  <a:pt x="7338824" y="0"/>
                </a:lnTo>
                <a:lnTo>
                  <a:pt x="7338824" y="3145211"/>
                </a:lnTo>
                <a:lnTo>
                  <a:pt x="0" y="3145211"/>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12" name="TextBox 7"/>
          <p:cNvSpPr/>
          <p:nvPr/>
        </p:nvSpPr>
        <p:spPr>
          <a:xfrm>
            <a:off x="1511280" y="4181400"/>
            <a:ext cx="6887520" cy="228276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ff3131"/>
                </a:solidFill>
                <a:latin typeface="Telegraf Medium"/>
                <a:ea typeface="Telegraf Medium"/>
              </a:rPr>
              <a:t>Exploit — JWT forgé</a:t>
            </a:r>
            <a:endParaRPr b="0" lang="fr-FR" sz="3500" spc="-1" strike="noStrike">
              <a:solidFill>
                <a:srgbClr val="ffffff"/>
              </a:solidFill>
              <a:latin typeface="Arial"/>
            </a:endParaRPr>
          </a:p>
          <a:p>
            <a:pPr algn="ctr" defTabSz="914400">
              <a:lnSpc>
                <a:spcPts val="3478"/>
              </a:lnSpc>
            </a:pPr>
            <a:r>
              <a:rPr b="0" lang="en-US" sz="3000" spc="-1" strike="noStrike">
                <a:solidFill>
                  <a:srgbClr val="000000"/>
                </a:solidFill>
                <a:latin typeface="Telegraf"/>
                <a:ea typeface="Telegraf"/>
              </a:rPr>
              <a:t>Un token avec alg: none et role: admin, généré sans</a:t>
            </a:r>
            <a:endParaRPr b="0" lang="fr-FR" sz="3000" spc="-1" strike="noStrike">
              <a:solidFill>
                <a:srgbClr val="ffffff"/>
              </a:solidFill>
              <a:latin typeface="Arial"/>
            </a:endParaRPr>
          </a:p>
          <a:p>
            <a:pPr algn="ctr" defTabSz="914400">
              <a:lnSpc>
                <a:spcPts val="3478"/>
              </a:lnSpc>
            </a:pPr>
            <a:r>
              <a:rPr b="0" lang="en-US" sz="3000" spc="-1" strike="noStrike">
                <a:solidFill>
                  <a:srgbClr val="000000"/>
                </a:solidFill>
                <a:latin typeface="Telegraf"/>
                <a:ea typeface="Telegraf"/>
              </a:rPr>
              <a:t>aucune signature — syntaxiquement valide.</a:t>
            </a:r>
            <a:endParaRPr b="0" lang="fr-FR" sz="3000" spc="-1" strike="noStrike">
              <a:solidFill>
                <a:srgbClr val="ffffff"/>
              </a:solidFill>
              <a:latin typeface="Arial"/>
            </a:endParaRPr>
          </a:p>
        </p:txBody>
      </p:sp>
      <p:sp>
        <p:nvSpPr>
          <p:cNvPr id="513" name="TextBox 8"/>
          <p:cNvSpPr/>
          <p:nvPr/>
        </p:nvSpPr>
        <p:spPr>
          <a:xfrm>
            <a:off x="9740880" y="4204440"/>
            <a:ext cx="6887520" cy="2282760"/>
          </a:xfrm>
          <a:prstGeom prst="rect">
            <a:avLst/>
          </a:prstGeom>
          <a:noFill/>
          <a:ln w="0">
            <a:noFill/>
          </a:ln>
        </p:spPr>
        <p:style>
          <a:lnRef idx="0"/>
          <a:fillRef idx="0"/>
          <a:effectRef idx="0"/>
          <a:fontRef idx="minor"/>
        </p:style>
        <p:txBody>
          <a:bodyPr lIns="0" rIns="0" tIns="0" bIns="0" anchor="t">
            <a:spAutoFit/>
          </a:bodyPr>
          <a:p>
            <a:pPr algn="ctr" defTabSz="914400">
              <a:lnSpc>
                <a:spcPts val="4059"/>
              </a:lnSpc>
            </a:pPr>
            <a:r>
              <a:rPr b="1" lang="en-US" sz="3500" spc="-1" strike="noStrike">
                <a:solidFill>
                  <a:srgbClr val="00bf63"/>
                </a:solidFill>
                <a:latin typeface="Telegraf Medium"/>
                <a:ea typeface="Telegraf Medium"/>
              </a:rPr>
              <a:t>Correction — validation stricte</a:t>
            </a:r>
            <a:endParaRPr b="0" lang="fr-FR" sz="3500" spc="-1" strike="noStrike">
              <a:solidFill>
                <a:srgbClr val="ffffff"/>
              </a:solidFill>
              <a:latin typeface="Arial"/>
            </a:endParaRPr>
          </a:p>
          <a:p>
            <a:pPr algn="ctr" defTabSz="914400">
              <a:lnSpc>
                <a:spcPts val="3478"/>
              </a:lnSpc>
            </a:pPr>
            <a:r>
              <a:rPr b="0" lang="en-US" sz="3000" spc="-1" strike="noStrike">
                <a:solidFill>
                  <a:srgbClr val="000000"/>
                </a:solidFill>
                <a:latin typeface="Telegraf"/>
                <a:ea typeface="Telegraf"/>
              </a:rPr>
              <a:t>Le serveur corrigé exige un algorithme signé (HS256)</a:t>
            </a:r>
            <a:endParaRPr b="0" lang="fr-FR" sz="3000" spc="-1" strike="noStrike">
              <a:solidFill>
                <a:srgbClr val="ffffff"/>
              </a:solidFill>
              <a:latin typeface="Arial"/>
            </a:endParaRPr>
          </a:p>
          <a:p>
            <a:pPr algn="ctr" defTabSz="914400">
              <a:lnSpc>
                <a:spcPts val="3478"/>
              </a:lnSpc>
            </a:pPr>
            <a:r>
              <a:rPr b="0" lang="en-US" sz="3000" spc="-1" strike="noStrike">
                <a:solidFill>
                  <a:srgbClr val="000000"/>
                </a:solidFill>
                <a:latin typeface="Telegraf"/>
                <a:ea typeface="Telegraf"/>
              </a:rPr>
              <a:t>et rejette immédiatement le token forgé.</a:t>
            </a:r>
            <a:endParaRPr b="0" lang="fr-FR" sz="3000" spc="-1" strike="noStrike">
              <a:solidFill>
                <a:srgbClr val="ffffff"/>
              </a:solidFill>
              <a:latin typeface="Arial"/>
            </a:endParaRPr>
          </a:p>
        </p:txBody>
      </p:sp>
      <p:sp>
        <p:nvSpPr>
          <p:cNvPr id="514" name="TextBox 9"/>
          <p:cNvSpPr/>
          <p:nvPr/>
        </p:nvSpPr>
        <p:spPr>
          <a:xfrm>
            <a:off x="1359000" y="7342920"/>
            <a:ext cx="106102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  </a:t>
            </a:r>
            <a:r>
              <a:rPr b="1" lang="en-US" sz="2500" spc="-1" strike="noStrike">
                <a:solidFill>
                  <a:srgbClr val="ffffff"/>
                </a:solidFill>
                <a:latin typeface="Telegraf Medium"/>
                <a:ea typeface="Telegraf Medium"/>
              </a:rPr>
              <a:t>Utiliser RS256 ou ES256 (jamais 'none' ou HS256 avec secret faible)</a:t>
            </a:r>
            <a:endParaRPr b="0" lang="fr-FR" sz="2500" spc="-1" strike="noStrike">
              <a:solidFill>
                <a:srgbClr val="ffffff"/>
              </a:solidFill>
              <a:latin typeface="Arial"/>
            </a:endParaRPr>
          </a:p>
        </p:txBody>
      </p:sp>
      <p:sp>
        <p:nvSpPr>
          <p:cNvPr id="515" name="TextBox 10"/>
          <p:cNvSpPr/>
          <p:nvPr/>
        </p:nvSpPr>
        <p:spPr>
          <a:xfrm>
            <a:off x="1359000" y="8232120"/>
            <a:ext cx="909036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  </a:t>
            </a:r>
            <a:r>
              <a:rPr b="1" lang="en-US" sz="2500" spc="-1" strike="noStrike">
                <a:solidFill>
                  <a:srgbClr val="ffffff"/>
                </a:solidFill>
                <a:latin typeface="Telegraf Medium"/>
                <a:ea typeface="Telegraf Medium"/>
              </a:rPr>
              <a:t>Toujours valider : exp, iss, aud, scope dans chaque requête</a:t>
            </a:r>
            <a:endParaRPr b="0" lang="fr-FR" sz="2500" spc="-1" strike="noStrike">
              <a:solidFill>
                <a:srgbClr val="ffffff"/>
              </a:solidFill>
              <a:latin typeface="Arial"/>
            </a:endParaRPr>
          </a:p>
        </p:txBody>
      </p:sp>
      <p:sp>
        <p:nvSpPr>
          <p:cNvPr id="516" name="TextBox 11"/>
          <p:cNvSpPr/>
          <p:nvPr/>
        </p:nvSpPr>
        <p:spPr>
          <a:xfrm>
            <a:off x="1359000" y="9120960"/>
            <a:ext cx="12372480" cy="73620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1" lang="en-US" sz="2500" spc="-1" strike="noStrike">
                <a:solidFill>
                  <a:srgbClr val="ffffff"/>
                </a:solidFill>
                <a:latin typeface="Telegraf Medium"/>
                <a:ea typeface="Telegraf Medium"/>
              </a:rPr>
              <a:t>✓  </a:t>
            </a:r>
            <a:r>
              <a:rPr b="1" lang="en-US" sz="2500" spc="-1" strike="noStrike">
                <a:solidFill>
                  <a:srgbClr val="ffffff"/>
                </a:solidFill>
                <a:latin typeface="Telegraf Medium"/>
                <a:ea typeface="Telegraf Medium"/>
              </a:rPr>
              <a:t>Rotation des clés privées tous les 90 jours, révocation immédiate si compromis</a:t>
            </a:r>
            <a:endParaRPr b="0" lang="fr-FR" sz="2500" spc="-1" strike="noStrike">
              <a:solidFill>
                <a:srgbClr val="ffffff"/>
              </a:solidFill>
              <a:latin typeface="Arial"/>
            </a:endParaRPr>
          </a:p>
        </p:txBody>
      </p:sp>
      <p:sp>
        <p:nvSpPr>
          <p:cNvPr id="517" name="Freeform 12"/>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518" name="Freeform 2"/>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19" name="Freeform 3"/>
          <p:cNvSpPr/>
          <p:nvPr/>
        </p:nvSpPr>
        <p:spPr>
          <a:xfrm>
            <a:off x="8751600" y="3679200"/>
            <a:ext cx="8541000" cy="1463760"/>
          </a:xfrm>
          <a:custGeom>
            <a:avLst/>
            <a:gdLst>
              <a:gd name="textAreaLeft" fmla="*/ 0 w 8541000"/>
              <a:gd name="textAreaRight" fmla="*/ 8541360 w 8541000"/>
              <a:gd name="textAreaTop" fmla="*/ 0 h 1463760"/>
              <a:gd name="textAreaBottom" fmla="*/ 1464120 h 1463760"/>
            </a:gdLst>
            <a:ahLst/>
            <a:rect l="textAreaLeft" t="textAreaTop" r="textAreaRight" b="textAreaBottom"/>
            <a:pathLst>
              <a:path w="8541217" h="1464209">
                <a:moveTo>
                  <a:pt x="0" y="0"/>
                </a:moveTo>
                <a:lnTo>
                  <a:pt x="8541216" y="0"/>
                </a:lnTo>
                <a:lnTo>
                  <a:pt x="8541216" y="1464209"/>
                </a:lnTo>
                <a:lnTo>
                  <a:pt x="0" y="1464209"/>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20" name="TextBox 4"/>
          <p:cNvSpPr/>
          <p:nvPr/>
        </p:nvSpPr>
        <p:spPr>
          <a:xfrm>
            <a:off x="1436040" y="796680"/>
            <a:ext cx="15663960" cy="73692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Démo 3 — Extraction &amp; Analyse de Firmware IoT</a:t>
            </a:r>
            <a:endParaRPr b="0" lang="fr-FR" sz="5000" spc="-1" strike="noStrike">
              <a:solidFill>
                <a:srgbClr val="ffffff"/>
              </a:solidFill>
              <a:latin typeface="Arial"/>
            </a:endParaRPr>
          </a:p>
        </p:txBody>
      </p:sp>
      <p:sp>
        <p:nvSpPr>
          <p:cNvPr id="521" name="TextBox 5"/>
          <p:cNvSpPr/>
          <p:nvPr/>
        </p:nvSpPr>
        <p:spPr>
          <a:xfrm>
            <a:off x="596880" y="2081880"/>
            <a:ext cx="1537992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bd59"/>
                </a:solidFill>
                <a:latin typeface="Telegraf Medium"/>
                <a:ea typeface="Telegraf Medium"/>
              </a:rPr>
              <a:t>Objectif : extraire des secrets (clés, mots de passe) d'un firmware binaire non protégé</a:t>
            </a:r>
            <a:endParaRPr b="0" lang="fr-FR" sz="3000" spc="-1" strike="noStrike">
              <a:solidFill>
                <a:srgbClr val="ffffff"/>
              </a:solidFill>
              <a:latin typeface="Arial"/>
            </a:endParaRPr>
          </a:p>
        </p:txBody>
      </p:sp>
      <p:sp>
        <p:nvSpPr>
          <p:cNvPr id="522" name="TextBox 6"/>
          <p:cNvSpPr/>
          <p:nvPr/>
        </p:nvSpPr>
        <p:spPr>
          <a:xfrm>
            <a:off x="9448560" y="3113640"/>
            <a:ext cx="65246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Contre-mesures firmware</a:t>
            </a:r>
            <a:endParaRPr b="0" lang="fr-FR" sz="3000" spc="-1" strike="noStrike">
              <a:solidFill>
                <a:srgbClr val="ffffff"/>
              </a:solidFill>
              <a:latin typeface="Arial"/>
            </a:endParaRPr>
          </a:p>
        </p:txBody>
      </p:sp>
      <p:sp>
        <p:nvSpPr>
          <p:cNvPr id="523" name="Freeform 7"/>
          <p:cNvSpPr/>
          <p:nvPr/>
        </p:nvSpPr>
        <p:spPr>
          <a:xfrm>
            <a:off x="8771760" y="4851360"/>
            <a:ext cx="8487000" cy="1454760"/>
          </a:xfrm>
          <a:custGeom>
            <a:avLst/>
            <a:gdLst>
              <a:gd name="textAreaLeft" fmla="*/ 0 w 8487000"/>
              <a:gd name="textAreaRight" fmla="*/ 8487360 w 8487000"/>
              <a:gd name="textAreaTop" fmla="*/ 0 h 1454760"/>
              <a:gd name="textAreaBottom" fmla="*/ 1455120 h 1454760"/>
            </a:gdLst>
            <a:ahLst/>
            <a:rect l="textAreaLeft" t="textAreaTop" r="textAreaRight" b="textAreaBottom"/>
            <a:pathLst>
              <a:path w="8487516" h="1455003">
                <a:moveTo>
                  <a:pt x="0" y="0"/>
                </a:moveTo>
                <a:lnTo>
                  <a:pt x="8487516" y="0"/>
                </a:lnTo>
                <a:lnTo>
                  <a:pt x="8487516" y="1455003"/>
                </a:lnTo>
                <a:lnTo>
                  <a:pt x="0" y="1455003"/>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24" name="Freeform 8"/>
          <p:cNvSpPr/>
          <p:nvPr/>
        </p:nvSpPr>
        <p:spPr>
          <a:xfrm>
            <a:off x="8791920" y="6180480"/>
            <a:ext cx="8548560" cy="1465200"/>
          </a:xfrm>
          <a:custGeom>
            <a:avLst/>
            <a:gdLst>
              <a:gd name="textAreaLeft" fmla="*/ 0 w 8548560"/>
              <a:gd name="textAreaRight" fmla="*/ 8548920 w 8548560"/>
              <a:gd name="textAreaTop" fmla="*/ 0 h 1465200"/>
              <a:gd name="textAreaBottom" fmla="*/ 1465560 h 1465200"/>
            </a:gdLst>
            <a:ahLst/>
            <a:rect l="textAreaLeft" t="textAreaTop" r="textAreaRight" b="textAreaBottom"/>
            <a:pathLst>
              <a:path w="8549042" h="1465550">
                <a:moveTo>
                  <a:pt x="0" y="0"/>
                </a:moveTo>
                <a:lnTo>
                  <a:pt x="8549043" y="0"/>
                </a:lnTo>
                <a:lnTo>
                  <a:pt x="8549043" y="1465550"/>
                </a:lnTo>
                <a:lnTo>
                  <a:pt x="0" y="1465550"/>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25" name="Freeform 9"/>
          <p:cNvSpPr/>
          <p:nvPr/>
        </p:nvSpPr>
        <p:spPr>
          <a:xfrm>
            <a:off x="8812080" y="7526160"/>
            <a:ext cx="8528400" cy="1461600"/>
          </a:xfrm>
          <a:custGeom>
            <a:avLst/>
            <a:gdLst>
              <a:gd name="textAreaLeft" fmla="*/ 0 w 8528400"/>
              <a:gd name="textAreaRight" fmla="*/ 8528760 w 8528400"/>
              <a:gd name="textAreaTop" fmla="*/ 0 h 1461600"/>
              <a:gd name="textAreaBottom" fmla="*/ 1461960 h 1461600"/>
            </a:gdLst>
            <a:ahLst/>
            <a:rect l="textAreaLeft" t="textAreaTop" r="textAreaRight" b="textAreaBottom"/>
            <a:pathLst>
              <a:path w="8528811" h="1462082">
                <a:moveTo>
                  <a:pt x="0" y="0"/>
                </a:moveTo>
                <a:lnTo>
                  <a:pt x="8528811" y="0"/>
                </a:lnTo>
                <a:lnTo>
                  <a:pt x="8528811" y="1462081"/>
                </a:lnTo>
                <a:lnTo>
                  <a:pt x="0" y="1462081"/>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26" name="TextBox 10"/>
          <p:cNvSpPr/>
          <p:nvPr/>
        </p:nvSpPr>
        <p:spPr>
          <a:xfrm>
            <a:off x="8918280" y="3856320"/>
            <a:ext cx="2405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Secure Boot</a:t>
            </a:r>
            <a:endParaRPr b="0" lang="fr-FR" sz="3000" spc="-1" strike="noStrike">
              <a:solidFill>
                <a:srgbClr val="ffffff"/>
              </a:solidFill>
              <a:latin typeface="Arial"/>
            </a:endParaRPr>
          </a:p>
        </p:txBody>
      </p:sp>
      <p:sp>
        <p:nvSpPr>
          <p:cNvPr id="527" name="TextBox 11"/>
          <p:cNvSpPr/>
          <p:nvPr/>
        </p:nvSpPr>
        <p:spPr>
          <a:xfrm>
            <a:off x="9144000" y="4426200"/>
            <a:ext cx="4466160" cy="353160"/>
          </a:xfrm>
          <a:prstGeom prst="rect">
            <a:avLst/>
          </a:prstGeom>
          <a:noFill/>
          <a:ln w="0">
            <a:noFill/>
          </a:ln>
        </p:spPr>
        <p:style>
          <a:lnRef idx="0"/>
          <a:fillRef idx="0"/>
          <a:effectRef idx="0"/>
          <a:fontRef idx="minor"/>
        </p:style>
        <p:txBody>
          <a:bodyPr lIns="0" rIns="0" tIns="0" bIns="0" anchor="t">
            <a:spAutoFit/>
          </a:bodyPr>
          <a:p>
            <a:pPr algn="ctr" defTabSz="914400">
              <a:lnSpc>
                <a:spcPts val="1392"/>
              </a:lnSpc>
            </a:pPr>
            <a:r>
              <a:rPr b="1" lang="en-US" sz="1200" spc="-1" strike="noStrike">
                <a:solidFill>
                  <a:srgbClr val="000000"/>
                </a:solidFill>
                <a:latin typeface="Telegraf Medium"/>
                <a:ea typeface="Telegraf Medium"/>
              </a:rPr>
              <a:t>Vérification signature avant exécution (TPM / Secure Enclave)</a:t>
            </a:r>
            <a:endParaRPr b="0" lang="fr-FR" sz="1200" spc="-1" strike="noStrike">
              <a:solidFill>
                <a:srgbClr val="ffffff"/>
              </a:solidFill>
              <a:latin typeface="Arial"/>
            </a:endParaRPr>
          </a:p>
        </p:txBody>
      </p:sp>
      <p:sp>
        <p:nvSpPr>
          <p:cNvPr id="528" name="TextBox 12"/>
          <p:cNvSpPr/>
          <p:nvPr/>
        </p:nvSpPr>
        <p:spPr>
          <a:xfrm>
            <a:off x="8971560" y="5167080"/>
            <a:ext cx="4123440" cy="883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Chiffrement firmware</a:t>
            </a:r>
            <a:endParaRPr b="0" lang="fr-FR" sz="3000" spc="-1" strike="noStrike">
              <a:solidFill>
                <a:srgbClr val="ffffff"/>
              </a:solidFill>
              <a:latin typeface="Arial"/>
            </a:endParaRPr>
          </a:p>
        </p:txBody>
      </p:sp>
      <p:sp>
        <p:nvSpPr>
          <p:cNvPr id="529" name="TextBox 13"/>
          <p:cNvSpPr/>
          <p:nvPr/>
        </p:nvSpPr>
        <p:spPr>
          <a:xfrm>
            <a:off x="8615160" y="6421680"/>
            <a:ext cx="328644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Obfuscation</a:t>
            </a:r>
            <a:endParaRPr b="0" lang="fr-FR" sz="3000" spc="-1" strike="noStrike">
              <a:solidFill>
                <a:srgbClr val="ffffff"/>
              </a:solidFill>
              <a:latin typeface="Arial"/>
            </a:endParaRPr>
          </a:p>
        </p:txBody>
      </p:sp>
      <p:sp>
        <p:nvSpPr>
          <p:cNvPr id="530" name="TextBox 14"/>
          <p:cNvSpPr/>
          <p:nvPr/>
        </p:nvSpPr>
        <p:spPr>
          <a:xfrm>
            <a:off x="9015120" y="7693560"/>
            <a:ext cx="350676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Secrets Manager</a:t>
            </a:r>
            <a:endParaRPr b="0" lang="fr-FR" sz="3000" spc="-1" strike="noStrike">
              <a:solidFill>
                <a:srgbClr val="ffffff"/>
              </a:solidFill>
              <a:latin typeface="Arial"/>
            </a:endParaRPr>
          </a:p>
        </p:txBody>
      </p:sp>
      <p:sp>
        <p:nvSpPr>
          <p:cNvPr id="531" name="TextBox 15"/>
          <p:cNvSpPr/>
          <p:nvPr/>
        </p:nvSpPr>
        <p:spPr>
          <a:xfrm>
            <a:off x="9024840" y="5745240"/>
            <a:ext cx="4466160" cy="177120"/>
          </a:xfrm>
          <a:prstGeom prst="rect">
            <a:avLst/>
          </a:prstGeom>
          <a:noFill/>
          <a:ln w="0">
            <a:noFill/>
          </a:ln>
        </p:spPr>
        <p:style>
          <a:lnRef idx="0"/>
          <a:fillRef idx="0"/>
          <a:effectRef idx="0"/>
          <a:fontRef idx="minor"/>
        </p:style>
        <p:txBody>
          <a:bodyPr lIns="0" rIns="0" tIns="0" bIns="0" anchor="t">
            <a:spAutoFit/>
          </a:bodyPr>
          <a:p>
            <a:pPr algn="ctr" defTabSz="914400">
              <a:lnSpc>
                <a:spcPts val="1392"/>
              </a:lnSpc>
            </a:pPr>
            <a:r>
              <a:rPr b="1" lang="en-US" sz="1200" spc="-1" strike="noStrike">
                <a:solidFill>
                  <a:srgbClr val="000000"/>
                </a:solidFill>
                <a:latin typeface="Telegraf Medium"/>
                <a:ea typeface="Telegraf Medium"/>
              </a:rPr>
              <a:t>Clé stockée dans HSM ou eFuse — jamais dans le code</a:t>
            </a:r>
            <a:endParaRPr b="0" lang="fr-FR" sz="1200" spc="-1" strike="noStrike">
              <a:solidFill>
                <a:srgbClr val="ffffff"/>
              </a:solidFill>
              <a:latin typeface="Arial"/>
            </a:endParaRPr>
          </a:p>
        </p:txBody>
      </p:sp>
      <p:sp>
        <p:nvSpPr>
          <p:cNvPr id="532" name="TextBox 16"/>
          <p:cNvSpPr/>
          <p:nvPr/>
        </p:nvSpPr>
        <p:spPr>
          <a:xfrm>
            <a:off x="9090720" y="7008480"/>
            <a:ext cx="4840560" cy="353160"/>
          </a:xfrm>
          <a:prstGeom prst="rect">
            <a:avLst/>
          </a:prstGeom>
          <a:noFill/>
          <a:ln w="0">
            <a:noFill/>
          </a:ln>
        </p:spPr>
        <p:style>
          <a:lnRef idx="0"/>
          <a:fillRef idx="0"/>
          <a:effectRef idx="0"/>
          <a:fontRef idx="minor"/>
        </p:style>
        <p:txBody>
          <a:bodyPr lIns="0" rIns="0" tIns="0" bIns="0" anchor="t">
            <a:spAutoFit/>
          </a:bodyPr>
          <a:p>
            <a:pPr algn="ctr" defTabSz="914400">
              <a:lnSpc>
                <a:spcPts val="1392"/>
              </a:lnSpc>
            </a:pPr>
            <a:r>
              <a:rPr b="1" lang="en-US" sz="1200" spc="-1" strike="noStrike">
                <a:solidFill>
                  <a:srgbClr val="000000"/>
                </a:solidFill>
                <a:latin typeface="Telegraf Medium"/>
                <a:ea typeface="Telegraf Medium"/>
              </a:rPr>
              <a:t>Éviter les strings en clair — utiliser les variables d'env sécurisées</a:t>
            </a:r>
            <a:endParaRPr b="0" lang="fr-FR" sz="1200" spc="-1" strike="noStrike">
              <a:solidFill>
                <a:srgbClr val="ffffff"/>
              </a:solidFill>
              <a:latin typeface="Arial"/>
            </a:endParaRPr>
          </a:p>
        </p:txBody>
      </p:sp>
      <p:sp>
        <p:nvSpPr>
          <p:cNvPr id="533" name="TextBox 17"/>
          <p:cNvSpPr/>
          <p:nvPr/>
        </p:nvSpPr>
        <p:spPr>
          <a:xfrm>
            <a:off x="9197280" y="8271000"/>
            <a:ext cx="4734000" cy="353160"/>
          </a:xfrm>
          <a:prstGeom prst="rect">
            <a:avLst/>
          </a:prstGeom>
          <a:noFill/>
          <a:ln w="0">
            <a:noFill/>
          </a:ln>
        </p:spPr>
        <p:style>
          <a:lnRef idx="0"/>
          <a:fillRef idx="0"/>
          <a:effectRef idx="0"/>
          <a:fontRef idx="minor"/>
        </p:style>
        <p:txBody>
          <a:bodyPr lIns="0" rIns="0" tIns="0" bIns="0" anchor="t">
            <a:spAutoFit/>
          </a:bodyPr>
          <a:p>
            <a:pPr algn="ctr" defTabSz="914400">
              <a:lnSpc>
                <a:spcPts val="1392"/>
              </a:lnSpc>
            </a:pPr>
            <a:r>
              <a:rPr b="1" lang="en-US" sz="1200" spc="-1" strike="noStrike">
                <a:solidFill>
                  <a:srgbClr val="000000"/>
                </a:solidFill>
                <a:latin typeface="Telegraf Medium"/>
                <a:ea typeface="Telegraf Medium"/>
              </a:rPr>
              <a:t>AWS IoT Secrets Manager, HashiCorp Vault pour les credentials</a:t>
            </a:r>
            <a:endParaRPr b="0" lang="fr-FR" sz="1200" spc="-1" strike="noStrike">
              <a:solidFill>
                <a:srgbClr val="ffffff"/>
              </a:solidFill>
              <a:latin typeface="Arial"/>
            </a:endParaRPr>
          </a:p>
        </p:txBody>
      </p:sp>
      <p:sp>
        <p:nvSpPr>
          <p:cNvPr id="534" name="Freeform 18"/>
          <p:cNvSpPr/>
          <p:nvPr/>
        </p:nvSpPr>
        <p:spPr>
          <a:xfrm>
            <a:off x="8812080" y="8848440"/>
            <a:ext cx="8528400" cy="1461600"/>
          </a:xfrm>
          <a:custGeom>
            <a:avLst/>
            <a:gdLst>
              <a:gd name="textAreaLeft" fmla="*/ 0 w 8528400"/>
              <a:gd name="textAreaRight" fmla="*/ 8528760 w 8528400"/>
              <a:gd name="textAreaTop" fmla="*/ 0 h 1461600"/>
              <a:gd name="textAreaBottom" fmla="*/ 1461960 h 1461600"/>
            </a:gdLst>
            <a:ahLst/>
            <a:rect l="textAreaLeft" t="textAreaTop" r="textAreaRight" b="textAreaBottom"/>
            <a:pathLst>
              <a:path w="8528811" h="1462082">
                <a:moveTo>
                  <a:pt x="0" y="0"/>
                </a:moveTo>
                <a:lnTo>
                  <a:pt x="8528811" y="0"/>
                </a:lnTo>
                <a:lnTo>
                  <a:pt x="8528811" y="1462082"/>
                </a:lnTo>
                <a:lnTo>
                  <a:pt x="0" y="1462082"/>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35" name="TextBox 19"/>
          <p:cNvSpPr/>
          <p:nvPr/>
        </p:nvSpPr>
        <p:spPr>
          <a:xfrm>
            <a:off x="8961840" y="9026280"/>
            <a:ext cx="28681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10bb82"/>
                </a:solidFill>
                <a:latin typeface="Telegraf Medium"/>
                <a:ea typeface="Telegraf Medium"/>
              </a:rPr>
              <a:t>Analyse SAST</a:t>
            </a:r>
            <a:endParaRPr b="0" lang="fr-FR" sz="3000" spc="-1" strike="noStrike">
              <a:solidFill>
                <a:srgbClr val="ffffff"/>
              </a:solidFill>
              <a:latin typeface="Arial"/>
            </a:endParaRPr>
          </a:p>
        </p:txBody>
      </p:sp>
      <p:sp>
        <p:nvSpPr>
          <p:cNvPr id="536" name="TextBox 20"/>
          <p:cNvSpPr/>
          <p:nvPr/>
        </p:nvSpPr>
        <p:spPr>
          <a:xfrm>
            <a:off x="9043200" y="9546480"/>
            <a:ext cx="4466160" cy="177120"/>
          </a:xfrm>
          <a:prstGeom prst="rect">
            <a:avLst/>
          </a:prstGeom>
          <a:noFill/>
          <a:ln w="0">
            <a:noFill/>
          </a:ln>
        </p:spPr>
        <p:style>
          <a:lnRef idx="0"/>
          <a:fillRef idx="0"/>
          <a:effectRef idx="0"/>
          <a:fontRef idx="minor"/>
        </p:style>
        <p:txBody>
          <a:bodyPr lIns="0" rIns="0" tIns="0" bIns="0" anchor="t">
            <a:spAutoFit/>
          </a:bodyPr>
          <a:p>
            <a:pPr algn="ctr" defTabSz="914400">
              <a:lnSpc>
                <a:spcPts val="1392"/>
              </a:lnSpc>
            </a:pPr>
            <a:r>
              <a:rPr b="1" lang="en-US" sz="1200" spc="-1" strike="noStrike">
                <a:solidFill>
                  <a:srgbClr val="000000"/>
                </a:solidFill>
                <a:latin typeface="Telegraf Medium"/>
                <a:ea typeface="Telegraf Medium"/>
              </a:rPr>
              <a:t>Intégrer binwalk/Firmwalker dans le CI/CD avant livraison</a:t>
            </a:r>
            <a:endParaRPr b="0" lang="fr-FR" sz="1200" spc="-1" strike="noStrike">
              <a:solidFill>
                <a:srgbClr val="ffffff"/>
              </a:solidFill>
              <a:latin typeface="Arial"/>
            </a:endParaRPr>
          </a:p>
        </p:txBody>
      </p:sp>
      <p:sp>
        <p:nvSpPr>
          <p:cNvPr id="537" name="Freeform 21"/>
          <p:cNvSpPr/>
          <p:nvPr/>
        </p:nvSpPr>
        <p:spPr>
          <a:xfrm>
            <a:off x="316440" y="3736080"/>
            <a:ext cx="8434800" cy="3614760"/>
          </a:xfrm>
          <a:custGeom>
            <a:avLst/>
            <a:gdLst>
              <a:gd name="textAreaLeft" fmla="*/ 0 w 8434800"/>
              <a:gd name="textAreaRight" fmla="*/ 8435160 w 8434800"/>
              <a:gd name="textAreaTop" fmla="*/ 0 h 3614760"/>
              <a:gd name="textAreaBottom" fmla="*/ 3615120 h 3614760"/>
            </a:gdLst>
            <a:ahLst/>
            <a:rect l="textAreaLeft" t="textAreaTop" r="textAreaRight" b="textAreaBottom"/>
            <a:pathLst>
              <a:path w="8435037" h="3615016">
                <a:moveTo>
                  <a:pt x="0" y="0"/>
                </a:moveTo>
                <a:lnTo>
                  <a:pt x="8435038" y="0"/>
                </a:lnTo>
                <a:lnTo>
                  <a:pt x="8435038" y="3615016"/>
                </a:lnTo>
                <a:lnTo>
                  <a:pt x="0" y="3615016"/>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38" name="TextBox 22"/>
          <p:cNvSpPr/>
          <p:nvPr/>
        </p:nvSpPr>
        <p:spPr>
          <a:xfrm>
            <a:off x="558720" y="4309920"/>
            <a:ext cx="7950240" cy="2386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bd59"/>
                </a:solidFill>
                <a:latin typeface="Telegraf Medium"/>
                <a:ea typeface="Telegraf Medium"/>
              </a:rPr>
              <a:t>Ce que révèle l’analyse du firmware</a:t>
            </a:r>
            <a:endParaRPr b="0" lang="fr-FR" sz="3000" spc="-1" strike="noStrike">
              <a:solidFill>
                <a:srgbClr val="ffffff"/>
              </a:solidFill>
              <a:latin typeface="Arial"/>
            </a:endParaRPr>
          </a:p>
          <a:p>
            <a:pPr algn="ctr" defTabSz="914400">
              <a:lnSpc>
                <a:spcPts val="2551"/>
              </a:lnSpc>
            </a:pPr>
            <a:r>
              <a:rPr b="1" lang="en-US" sz="2200" spc="-1" strike="noStrike">
                <a:solidFill>
                  <a:srgbClr val="000000"/>
                </a:solidFill>
                <a:latin typeface="Telegraf Medium"/>
                <a:ea typeface="Telegraf Medium"/>
              </a:rPr>
              <a:t>binwalk extrait le système de fichiers complet</a:t>
            </a:r>
            <a:endParaRPr b="0" lang="fr-FR" sz="2200" spc="-1" strike="noStrike">
              <a:solidFill>
                <a:srgbClr val="ffffff"/>
              </a:solidFill>
              <a:latin typeface="Arial"/>
            </a:endParaRPr>
          </a:p>
          <a:p>
            <a:pPr algn="ctr" defTabSz="914400">
              <a:lnSpc>
                <a:spcPts val="2551"/>
              </a:lnSpc>
            </a:pPr>
            <a:r>
              <a:rPr b="1" lang="en-US" sz="2200" spc="-1" strike="noStrike">
                <a:solidFill>
                  <a:srgbClr val="000000"/>
                </a:solidFill>
                <a:latin typeface="Telegraf Medium"/>
                <a:ea typeface="Telegraf Medium"/>
              </a:rPr>
              <a:t>du binaire.</a:t>
            </a:r>
            <a:endParaRPr b="0" lang="fr-FR" sz="2200" spc="-1" strike="noStrike">
              <a:solidFill>
                <a:srgbClr val="ffffff"/>
              </a:solidFill>
              <a:latin typeface="Arial"/>
            </a:endParaRPr>
          </a:p>
          <a:p>
            <a:pPr algn="ctr" defTabSz="914400">
              <a:lnSpc>
                <a:spcPts val="2551"/>
              </a:lnSpc>
            </a:pPr>
            <a:endParaRPr b="0" lang="fr-FR" sz="1800" spc="-1" strike="noStrike">
              <a:solidFill>
                <a:srgbClr val="ffffff"/>
              </a:solidFill>
              <a:latin typeface="Arial"/>
            </a:endParaRPr>
          </a:p>
          <a:p>
            <a:pPr algn="ctr" defTabSz="914400">
              <a:lnSpc>
                <a:spcPts val="2551"/>
              </a:lnSpc>
            </a:pPr>
            <a:r>
              <a:rPr b="1" lang="en-US" sz="2200" spc="-1" strike="noStrike">
                <a:solidFill>
                  <a:srgbClr val="000000"/>
                </a:solidFill>
                <a:latin typeface="Telegraf Medium"/>
                <a:ea typeface="Telegraf Medium"/>
              </a:rPr>
              <a:t>Une recherche de mots-clés (password, secret, api_key)</a:t>
            </a:r>
            <a:endParaRPr b="0" lang="fr-FR" sz="2200" spc="-1" strike="noStrike">
              <a:solidFill>
                <a:srgbClr val="ffffff"/>
              </a:solidFill>
              <a:latin typeface="Arial"/>
            </a:endParaRPr>
          </a:p>
          <a:p>
            <a:pPr algn="ctr" defTabSz="914400">
              <a:lnSpc>
                <a:spcPts val="2551"/>
              </a:lnSpc>
            </a:pPr>
            <a:r>
              <a:rPr b="1" lang="en-US" sz="2200" spc="-1" strike="noStrike">
                <a:solidFill>
                  <a:srgbClr val="000000"/>
                </a:solidFill>
                <a:latin typeface="Telegraf Medium"/>
                <a:ea typeface="Telegraf Medium"/>
              </a:rPr>
              <a:t>retrouve un mot de passe MQTT et une clé AES en clair</a:t>
            </a:r>
            <a:endParaRPr b="0" lang="fr-FR" sz="2200" spc="-1" strike="noStrike">
              <a:solidFill>
                <a:srgbClr val="ffffff"/>
              </a:solidFill>
              <a:latin typeface="Arial"/>
            </a:endParaRPr>
          </a:p>
          <a:p>
            <a:pPr algn="ctr" defTabSz="914400">
              <a:lnSpc>
                <a:spcPts val="2551"/>
              </a:lnSpc>
            </a:pPr>
            <a:r>
              <a:rPr b="1" lang="en-US" sz="2200" spc="-1" strike="noStrike">
                <a:solidFill>
                  <a:srgbClr val="000000"/>
                </a:solidFill>
                <a:latin typeface="Telegraf Medium"/>
                <a:ea typeface="Telegraf Medium"/>
              </a:rPr>
              <a:t>dans les fichiers de configuration.</a:t>
            </a:r>
            <a:endParaRPr b="0" lang="fr-FR" sz="2200" spc="-1" strike="noStrike">
              <a:solidFill>
                <a:srgbClr val="ffffff"/>
              </a:solidFill>
              <a:latin typeface="Arial"/>
            </a:endParaRPr>
          </a:p>
        </p:txBody>
      </p:sp>
      <p:sp>
        <p:nvSpPr>
          <p:cNvPr id="539" name="Freeform 23"/>
          <p:cNvSpPr/>
          <p:nvPr/>
        </p:nvSpPr>
        <p:spPr>
          <a:xfrm flipH="1">
            <a:off x="17384400" y="955944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8">
              <a:extLst>
                <a:ext uri="{96DAC541-7B7A-43D3-8B79-37D633B846F1}">
                  <asvg:svgBlip xmlns:asvg="http://schemas.microsoft.com/office/drawing/2016/SVG/main" r:embed="rId9"/>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540" name="Freeform 2"/>
          <p:cNvSpPr/>
          <p:nvPr/>
        </p:nvSpPr>
        <p:spPr>
          <a:xfrm>
            <a:off x="1028880" y="558720"/>
            <a:ext cx="16538760" cy="1310400"/>
          </a:xfrm>
          <a:custGeom>
            <a:avLst/>
            <a:gdLst>
              <a:gd name="textAreaLeft" fmla="*/ 0 w 16538760"/>
              <a:gd name="textAreaRight" fmla="*/ 16539120 w 16538760"/>
              <a:gd name="textAreaTop" fmla="*/ 0 h 1310400"/>
              <a:gd name="textAreaBottom" fmla="*/ 1310760 h 1310400"/>
            </a:gdLst>
            <a:ahLst/>
            <a:rect l="textAreaLeft" t="textAreaTop" r="textAreaRight" b="textAreaBottom"/>
            <a:pathLst>
              <a:path w="16538992" h="1310907">
                <a:moveTo>
                  <a:pt x="0" y="0"/>
                </a:moveTo>
                <a:lnTo>
                  <a:pt x="16538992" y="0"/>
                </a:lnTo>
                <a:lnTo>
                  <a:pt x="16538992" y="1310907"/>
                </a:lnTo>
                <a:lnTo>
                  <a:pt x="0" y="131090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41" name="TextBox 3"/>
          <p:cNvSpPr/>
          <p:nvPr/>
        </p:nvSpPr>
        <p:spPr>
          <a:xfrm>
            <a:off x="1436040" y="796680"/>
            <a:ext cx="14454720" cy="1472760"/>
          </a:xfrm>
          <a:prstGeom prst="rect">
            <a:avLst/>
          </a:prstGeom>
          <a:noFill/>
          <a:ln w="0">
            <a:noFill/>
          </a:ln>
        </p:spPr>
        <p:style>
          <a:lnRef idx="0"/>
          <a:fillRef idx="0"/>
          <a:effectRef idx="0"/>
          <a:fontRef idx="minor"/>
        </p:style>
        <p:txBody>
          <a:bodyPr lIns="0" rIns="0" tIns="0" bIns="0" anchor="t">
            <a:spAutoFit/>
          </a:bodyPr>
          <a:p>
            <a:pPr algn="ctr" defTabSz="914400">
              <a:lnSpc>
                <a:spcPts val="5800"/>
              </a:lnSpc>
            </a:pPr>
            <a:r>
              <a:rPr b="1" lang="en-US" sz="5000" spc="-1" strike="noStrike">
                <a:solidFill>
                  <a:srgbClr val="ffffff"/>
                </a:solidFill>
                <a:latin typeface="Telegraf Medium"/>
                <a:ea typeface="Telegraf Medium"/>
              </a:rPr>
              <a:t>Démo 4 — Durcissement TLS : Tester et Corriger</a:t>
            </a:r>
            <a:endParaRPr b="0" lang="fr-FR" sz="5000" spc="-1" strike="noStrike">
              <a:solidFill>
                <a:srgbClr val="ffffff"/>
              </a:solidFill>
              <a:latin typeface="Arial"/>
            </a:endParaRPr>
          </a:p>
        </p:txBody>
      </p:sp>
      <p:sp>
        <p:nvSpPr>
          <p:cNvPr id="542" name="Freeform 4"/>
          <p:cNvSpPr/>
          <p:nvPr/>
        </p:nvSpPr>
        <p:spPr>
          <a:xfrm>
            <a:off x="940680" y="2744280"/>
            <a:ext cx="7135920" cy="3057840"/>
          </a:xfrm>
          <a:custGeom>
            <a:avLst/>
            <a:gdLst>
              <a:gd name="textAreaLeft" fmla="*/ 0 w 7135920"/>
              <a:gd name="textAreaRight" fmla="*/ 7136280 w 7135920"/>
              <a:gd name="textAreaTop" fmla="*/ 0 h 3057840"/>
              <a:gd name="textAreaBottom" fmla="*/ 3058200 h 3057840"/>
            </a:gdLst>
            <a:ahLst/>
            <a:rect l="textAreaLeft" t="textAreaTop" r="textAreaRight" b="textAreaBottom"/>
            <a:pathLst>
              <a:path w="7136178" h="3058362">
                <a:moveTo>
                  <a:pt x="0" y="0"/>
                </a:moveTo>
                <a:lnTo>
                  <a:pt x="7136178" y="0"/>
                </a:lnTo>
                <a:lnTo>
                  <a:pt x="7136178" y="3058362"/>
                </a:lnTo>
                <a:lnTo>
                  <a:pt x="0" y="3058362"/>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43" name="Freeform 5"/>
          <p:cNvSpPr/>
          <p:nvPr/>
        </p:nvSpPr>
        <p:spPr>
          <a:xfrm>
            <a:off x="1028880" y="6955200"/>
            <a:ext cx="5583240" cy="2392560"/>
          </a:xfrm>
          <a:custGeom>
            <a:avLst/>
            <a:gdLst>
              <a:gd name="textAreaLeft" fmla="*/ 0 w 5583240"/>
              <a:gd name="textAreaRight" fmla="*/ 5583600 w 5583240"/>
              <a:gd name="textAreaTop" fmla="*/ 0 h 2392560"/>
              <a:gd name="textAreaBottom" fmla="*/ 2392920 h 2392560"/>
            </a:gdLst>
            <a:ahLst/>
            <a:rect l="textAreaLeft" t="textAreaTop" r="textAreaRight" b="textAreaBottom"/>
            <a:pathLst>
              <a:path w="5583582" h="2392964">
                <a:moveTo>
                  <a:pt x="0" y="0"/>
                </a:moveTo>
                <a:lnTo>
                  <a:pt x="5583582" y="0"/>
                </a:lnTo>
                <a:lnTo>
                  <a:pt x="5583582" y="2392964"/>
                </a:lnTo>
                <a:lnTo>
                  <a:pt x="0" y="2392964"/>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44" name="Freeform 6"/>
          <p:cNvSpPr/>
          <p:nvPr/>
        </p:nvSpPr>
        <p:spPr>
          <a:xfrm>
            <a:off x="9339120" y="2658600"/>
            <a:ext cx="7335720" cy="3143880"/>
          </a:xfrm>
          <a:custGeom>
            <a:avLst/>
            <a:gdLst>
              <a:gd name="textAreaLeft" fmla="*/ 0 w 7335720"/>
              <a:gd name="textAreaRight" fmla="*/ 7336080 w 7335720"/>
              <a:gd name="textAreaTop" fmla="*/ 0 h 3143880"/>
              <a:gd name="textAreaBottom" fmla="*/ 3144240 h 3143880"/>
            </a:gdLst>
            <a:ahLst/>
            <a:rect l="textAreaLeft" t="textAreaTop" r="textAreaRight" b="textAreaBottom"/>
            <a:pathLst>
              <a:path w="7336166" h="3144071">
                <a:moveTo>
                  <a:pt x="0" y="0"/>
                </a:moveTo>
                <a:lnTo>
                  <a:pt x="7336166" y="0"/>
                </a:lnTo>
                <a:lnTo>
                  <a:pt x="7336166" y="3144071"/>
                </a:lnTo>
                <a:lnTo>
                  <a:pt x="0" y="3144071"/>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45" name="Freeform 7"/>
          <p:cNvSpPr/>
          <p:nvPr/>
        </p:nvSpPr>
        <p:spPr>
          <a:xfrm>
            <a:off x="9959040" y="6955200"/>
            <a:ext cx="5327640" cy="2283120"/>
          </a:xfrm>
          <a:custGeom>
            <a:avLst/>
            <a:gdLst>
              <a:gd name="textAreaLeft" fmla="*/ 0 w 5327640"/>
              <a:gd name="textAreaRight" fmla="*/ 5328000 w 5327640"/>
              <a:gd name="textAreaTop" fmla="*/ 0 h 2283120"/>
              <a:gd name="textAreaBottom" fmla="*/ 2283480 h 2283120"/>
            </a:gdLst>
            <a:ahLst/>
            <a:rect l="textAreaLeft" t="textAreaTop" r="textAreaRight" b="textAreaBottom"/>
            <a:pathLst>
              <a:path w="5327892" h="2283382">
                <a:moveTo>
                  <a:pt x="0" y="0"/>
                </a:moveTo>
                <a:lnTo>
                  <a:pt x="5327893" y="0"/>
                </a:lnTo>
                <a:lnTo>
                  <a:pt x="5327893" y="2283383"/>
                </a:lnTo>
                <a:lnTo>
                  <a:pt x="0" y="2283383"/>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46" name="TextBox 8"/>
          <p:cNvSpPr/>
          <p:nvPr/>
        </p:nvSpPr>
        <p:spPr>
          <a:xfrm>
            <a:off x="10355400" y="7935480"/>
            <a:ext cx="679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bf63"/>
                </a:solidFill>
                <a:latin typeface="Telegraf Bold"/>
                <a:ea typeface="Telegraf Bold"/>
              </a:rPr>
              <a:t>A+</a:t>
            </a:r>
            <a:endParaRPr b="0" lang="fr-FR" sz="3000" spc="-1" strike="noStrike">
              <a:solidFill>
                <a:srgbClr val="ffffff"/>
              </a:solidFill>
              <a:latin typeface="Arial"/>
            </a:endParaRPr>
          </a:p>
        </p:txBody>
      </p:sp>
      <p:sp>
        <p:nvSpPr>
          <p:cNvPr id="547" name="TextBox 9"/>
          <p:cNvSpPr/>
          <p:nvPr/>
        </p:nvSpPr>
        <p:spPr>
          <a:xfrm>
            <a:off x="12490560" y="7295040"/>
            <a:ext cx="1406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00bf63"/>
                </a:solidFill>
                <a:latin typeface="Telegraf Bold"/>
                <a:ea typeface="Telegraf Bold"/>
              </a:rPr>
              <a:t>Après</a:t>
            </a:r>
            <a:endParaRPr b="0" lang="fr-FR" sz="3000" spc="-1" strike="noStrike">
              <a:solidFill>
                <a:srgbClr val="ffffff"/>
              </a:solidFill>
              <a:latin typeface="Arial"/>
            </a:endParaRPr>
          </a:p>
        </p:txBody>
      </p:sp>
      <p:sp>
        <p:nvSpPr>
          <p:cNvPr id="548" name="TextBox 10"/>
          <p:cNvSpPr/>
          <p:nvPr/>
        </p:nvSpPr>
        <p:spPr>
          <a:xfrm>
            <a:off x="11323440" y="8020800"/>
            <a:ext cx="3367080" cy="73692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0" lang="en-US" sz="2500" spc="-1" strike="noStrike">
                <a:solidFill>
                  <a:srgbClr val="000000"/>
                </a:solidFill>
                <a:latin typeface="Telegraf"/>
                <a:ea typeface="Telegraf"/>
              </a:rPr>
              <a:t>TLS 1.3 uniquement, HSTS, OCSP</a:t>
            </a:r>
            <a:endParaRPr b="0" lang="fr-FR" sz="2500" spc="-1" strike="noStrike">
              <a:solidFill>
                <a:srgbClr val="ffffff"/>
              </a:solidFill>
              <a:latin typeface="Arial"/>
            </a:endParaRPr>
          </a:p>
        </p:txBody>
      </p:sp>
      <p:sp>
        <p:nvSpPr>
          <p:cNvPr id="549" name="TextBox 11"/>
          <p:cNvSpPr/>
          <p:nvPr/>
        </p:nvSpPr>
        <p:spPr>
          <a:xfrm>
            <a:off x="2796480" y="7295040"/>
            <a:ext cx="140652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3131"/>
                </a:solidFill>
                <a:latin typeface="Telegraf Bold"/>
                <a:ea typeface="Telegraf Bold"/>
              </a:rPr>
              <a:t>Avant</a:t>
            </a:r>
            <a:endParaRPr b="0" lang="fr-FR" sz="3000" spc="-1" strike="noStrike">
              <a:solidFill>
                <a:srgbClr val="ffffff"/>
              </a:solidFill>
              <a:latin typeface="Arial"/>
            </a:endParaRPr>
          </a:p>
        </p:txBody>
      </p:sp>
      <p:sp>
        <p:nvSpPr>
          <p:cNvPr id="550" name="TextBox 12"/>
          <p:cNvSpPr/>
          <p:nvPr/>
        </p:nvSpPr>
        <p:spPr>
          <a:xfrm>
            <a:off x="1436040" y="8123040"/>
            <a:ext cx="679680" cy="44208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1" lang="en-US" sz="3000" spc="-1" strike="noStrike">
                <a:solidFill>
                  <a:srgbClr val="ff3131"/>
                </a:solidFill>
                <a:latin typeface="Telegraf Bold"/>
                <a:ea typeface="Telegraf Bold"/>
              </a:rPr>
              <a:t>A+</a:t>
            </a:r>
            <a:endParaRPr b="0" lang="fr-FR" sz="3000" spc="-1" strike="noStrike">
              <a:solidFill>
                <a:srgbClr val="ffffff"/>
              </a:solidFill>
              <a:latin typeface="Arial"/>
            </a:endParaRPr>
          </a:p>
        </p:txBody>
      </p:sp>
      <p:sp>
        <p:nvSpPr>
          <p:cNvPr id="551" name="TextBox 13"/>
          <p:cNvSpPr/>
          <p:nvPr/>
        </p:nvSpPr>
        <p:spPr>
          <a:xfrm>
            <a:off x="2519640" y="8068320"/>
            <a:ext cx="3367080" cy="736920"/>
          </a:xfrm>
          <a:prstGeom prst="rect">
            <a:avLst/>
          </a:prstGeom>
          <a:noFill/>
          <a:ln w="0">
            <a:noFill/>
          </a:ln>
        </p:spPr>
        <p:style>
          <a:lnRef idx="0"/>
          <a:fillRef idx="0"/>
          <a:effectRef idx="0"/>
          <a:fontRef idx="minor"/>
        </p:style>
        <p:txBody>
          <a:bodyPr lIns="0" rIns="0" tIns="0" bIns="0" anchor="t">
            <a:spAutoFit/>
          </a:bodyPr>
          <a:p>
            <a:pPr algn="ctr" defTabSz="914400">
              <a:lnSpc>
                <a:spcPts val="2900"/>
              </a:lnSpc>
            </a:pPr>
            <a:r>
              <a:rPr b="0" lang="en-US" sz="2500" spc="-1" strike="noStrike">
                <a:solidFill>
                  <a:srgbClr val="000000"/>
                </a:solidFill>
                <a:latin typeface="Telegraf"/>
                <a:ea typeface="Telegraf"/>
              </a:rPr>
              <a:t>TLS 1.0, RC4, 3DES activés</a:t>
            </a:r>
            <a:endParaRPr b="0" lang="fr-FR" sz="2500" spc="-1" strike="noStrike">
              <a:solidFill>
                <a:srgbClr val="ffffff"/>
              </a:solidFill>
              <a:latin typeface="Arial"/>
            </a:endParaRPr>
          </a:p>
        </p:txBody>
      </p:sp>
      <p:sp>
        <p:nvSpPr>
          <p:cNvPr id="552" name="TextBox 14"/>
          <p:cNvSpPr/>
          <p:nvPr/>
        </p:nvSpPr>
        <p:spPr>
          <a:xfrm>
            <a:off x="10041480" y="3218760"/>
            <a:ext cx="5931720" cy="198792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0" lang="en-US" sz="3000" spc="-1" strike="noStrike">
                <a:solidFill>
                  <a:srgbClr val="00bf63"/>
                </a:solidFill>
                <a:latin typeface="Telegraf"/>
                <a:ea typeface="Telegraf"/>
              </a:rPr>
              <a:t>Correction — configuration durcie</a:t>
            </a:r>
            <a:endParaRPr b="0" lang="fr-FR" sz="3000" spc="-1" strike="noStrike">
              <a:solidFill>
                <a:srgbClr val="ffffff"/>
              </a:solidFill>
              <a:latin typeface="Arial"/>
            </a:endParaRPr>
          </a:p>
          <a:p>
            <a:pPr algn="ctr" defTabSz="914400">
              <a:lnSpc>
                <a:spcPts val="2900"/>
              </a:lnSpc>
            </a:pPr>
            <a:r>
              <a:rPr b="0" lang="en-US" sz="2500" spc="-1" strike="noStrike">
                <a:solidFill>
                  <a:srgbClr val="000000"/>
                </a:solidFill>
                <a:latin typeface="Telegraf"/>
                <a:ea typeface="Telegraf"/>
              </a:rPr>
              <a:t>On limite le serveur à TLS 1.3, on désactive les</a:t>
            </a:r>
            <a:endParaRPr b="0" lang="fr-FR" sz="2500" spc="-1" strike="noStrike">
              <a:solidFill>
                <a:srgbClr val="ffffff"/>
              </a:solidFill>
              <a:latin typeface="Arial"/>
            </a:endParaRPr>
          </a:p>
          <a:p>
            <a:pPr algn="ctr" defTabSz="914400">
              <a:lnSpc>
                <a:spcPts val="2900"/>
              </a:lnSpc>
            </a:pPr>
            <a:r>
              <a:rPr b="0" lang="en-US" sz="2500" spc="-1" strike="noStrike">
                <a:solidFill>
                  <a:srgbClr val="000000"/>
                </a:solidFill>
                <a:latin typeface="Telegraf"/>
                <a:ea typeface="Telegraf"/>
              </a:rPr>
              <a:t>chiffrements faibles et on active HSTS.</a:t>
            </a:r>
            <a:endParaRPr b="0" lang="fr-FR" sz="2500" spc="-1" strike="noStrike">
              <a:solidFill>
                <a:srgbClr val="ffffff"/>
              </a:solidFill>
              <a:latin typeface="Arial"/>
            </a:endParaRPr>
          </a:p>
        </p:txBody>
      </p:sp>
      <p:sp>
        <p:nvSpPr>
          <p:cNvPr id="553" name="TextBox 15"/>
          <p:cNvSpPr/>
          <p:nvPr/>
        </p:nvSpPr>
        <p:spPr>
          <a:xfrm>
            <a:off x="1436040" y="3218760"/>
            <a:ext cx="5931720" cy="1915200"/>
          </a:xfrm>
          <a:prstGeom prst="rect">
            <a:avLst/>
          </a:prstGeom>
          <a:noFill/>
          <a:ln w="0">
            <a:noFill/>
          </a:ln>
        </p:spPr>
        <p:style>
          <a:lnRef idx="0"/>
          <a:fillRef idx="0"/>
          <a:effectRef idx="0"/>
          <a:fontRef idx="minor"/>
        </p:style>
        <p:txBody>
          <a:bodyPr lIns="0" rIns="0" tIns="0" bIns="0" anchor="t">
            <a:spAutoFit/>
          </a:bodyPr>
          <a:p>
            <a:pPr algn="ctr" defTabSz="914400">
              <a:lnSpc>
                <a:spcPts val="3478"/>
              </a:lnSpc>
            </a:pPr>
            <a:r>
              <a:rPr b="0" lang="en-US" sz="3000" spc="-1" strike="noStrike">
                <a:solidFill>
                  <a:srgbClr val="ff3131"/>
                </a:solidFill>
                <a:latin typeface="Telegraf"/>
                <a:ea typeface="Telegraf"/>
              </a:rPr>
              <a:t>Audit — testssl.sh</a:t>
            </a:r>
            <a:endParaRPr b="0" lang="fr-FR" sz="3000" spc="-1" strike="noStrike">
              <a:solidFill>
                <a:srgbClr val="ffffff"/>
              </a:solidFill>
              <a:latin typeface="Arial"/>
            </a:endParaRPr>
          </a:p>
          <a:p>
            <a:pPr algn="ctr" defTabSz="914400">
              <a:lnSpc>
                <a:spcPts val="2900"/>
              </a:lnSpc>
            </a:pPr>
            <a:r>
              <a:rPr b="0" lang="en-US" sz="2500" spc="-1" strike="noStrike">
                <a:solidFill>
                  <a:srgbClr val="000000"/>
                </a:solidFill>
                <a:latin typeface="Telegraf"/>
                <a:ea typeface="Telegraf"/>
              </a:rPr>
              <a:t>Le scan révèle que TLS 1.0/1.1 sont encore actifs,</a:t>
            </a:r>
            <a:endParaRPr b="0" lang="fr-FR" sz="2500" spc="-1" strike="noStrike">
              <a:solidFill>
                <a:srgbClr val="ffffff"/>
              </a:solidFill>
              <a:latin typeface="Arial"/>
            </a:endParaRPr>
          </a:p>
          <a:p>
            <a:pPr algn="ctr" defTabSz="914400">
              <a:lnSpc>
                <a:spcPts val="2900"/>
              </a:lnSpc>
            </a:pPr>
            <a:r>
              <a:rPr b="0" lang="en-US" sz="2500" spc="-1" strike="noStrike">
                <a:solidFill>
                  <a:srgbClr val="000000"/>
                </a:solidFill>
                <a:latin typeface="Telegraf"/>
                <a:ea typeface="Telegraf"/>
              </a:rPr>
              <a:t>avec des chiffrements faibles (RC4, 3DES).</a:t>
            </a:r>
            <a:endParaRPr b="0" lang="fr-FR" sz="2500" spc="-1" strike="noStrike">
              <a:solidFill>
                <a:srgbClr val="ffffff"/>
              </a:solidFill>
              <a:latin typeface="Arial"/>
            </a:endParaRPr>
          </a:p>
        </p:txBody>
      </p:sp>
      <p:sp>
        <p:nvSpPr>
          <p:cNvPr id="554" name="Freeform 16"/>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555" name="TextBox 2"/>
          <p:cNvSpPr/>
          <p:nvPr/>
        </p:nvSpPr>
        <p:spPr>
          <a:xfrm>
            <a:off x="3557520" y="1144080"/>
            <a:ext cx="10206360" cy="1107720"/>
          </a:xfrm>
          <a:prstGeom prst="rect">
            <a:avLst/>
          </a:prstGeom>
          <a:noFill/>
          <a:ln w="0">
            <a:noFill/>
          </a:ln>
        </p:spPr>
        <p:style>
          <a:lnRef idx="0"/>
          <a:fillRef idx="0"/>
          <a:effectRef idx="0"/>
          <a:fontRef idx="minor"/>
        </p:style>
        <p:txBody>
          <a:bodyPr lIns="0" rIns="0" tIns="0" bIns="0" anchor="t">
            <a:spAutoFit/>
          </a:bodyPr>
          <a:p>
            <a:pPr algn="ctr" defTabSz="914400">
              <a:lnSpc>
                <a:spcPts val="8719"/>
              </a:lnSpc>
            </a:pPr>
            <a:r>
              <a:rPr b="1" lang="en-US" sz="9480" spc="-511" strike="noStrike">
                <a:solidFill>
                  <a:srgbClr val="ffffff"/>
                </a:solidFill>
                <a:latin typeface="Inter Bold"/>
                <a:ea typeface="Inter Bold"/>
              </a:rPr>
              <a:t>Conclusion</a:t>
            </a:r>
            <a:endParaRPr b="0" lang="fr-FR" sz="9480" spc="-1" strike="noStrike">
              <a:solidFill>
                <a:srgbClr val="ffffff"/>
              </a:solidFill>
              <a:latin typeface="Arial"/>
            </a:endParaRPr>
          </a:p>
        </p:txBody>
      </p:sp>
      <p:sp>
        <p:nvSpPr>
          <p:cNvPr id="556" name="Freeform 3"/>
          <p:cNvSpPr/>
          <p:nvPr/>
        </p:nvSpPr>
        <p:spPr>
          <a:xfrm flipH="1">
            <a:off x="16802280" y="9074160"/>
            <a:ext cx="364680" cy="347400"/>
          </a:xfrm>
          <a:custGeom>
            <a:avLst/>
            <a:gdLst>
              <a:gd name="textAreaLeft" fmla="*/ -360 w 364680"/>
              <a:gd name="textAreaRight" fmla="*/ 364680 w 364680"/>
              <a:gd name="textAreaTop" fmla="*/ 0 h 347400"/>
              <a:gd name="textAreaBottom" fmla="*/ 347760 h 347400"/>
            </a:gdLst>
            <a:ahLst/>
            <a:rect l="textAreaLeft" t="textAreaTop" r="textAreaRight" b="textAreaBottom"/>
            <a:pathLst>
              <a:path w="365153" h="347891">
                <a:moveTo>
                  <a:pt x="365153" y="0"/>
                </a:moveTo>
                <a:lnTo>
                  <a:pt x="0" y="0"/>
                </a:lnTo>
                <a:lnTo>
                  <a:pt x="0" y="347891"/>
                </a:lnTo>
                <a:lnTo>
                  <a:pt x="365153" y="347891"/>
                </a:lnTo>
                <a:lnTo>
                  <a:pt x="365153"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557" name="Group 4"/>
          <p:cNvGrpSpPr/>
          <p:nvPr/>
        </p:nvGrpSpPr>
        <p:grpSpPr>
          <a:xfrm>
            <a:off x="1571760" y="3084840"/>
            <a:ext cx="731160" cy="851040"/>
            <a:chOff x="1571760" y="3084840"/>
            <a:chExt cx="731160" cy="851040"/>
          </a:xfrm>
        </p:grpSpPr>
        <p:sp>
          <p:nvSpPr>
            <p:cNvPr id="558" name="Freeform 5"/>
            <p:cNvSpPr/>
            <p:nvPr/>
          </p:nvSpPr>
          <p:spPr>
            <a:xfrm>
              <a:off x="1571760" y="308484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59" name="TextBox 6"/>
            <p:cNvSpPr/>
            <p:nvPr/>
          </p:nvSpPr>
          <p:spPr>
            <a:xfrm>
              <a:off x="1571760" y="321120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560" name="TextBox 7"/>
          <p:cNvSpPr/>
          <p:nvPr/>
        </p:nvSpPr>
        <p:spPr>
          <a:xfrm>
            <a:off x="1649520" y="325764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01</a:t>
            </a:r>
            <a:endParaRPr b="0" lang="fr-FR" sz="3080" spc="-1" strike="noStrike">
              <a:solidFill>
                <a:srgbClr val="ffffff"/>
              </a:solidFill>
              <a:latin typeface="Arial"/>
            </a:endParaRPr>
          </a:p>
        </p:txBody>
      </p:sp>
      <p:grpSp>
        <p:nvGrpSpPr>
          <p:cNvPr id="561" name="Group 8"/>
          <p:cNvGrpSpPr/>
          <p:nvPr/>
        </p:nvGrpSpPr>
        <p:grpSpPr>
          <a:xfrm>
            <a:off x="1499760" y="5288760"/>
            <a:ext cx="731160" cy="851040"/>
            <a:chOff x="1499760" y="5288760"/>
            <a:chExt cx="731160" cy="851040"/>
          </a:xfrm>
        </p:grpSpPr>
        <p:sp>
          <p:nvSpPr>
            <p:cNvPr id="562" name="Freeform 9"/>
            <p:cNvSpPr/>
            <p:nvPr/>
          </p:nvSpPr>
          <p:spPr>
            <a:xfrm>
              <a:off x="1499760" y="528876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63" name="TextBox 10"/>
            <p:cNvSpPr/>
            <p:nvPr/>
          </p:nvSpPr>
          <p:spPr>
            <a:xfrm>
              <a:off x="1499760" y="541512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564" name="Group 11"/>
          <p:cNvGrpSpPr/>
          <p:nvPr/>
        </p:nvGrpSpPr>
        <p:grpSpPr>
          <a:xfrm>
            <a:off x="1485000" y="7319520"/>
            <a:ext cx="731160" cy="851040"/>
            <a:chOff x="1485000" y="7319520"/>
            <a:chExt cx="731160" cy="851040"/>
          </a:xfrm>
        </p:grpSpPr>
        <p:sp>
          <p:nvSpPr>
            <p:cNvPr id="565" name="Freeform 12"/>
            <p:cNvSpPr/>
            <p:nvPr/>
          </p:nvSpPr>
          <p:spPr>
            <a:xfrm>
              <a:off x="1485000" y="731952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66" name="TextBox 13"/>
            <p:cNvSpPr/>
            <p:nvPr/>
          </p:nvSpPr>
          <p:spPr>
            <a:xfrm>
              <a:off x="1485000" y="744588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567" name="TextBox 14"/>
          <p:cNvSpPr/>
          <p:nvPr/>
        </p:nvSpPr>
        <p:spPr>
          <a:xfrm>
            <a:off x="1581480" y="548280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02</a:t>
            </a:r>
            <a:endParaRPr b="0" lang="fr-FR" sz="3080" spc="-1" strike="noStrike">
              <a:solidFill>
                <a:srgbClr val="ffffff"/>
              </a:solidFill>
              <a:latin typeface="Arial"/>
            </a:endParaRPr>
          </a:p>
        </p:txBody>
      </p:sp>
      <p:sp>
        <p:nvSpPr>
          <p:cNvPr id="568" name="TextBox 15"/>
          <p:cNvSpPr/>
          <p:nvPr/>
        </p:nvSpPr>
        <p:spPr>
          <a:xfrm>
            <a:off x="1571760" y="748260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03</a:t>
            </a:r>
            <a:endParaRPr b="0" lang="fr-FR" sz="3080" spc="-1" strike="noStrike">
              <a:solidFill>
                <a:srgbClr val="ffffff"/>
              </a:solidFill>
              <a:latin typeface="Arial"/>
            </a:endParaRPr>
          </a:p>
        </p:txBody>
      </p:sp>
      <p:grpSp>
        <p:nvGrpSpPr>
          <p:cNvPr id="569" name="Group 16"/>
          <p:cNvGrpSpPr/>
          <p:nvPr/>
        </p:nvGrpSpPr>
        <p:grpSpPr>
          <a:xfrm>
            <a:off x="9502920" y="3063600"/>
            <a:ext cx="731160" cy="851040"/>
            <a:chOff x="9502920" y="3063600"/>
            <a:chExt cx="731160" cy="851040"/>
          </a:xfrm>
        </p:grpSpPr>
        <p:sp>
          <p:nvSpPr>
            <p:cNvPr id="570" name="Freeform 17"/>
            <p:cNvSpPr/>
            <p:nvPr/>
          </p:nvSpPr>
          <p:spPr>
            <a:xfrm>
              <a:off x="9502920" y="306360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71" name="TextBox 18"/>
            <p:cNvSpPr/>
            <p:nvPr/>
          </p:nvSpPr>
          <p:spPr>
            <a:xfrm>
              <a:off x="9502920" y="318996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572" name="Group 19"/>
          <p:cNvGrpSpPr/>
          <p:nvPr/>
        </p:nvGrpSpPr>
        <p:grpSpPr>
          <a:xfrm>
            <a:off x="9502920" y="4949280"/>
            <a:ext cx="731160" cy="851040"/>
            <a:chOff x="9502920" y="4949280"/>
            <a:chExt cx="731160" cy="851040"/>
          </a:xfrm>
        </p:grpSpPr>
        <p:sp>
          <p:nvSpPr>
            <p:cNvPr id="573" name="Freeform 20"/>
            <p:cNvSpPr/>
            <p:nvPr/>
          </p:nvSpPr>
          <p:spPr>
            <a:xfrm>
              <a:off x="9502920" y="494928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74" name="TextBox 21"/>
            <p:cNvSpPr/>
            <p:nvPr/>
          </p:nvSpPr>
          <p:spPr>
            <a:xfrm>
              <a:off x="9502920" y="507564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grpSp>
        <p:nvGrpSpPr>
          <p:cNvPr id="575" name="Group 22"/>
          <p:cNvGrpSpPr/>
          <p:nvPr/>
        </p:nvGrpSpPr>
        <p:grpSpPr>
          <a:xfrm>
            <a:off x="9502920" y="7084800"/>
            <a:ext cx="731160" cy="851040"/>
            <a:chOff x="9502920" y="7084800"/>
            <a:chExt cx="731160" cy="851040"/>
          </a:xfrm>
        </p:grpSpPr>
        <p:sp>
          <p:nvSpPr>
            <p:cNvPr id="576" name="Freeform 23"/>
            <p:cNvSpPr/>
            <p:nvPr/>
          </p:nvSpPr>
          <p:spPr>
            <a:xfrm>
              <a:off x="9502920" y="7084800"/>
              <a:ext cx="731160" cy="851040"/>
            </a:xfrm>
            <a:custGeom>
              <a:avLst/>
              <a:gdLst>
                <a:gd name="textAreaLeft" fmla="*/ 0 w 731160"/>
                <a:gd name="textAreaRight" fmla="*/ 731520 w 731160"/>
                <a:gd name="textAreaTop" fmla="*/ 0 h 851040"/>
                <a:gd name="textAreaBottom" fmla="*/ 851400 h 851040"/>
              </a:gdLst>
              <a:ahLst/>
              <a:rect l="textAreaLeft" t="textAreaTop" r="textAreaRight" b="textAreaBottom"/>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0">
              <a:gsLst>
                <a:gs pos="0">
                  <a:srgbClr val="ffffff"/>
                </a:gs>
                <a:gs pos="100000">
                  <a:srgbClr val="9b9b9b">
                    <a:alpha val="1200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77" name="TextBox 24"/>
            <p:cNvSpPr/>
            <p:nvPr/>
          </p:nvSpPr>
          <p:spPr>
            <a:xfrm>
              <a:off x="9502920" y="7211160"/>
              <a:ext cx="731160" cy="57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578" name="TextBox 25"/>
          <p:cNvSpPr/>
          <p:nvPr/>
        </p:nvSpPr>
        <p:spPr>
          <a:xfrm>
            <a:off x="9590040" y="323820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04</a:t>
            </a:r>
            <a:endParaRPr b="0" lang="fr-FR" sz="3080" spc="-1" strike="noStrike">
              <a:solidFill>
                <a:srgbClr val="ffffff"/>
              </a:solidFill>
              <a:latin typeface="Arial"/>
            </a:endParaRPr>
          </a:p>
        </p:txBody>
      </p:sp>
      <p:sp>
        <p:nvSpPr>
          <p:cNvPr id="579" name="TextBox 26"/>
          <p:cNvSpPr/>
          <p:nvPr/>
        </p:nvSpPr>
        <p:spPr>
          <a:xfrm>
            <a:off x="9590040" y="514368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05</a:t>
            </a:r>
            <a:endParaRPr b="0" lang="fr-FR" sz="3080" spc="-1" strike="noStrike">
              <a:solidFill>
                <a:srgbClr val="ffffff"/>
              </a:solidFill>
              <a:latin typeface="Arial"/>
            </a:endParaRPr>
          </a:p>
        </p:txBody>
      </p:sp>
      <p:sp>
        <p:nvSpPr>
          <p:cNvPr id="580" name="TextBox 27"/>
          <p:cNvSpPr/>
          <p:nvPr/>
        </p:nvSpPr>
        <p:spPr>
          <a:xfrm>
            <a:off x="9590040" y="7218000"/>
            <a:ext cx="701640" cy="454320"/>
          </a:xfrm>
          <a:prstGeom prst="rect">
            <a:avLst/>
          </a:prstGeom>
          <a:noFill/>
          <a:ln w="0">
            <a:noFill/>
          </a:ln>
        </p:spPr>
        <p:style>
          <a:lnRef idx="0"/>
          <a:fillRef idx="0"/>
          <a:effectRef idx="0"/>
          <a:fontRef idx="minor"/>
        </p:style>
        <p:txBody>
          <a:bodyPr lIns="0" rIns="0" tIns="0" bIns="0" anchor="t">
            <a:spAutoFit/>
          </a:bodyPr>
          <a:p>
            <a:pPr defTabSz="914400">
              <a:lnSpc>
                <a:spcPts val="3574"/>
              </a:lnSpc>
            </a:pPr>
            <a:r>
              <a:rPr b="1" lang="en-US" sz="3080" spc="-1" strike="noStrike">
                <a:solidFill>
                  <a:srgbClr val="1d386d"/>
                </a:solidFill>
                <a:latin typeface="Raleway Ultra-Bold"/>
                <a:ea typeface="Raleway Ultra-Bold"/>
              </a:rPr>
              <a:t>06</a:t>
            </a:r>
            <a:endParaRPr b="0" lang="fr-FR" sz="3080" spc="-1" strike="noStrike">
              <a:solidFill>
                <a:srgbClr val="ffffff"/>
              </a:solidFill>
              <a:latin typeface="Arial"/>
            </a:endParaRPr>
          </a:p>
        </p:txBody>
      </p:sp>
      <p:sp>
        <p:nvSpPr>
          <p:cNvPr id="581" name="TextBox 28"/>
          <p:cNvSpPr/>
          <p:nvPr/>
        </p:nvSpPr>
        <p:spPr>
          <a:xfrm>
            <a:off x="2351160" y="3084840"/>
            <a:ext cx="5809680" cy="101592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L'IoT multiplie les surfaces d'attaque </a:t>
            </a:r>
            <a:endParaRPr b="0" lang="fr-FR" sz="2300" spc="-1" strike="noStrike">
              <a:solidFill>
                <a:srgbClr val="ffffff"/>
              </a:solidFill>
              <a:latin typeface="Arial"/>
            </a:endParaRPr>
          </a:p>
          <a:p>
            <a:pPr defTabSz="914400">
              <a:lnSpc>
                <a:spcPts val="2667"/>
              </a:lnSpc>
            </a:pPr>
            <a:r>
              <a:rPr b="1" lang="en-US" sz="2300" spc="-1" strike="noStrike">
                <a:solidFill>
                  <a:srgbClr val="ffffff"/>
                </a:solidFill>
                <a:latin typeface="Raleway Medium"/>
                <a:ea typeface="Raleway Medium"/>
              </a:rPr>
              <a:t>— </a:t>
            </a:r>
            <a:r>
              <a:rPr b="1" lang="en-US" sz="2300" spc="-1" strike="noStrike">
                <a:solidFill>
                  <a:srgbClr val="ffffff"/>
                </a:solidFill>
                <a:latin typeface="Raleway Medium"/>
                <a:ea typeface="Raleway Medium"/>
              </a:rPr>
              <a:t>la sécurité se pense couche par couche, pas en rustine finale</a:t>
            </a:r>
            <a:endParaRPr b="0" lang="fr-FR" sz="2300" spc="-1" strike="noStrike">
              <a:solidFill>
                <a:srgbClr val="ffffff"/>
              </a:solidFill>
              <a:latin typeface="Arial"/>
            </a:endParaRPr>
          </a:p>
        </p:txBody>
      </p:sp>
      <p:sp>
        <p:nvSpPr>
          <p:cNvPr id="582" name="TextBox 29"/>
          <p:cNvSpPr/>
          <p:nvPr/>
        </p:nvSpPr>
        <p:spPr>
          <a:xfrm>
            <a:off x="2570760" y="5375160"/>
            <a:ext cx="4752360" cy="101592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Chiffrer n'est pas une option : la démo MQTT l'a montré, sans TLS tout circule en clair</a:t>
            </a:r>
            <a:endParaRPr b="0" lang="fr-FR" sz="2300" spc="-1" strike="noStrike">
              <a:solidFill>
                <a:srgbClr val="ffffff"/>
              </a:solidFill>
              <a:latin typeface="Arial"/>
            </a:endParaRPr>
          </a:p>
        </p:txBody>
      </p:sp>
      <p:sp>
        <p:nvSpPr>
          <p:cNvPr id="583" name="TextBox 30"/>
          <p:cNvSpPr/>
          <p:nvPr/>
        </p:nvSpPr>
        <p:spPr>
          <a:xfrm>
            <a:off x="2570760" y="7406280"/>
            <a:ext cx="4752360" cy="135468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Valider strictement chaque identité : la démo JWT a prouvé qu'un token non signé peut suffire à usurper un rôle admin</a:t>
            </a:r>
            <a:endParaRPr b="0" lang="fr-FR" sz="2300" spc="-1" strike="noStrike">
              <a:solidFill>
                <a:srgbClr val="ffffff"/>
              </a:solidFill>
              <a:latin typeface="Arial"/>
            </a:endParaRPr>
          </a:p>
        </p:txBody>
      </p:sp>
      <p:sp>
        <p:nvSpPr>
          <p:cNvPr id="584" name="TextBox 31"/>
          <p:cNvSpPr/>
          <p:nvPr/>
        </p:nvSpPr>
        <p:spPr>
          <a:xfrm>
            <a:off x="10339200" y="3084840"/>
            <a:ext cx="5809680" cy="101592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Protéger les secrets dès la conception : l'analyse du firmware a retrouvé mots de passe et clés en clair dans le code</a:t>
            </a:r>
            <a:endParaRPr b="0" lang="fr-FR" sz="2300" spc="-1" strike="noStrike">
              <a:solidFill>
                <a:srgbClr val="ffffff"/>
              </a:solidFill>
              <a:latin typeface="Arial"/>
            </a:endParaRPr>
          </a:p>
        </p:txBody>
      </p:sp>
      <p:sp>
        <p:nvSpPr>
          <p:cNvPr id="585" name="TextBox 32"/>
          <p:cNvSpPr/>
          <p:nvPr/>
        </p:nvSpPr>
        <p:spPr>
          <a:xfrm>
            <a:off x="10339200" y="4976640"/>
            <a:ext cx="5809680" cy="135468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Auditer et durcir en continu : le passage de C à A+ sur le test TLS montre qu'une config par défaut ne suffit jamais</a:t>
            </a:r>
            <a:endParaRPr b="0" lang="fr-FR" sz="2300" spc="-1" strike="noStrike">
              <a:solidFill>
                <a:srgbClr val="ffffff"/>
              </a:solidFill>
              <a:latin typeface="Arial"/>
            </a:endParaRPr>
          </a:p>
        </p:txBody>
      </p:sp>
      <p:sp>
        <p:nvSpPr>
          <p:cNvPr id="586" name="TextBox 33"/>
          <p:cNvSpPr/>
          <p:nvPr/>
        </p:nvSpPr>
        <p:spPr>
          <a:xfrm>
            <a:off x="10339200" y="7208280"/>
            <a:ext cx="5809680" cy="1015920"/>
          </a:xfrm>
          <a:prstGeom prst="rect">
            <a:avLst/>
          </a:prstGeom>
          <a:noFill/>
          <a:ln w="0">
            <a:noFill/>
          </a:ln>
        </p:spPr>
        <p:style>
          <a:lnRef idx="0"/>
          <a:fillRef idx="0"/>
          <a:effectRef idx="0"/>
          <a:fontRef idx="minor"/>
        </p:style>
        <p:txBody>
          <a:bodyPr lIns="0" rIns="0" tIns="0" bIns="0" anchor="t">
            <a:spAutoFit/>
          </a:bodyPr>
          <a:p>
            <a:pPr defTabSz="914400">
              <a:lnSpc>
                <a:spcPts val="2667"/>
              </a:lnSpc>
            </a:pPr>
            <a:r>
              <a:rPr b="1" lang="en-US" sz="2300" spc="-1" strike="noStrike">
                <a:solidFill>
                  <a:srgbClr val="ffffff"/>
                </a:solidFill>
                <a:latin typeface="Raleway Medium"/>
                <a:ea typeface="Raleway Medium"/>
              </a:rPr>
              <a:t>S'appuyer sur les standards (NIST SP 800-213, ETSI EN 303 645) plutôt que réinventer la sécurité à chaque projet</a:t>
            </a:r>
            <a:endParaRPr b="0" lang="fr-FR" sz="2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243f81"/>
            </a:gs>
            <a:gs pos="100000">
              <a:srgbClr val="288198"/>
            </a:gs>
          </a:gsLst>
          <a:lin ang="0"/>
        </a:gradFill>
      </p:bgPr>
    </p:bg>
    <p:spTree>
      <p:nvGrpSpPr>
        <p:cNvPr id="1" name=""/>
        <p:cNvGrpSpPr/>
        <p:nvPr/>
      </p:nvGrpSpPr>
      <p:grpSpPr>
        <a:xfrm>
          <a:off x="0" y="0"/>
          <a:ext cx="0" cy="0"/>
          <a:chOff x="0" y="0"/>
          <a:chExt cx="0" cy="0"/>
        </a:xfrm>
      </p:grpSpPr>
      <p:sp>
        <p:nvSpPr>
          <p:cNvPr id="587" name="Freeform 2"/>
          <p:cNvSpPr/>
          <p:nvPr/>
        </p:nvSpPr>
        <p:spPr>
          <a:xfrm flipH="1">
            <a:off x="-10742760" y="-3151800"/>
            <a:ext cx="16234920" cy="16234920"/>
          </a:xfrm>
          <a:custGeom>
            <a:avLst/>
            <a:gdLst>
              <a:gd name="textAreaLeft" fmla="*/ 360 w 16234920"/>
              <a:gd name="textAreaRight" fmla="*/ 16235640 w 16234920"/>
              <a:gd name="textAreaTop" fmla="*/ 0 h 16234920"/>
              <a:gd name="textAreaBottom" fmla="*/ 16235280 h 16234920"/>
            </a:gdLst>
            <a:ahLst/>
            <a:rect l="textAreaLeft" t="textAreaTop" r="textAreaRight" b="textAreaBottom"/>
            <a:pathLst>
              <a:path w="16235139" h="16235139">
                <a:moveTo>
                  <a:pt x="16235138" y="0"/>
                </a:moveTo>
                <a:lnTo>
                  <a:pt x="0" y="0"/>
                </a:lnTo>
                <a:lnTo>
                  <a:pt x="0" y="16235139"/>
                </a:lnTo>
                <a:lnTo>
                  <a:pt x="16235138" y="16235139"/>
                </a:lnTo>
                <a:lnTo>
                  <a:pt x="16235138" y="0"/>
                </a:lnTo>
                <a:close/>
              </a:path>
            </a:pathLst>
          </a:custGeom>
          <a:blipFill rotWithShape="0">
            <a:blip r:embed="rId1">
              <a:alphaModFix amt="20000"/>
            </a:blip>
            <a:srcRect/>
            <a:stretch/>
          </a:blip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grpSp>
        <p:nvGrpSpPr>
          <p:cNvPr id="588" name="Group 3"/>
          <p:cNvGrpSpPr/>
          <p:nvPr/>
        </p:nvGrpSpPr>
        <p:grpSpPr>
          <a:xfrm>
            <a:off x="2253600" y="2403360"/>
            <a:ext cx="2138400" cy="2138400"/>
            <a:chOff x="2253600" y="2403360"/>
            <a:chExt cx="2138400" cy="2138400"/>
          </a:xfrm>
        </p:grpSpPr>
        <p:sp>
          <p:nvSpPr>
            <p:cNvPr id="589" name="Freeform 4"/>
            <p:cNvSpPr/>
            <p:nvPr/>
          </p:nvSpPr>
          <p:spPr>
            <a:xfrm>
              <a:off x="2253600" y="2403360"/>
              <a:ext cx="2138400" cy="2138400"/>
            </a:xfrm>
            <a:custGeom>
              <a:avLst/>
              <a:gdLst>
                <a:gd name="textAreaLeft" fmla="*/ 0 w 2138400"/>
                <a:gd name="textAreaRight" fmla="*/ 2138760 w 2138400"/>
                <a:gd name="textAreaTop" fmla="*/ 0 h 2138400"/>
                <a:gd name="textAreaBottom" fmla="*/ 2138760 h 2138400"/>
              </a:gdLst>
              <a:ah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9fe5ff"/>
                </a:gs>
                <a:gs pos="100000">
                  <a:srgbClr val="6f6296">
                    <a:alpha val="0"/>
                  </a:srgbClr>
                </a:gs>
              </a:gsLst>
              <a:lin ang="0"/>
            </a:gradFill>
            <a:ln w="0">
              <a:noFill/>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590" name="TextBox 5"/>
            <p:cNvSpPr/>
            <p:nvPr/>
          </p:nvSpPr>
          <p:spPr>
            <a:xfrm>
              <a:off x="2454120" y="2553840"/>
              <a:ext cx="1737360" cy="1787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784"/>
                </a:lnSpc>
              </a:pPr>
              <a:endParaRPr b="0" lang="en-US" sz="1800" spc="-1" strike="noStrike">
                <a:solidFill>
                  <a:schemeClr val="dk1"/>
                </a:solidFill>
                <a:latin typeface="Calibri"/>
              </a:endParaRPr>
            </a:p>
          </p:txBody>
        </p:sp>
      </p:grpSp>
      <p:sp>
        <p:nvSpPr>
          <p:cNvPr id="591" name="TextBox 6"/>
          <p:cNvSpPr/>
          <p:nvPr/>
        </p:nvSpPr>
        <p:spPr>
          <a:xfrm>
            <a:off x="4614840" y="4117680"/>
            <a:ext cx="10206360" cy="2215080"/>
          </a:xfrm>
          <a:prstGeom prst="rect">
            <a:avLst/>
          </a:prstGeom>
          <a:noFill/>
          <a:ln w="0">
            <a:noFill/>
          </a:ln>
        </p:spPr>
        <p:style>
          <a:lnRef idx="0"/>
          <a:fillRef idx="0"/>
          <a:effectRef idx="0"/>
          <a:fontRef idx="minor"/>
        </p:style>
        <p:txBody>
          <a:bodyPr lIns="0" rIns="0" tIns="0" bIns="0" anchor="t">
            <a:spAutoFit/>
          </a:bodyPr>
          <a:p>
            <a:pPr algn="ctr" defTabSz="914400">
              <a:lnSpc>
                <a:spcPts val="8719"/>
              </a:lnSpc>
            </a:pPr>
            <a:r>
              <a:rPr b="1" lang="en-US" sz="9480" spc="-511" strike="noStrike">
                <a:solidFill>
                  <a:srgbClr val="ffffff"/>
                </a:solidFill>
                <a:latin typeface="Inter Bold"/>
                <a:ea typeface="Inter Bold"/>
              </a:rPr>
              <a:t>Merci de votre attention !</a:t>
            </a:r>
            <a:endParaRPr b="0" lang="fr-FR" sz="94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DAHM0k2uq74</dc:identifier>
  <dc:language>fr-FR</dc:language>
  <cp:lastModifiedBy/>
  <dcterms:modified xsi:type="dcterms:W3CDTF">2026-07-15T10:18:06Z</dcterms:modified>
  <cp:revision>2</cp:revision>
  <dc:subject/>
  <dc:title>Cyber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