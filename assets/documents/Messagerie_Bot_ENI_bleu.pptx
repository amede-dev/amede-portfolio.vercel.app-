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Override PartName="/ppt/media/image13.png" ContentType="image/png"/>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_rels/notesSlide15.xml.rels" ContentType="application/vnd.openxmlformats-package.relationships+xml"/>
  <Override PartName="/ppt/notesSlides/_rels/notesSlide14.xml.rels" ContentType="application/vnd.openxmlformats-package.relationships+xml"/>
  <Override PartName="/ppt/notesSlides/_rels/notesSlide7.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16.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fr-FR" sz="4400" spc="-1" strike="noStrike">
                <a:solidFill>
                  <a:srgbClr val="000000"/>
                </a:solidFill>
                <a:latin typeface="Arial"/>
              </a:rPr>
              <a:t>Cliquez </a:t>
            </a:r>
            <a:r>
              <a:rPr b="0" lang="fr-FR" sz="4400" spc="-1" strike="noStrike">
                <a:solidFill>
                  <a:srgbClr val="000000"/>
                </a:solidFill>
                <a:latin typeface="Arial"/>
              </a:rPr>
              <a:t>pour </a:t>
            </a:r>
            <a:r>
              <a:rPr b="0" lang="fr-FR" sz="4400" spc="-1" strike="noStrike">
                <a:solidFill>
                  <a:srgbClr val="000000"/>
                </a:solidFill>
                <a:latin typeface="Arial"/>
              </a:rPr>
              <a:t>déplacer </a:t>
            </a:r>
            <a:r>
              <a:rPr b="0" lang="fr-FR" sz="4400" spc="-1" strike="noStrike">
                <a:solidFill>
                  <a:srgbClr val="000000"/>
                </a:solidFill>
                <a:latin typeface="Arial"/>
              </a:rPr>
              <a:t>la diapo</a:t>
            </a:r>
            <a:endParaRPr b="0" lang="fr-FR" sz="4400" spc="-1" strike="noStrike">
              <a:solidFill>
                <a:srgbClr val="000000"/>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fr-FR" sz="2000" spc="-1" strike="noStrike">
                <a:solidFill>
                  <a:srgbClr val="000000"/>
                </a:solidFill>
                <a:latin typeface="Arial"/>
              </a:rPr>
              <a:t>Cliquez pour modifier </a:t>
            </a:r>
            <a:r>
              <a:rPr b="0" lang="fr-FR" sz="2000" spc="-1" strike="noStrike">
                <a:solidFill>
                  <a:srgbClr val="000000"/>
                </a:solidFill>
                <a:latin typeface="Arial"/>
              </a:rPr>
              <a:t>le format des notes</a:t>
            </a:r>
            <a:endParaRPr b="0" lang="fr-FR"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pc="-1" strike="noStrike">
                <a:solidFill>
                  <a:srgbClr val="000000"/>
                </a:solidFill>
                <a:latin typeface="Times New Roman"/>
              </a:rPr>
              <a:t>&lt;en-tête&gt;</a:t>
            </a:r>
            <a:endParaRPr b="0" lang="fr-FR"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Times New Roman"/>
              </a:defRPr>
            </a:lvl1pPr>
          </a:lstStyle>
          <a:p>
            <a:pPr indent="0" algn="r">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pc="-1" strike="noStrike">
                <a:solidFill>
                  <a:srgbClr val="000000"/>
                </a:solidFill>
                <a:latin typeface="Times New Roman"/>
              </a:defRPr>
            </a:lvl1pPr>
          </a:lstStyle>
          <a:p>
            <a:pPr indent="0" algn="r">
              <a:buNone/>
            </a:pPr>
            <a:fld id="{309DE882-9BC6-424D-88AF-E1E089A6E08E}"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sldImg"/>
          </p:nvPr>
        </p:nvSpPr>
        <p:spPr>
          <a:xfrm>
            <a:off x="685800" y="1143000"/>
            <a:ext cx="5484600" cy="3084480"/>
          </a:xfrm>
          <a:prstGeom prst="rect">
            <a:avLst/>
          </a:prstGeom>
          <a:ln w="0">
            <a:noFill/>
          </a:ln>
        </p:spPr>
      </p:sp>
      <p:sp>
        <p:nvSpPr>
          <p:cNvPr id="404"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405" name="PlaceHolder 3"/>
          <p:cNvSpPr>
            <a:spLocks noGrp="1"/>
          </p:cNvSpPr>
          <p:nvPr>
            <p:ph type="sldNum" idx="4"/>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7E7FC75-38DD-4D42-A3A2-CE1F49417583}"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Img"/>
          </p:nvPr>
        </p:nvSpPr>
        <p:spPr>
          <a:xfrm>
            <a:off x="685800" y="1143000"/>
            <a:ext cx="5484600" cy="3084480"/>
          </a:xfrm>
          <a:prstGeom prst="rect">
            <a:avLst/>
          </a:prstGeom>
          <a:ln w="0">
            <a:noFill/>
          </a:ln>
        </p:spPr>
      </p:sp>
      <p:sp>
        <p:nvSpPr>
          <p:cNvPr id="407"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Bonjour à tous. Je vais commencer par présenter le contexte de mon projet. Au sein de l'ENI, les étudiants et les enseignants n'ont pas toujours un moyen simple et unifié pour communiquer entre eux dans le cadre de la vie universitaire. Mon projet, Messagerie Bot, répond à ce besoin en proposant une application de messagerie universitaire. L'objectif est que les messages soient transmis en temps réel, que chacun puisse consulter ses conversations, envoyer des fichiers, et recevoir des notifications lorsqu'un nouveau message arrive. L'application intègre également un assistant conversationnel, le Bot, qui peut aider l'étudiant au quotidien.</a:t>
            </a:r>
            <a:endParaRPr b="0" lang="fr-FR" sz="2000" spc="-1" strike="noStrike">
              <a:solidFill>
                <a:srgbClr val="000000"/>
              </a:solidFill>
              <a:latin typeface="Arial"/>
            </a:endParaRPr>
          </a:p>
        </p:txBody>
      </p:sp>
      <p:sp>
        <p:nvSpPr>
          <p:cNvPr id="408" name="PlaceHolder 3"/>
          <p:cNvSpPr>
            <a:spLocks noGrp="1"/>
          </p:cNvSpPr>
          <p:nvPr>
            <p:ph type="sldNum" idx="5"/>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7723181-583D-4923-ACBE-E7C8B85D056C}"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685800" y="1143000"/>
            <a:ext cx="5484600" cy="3084480"/>
          </a:xfrm>
          <a:prstGeom prst="rect">
            <a:avLst/>
          </a:prstGeom>
          <a:ln w="0">
            <a:noFill/>
          </a:ln>
        </p:spPr>
      </p:sp>
      <p:sp>
        <p:nvSpPr>
          <p:cNvPr id="410"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Ce contexte soulève plusieurs questions concrètes que j'ai dû résoudre. Premièrement, comment permettre une communication instantanée entre les utilisateurs, sans délai perceptible ? Deuxièmement, comment gérer proprement des conversations privées entre deux personnes ? Troisièmement, comment informer l'utilisateur dès qu'un nouveau message arrive, même s'il n'est pas en train de regarder l'écran de discussion ? Quatrièmement, comment sécuriser l'accès aux données, pour que seuls les utilisateurs autorisés puissent lire leurs messages ? Et enfin, comment intégrer un assistant Bot utile dans une application universitaire ? Ce sont ces cinq questions qui ont guidé la conception du projet.</a:t>
            </a:r>
            <a:endParaRPr b="0" lang="fr-FR" sz="2000" spc="-1" strike="noStrike">
              <a:solidFill>
                <a:srgbClr val="000000"/>
              </a:solidFill>
              <a:latin typeface="Arial"/>
            </a:endParaRPr>
          </a:p>
        </p:txBody>
      </p:sp>
      <p:sp>
        <p:nvSpPr>
          <p:cNvPr id="411" name="PlaceHolder 3"/>
          <p:cNvSpPr>
            <a:spLocks noGrp="1"/>
          </p:cNvSpPr>
          <p:nvPr>
            <p:ph type="sldNum" idx="6"/>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8159DC7-B080-4607-968F-37C64A2DCA94}"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Img"/>
          </p:nvPr>
        </p:nvSpPr>
        <p:spPr>
          <a:xfrm>
            <a:off x="685800" y="1143000"/>
            <a:ext cx="5484600" cy="3084480"/>
          </a:xfrm>
          <a:prstGeom prst="rect">
            <a:avLst/>
          </a:prstGeom>
          <a:ln w="0">
            <a:noFill/>
          </a:ln>
        </p:spPr>
      </p:sp>
      <p:sp>
        <p:nvSpPr>
          <p:cNvPr id="413"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Pour répondre à cette problématique, j'ai défini neuf objectifs concrets pour le projet : l'authentification et la création de compte, la gestion du profil utilisateur, les conversations privées, l'échange de messages en temps réel, l'envoi de fichiers et de messages vocaux, la gestion de la présence en ligne et hors ligne, les notifications persistantes stockées en base de données, un assistant Bot pour aider l'étudiant, et enfin la gestion du planning universitaire. Ces objectifs couvrent à la fois la communication de base et les fonctionnalités qui rendent l'application réellement utile au quotidien.</a:t>
            </a:r>
            <a:endParaRPr b="0" lang="fr-FR" sz="2000" spc="-1" strike="noStrike">
              <a:solidFill>
                <a:srgbClr val="000000"/>
              </a:solidFill>
              <a:latin typeface="Arial"/>
            </a:endParaRPr>
          </a:p>
        </p:txBody>
      </p:sp>
      <p:sp>
        <p:nvSpPr>
          <p:cNvPr id="414" name="PlaceHolder 3"/>
          <p:cNvSpPr>
            <a:spLocks noGrp="1"/>
          </p:cNvSpPr>
          <p:nvPr>
            <p:ph type="sldNum" idx="7"/>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97DEFBA-1A78-43B5-A349-17FB6BA12F5C}"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Img"/>
          </p:nvPr>
        </p:nvSpPr>
        <p:spPr>
          <a:xfrm>
            <a:off x="685800" y="1143000"/>
            <a:ext cx="5484600" cy="3084480"/>
          </a:xfrm>
          <a:prstGeom prst="rect">
            <a:avLst/>
          </a:prstGeom>
          <a:ln w="0">
            <a:noFill/>
          </a:ln>
        </p:spPr>
      </p:sp>
      <p:sp>
        <p:nvSpPr>
          <p:cNvPr id="416"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Voici les technologies utilisées dans ce projet. Côté frontend, l'application mobile est développée en Flutter et Dart, avec Riverpod pour la gestion d'état, Dio pour les appels REST vers le backend, le protocole STOMP au-dessus de WebSocket pour le temps réel, et Flutter Secure Storage pour stocker le jeton JWT de façon sécurisée sur l'appareil. Côté backend, j'utilise Java 17 avec Spring Boot, notamment Spring Web pour les API REST, Spring Data JPA pour l'accès aux données, Spring Security avec JWT pour l'authentification, et WebSocket/STOMP pour la messagerie instantanée. Enfin, les données sont stockées dans une base PostgreSQL hébergée sur Supabase, les fichiers dans Supabase Storage, et le backend peut être déployé sur une plateforme comme Render.</a:t>
            </a:r>
            <a:endParaRPr b="0" lang="fr-FR" sz="2000" spc="-1" strike="noStrike">
              <a:solidFill>
                <a:srgbClr val="000000"/>
              </a:solidFill>
              <a:latin typeface="Arial"/>
            </a:endParaRPr>
          </a:p>
        </p:txBody>
      </p:sp>
      <p:sp>
        <p:nvSpPr>
          <p:cNvPr id="417" name="PlaceHolder 3"/>
          <p:cNvSpPr>
            <a:spLocks noGrp="1"/>
          </p:cNvSpPr>
          <p:nvPr>
            <p:ph type="sldNum" idx="8"/>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D1EB9E0-7A98-4045-8807-F250B8A29527}"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Img"/>
          </p:nvPr>
        </p:nvSpPr>
        <p:spPr>
          <a:xfrm>
            <a:off x="685800" y="1143000"/>
            <a:ext cx="5484600" cy="3084480"/>
          </a:xfrm>
          <a:prstGeom prst="rect">
            <a:avLst/>
          </a:prstGeom>
          <a:ln w="0">
            <a:noFill/>
          </a:ln>
        </p:spPr>
      </p:sp>
      <p:sp>
        <p:nvSpPr>
          <p:cNvPr id="419"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Voici l'architecture générale de l'application, organisée en trois couches. L'utilisateur, étudiant ou enseignant, utilise l'application Flutter sur son mobile. Cette application communique avec le backend Spring Boot de deux façons : par des appels REST pour l'authentification, les profils, les conversations et les fichiers, et par WebSocket avec le protocole STOMP pour tout ce qui est temps réel, comme les messages, la présence en ligne, et les notifications. Enfin, le backend s'appuie sur Supabase, qui héberge à la fois la base de données PostgreSQL — contenant les utilisateurs, messages, conversations et notifications — et le service de stockage des fichiers envoyés. Cette séparation en couches rend l'application plus claire à maintenir et à faire évoluer.</a:t>
            </a:r>
            <a:endParaRPr b="0" lang="fr-FR" sz="2000" spc="-1" strike="noStrike">
              <a:solidFill>
                <a:srgbClr val="000000"/>
              </a:solidFill>
              <a:latin typeface="Arial"/>
            </a:endParaRPr>
          </a:p>
        </p:txBody>
      </p:sp>
      <p:sp>
        <p:nvSpPr>
          <p:cNvPr id="420" name="PlaceHolder 3"/>
          <p:cNvSpPr>
            <a:spLocks noGrp="1"/>
          </p:cNvSpPr>
          <p:nvPr>
            <p:ph type="sldNum" idx="9"/>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471ADCE-79A1-4B93-93B2-28DA46A8971B}"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685800" y="1143000"/>
            <a:ext cx="5484600" cy="3084480"/>
          </a:xfrm>
          <a:prstGeom prst="rect">
            <a:avLst/>
          </a:prstGeom>
          <a:ln w="0">
            <a:noFill/>
          </a:ln>
        </p:spPr>
      </p:sp>
      <p:sp>
        <p:nvSpPr>
          <p:cNvPr id="422"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Voici l'organisation du code côté Flutter. Le dossier core regroupe la configuration, les modèles de données et la couche réseau, c'est-à-dire le client HTTP Dio et le service WebSocket. Le dossier features contient les fonctionnalités principales de l'application : l'authentification, le bot conversationnel, et la messagerie elle-même — chacune organisée avec ses providers Riverpod pour la gestion d'état et ses écrans. Le dossier shared regroupe les widgets et utilitaires réutilisables dans toute l'application, comme les avatars ou les badges de messages non lus. Cette organisation par fonctionnalité rend le code plus facile à faire évoluer.</a:t>
            </a:r>
            <a:endParaRPr b="0" lang="fr-FR" sz="2000" spc="-1" strike="noStrike">
              <a:solidFill>
                <a:srgbClr val="000000"/>
              </a:solidFill>
              <a:latin typeface="Arial"/>
            </a:endParaRPr>
          </a:p>
        </p:txBody>
      </p:sp>
      <p:sp>
        <p:nvSpPr>
          <p:cNvPr id="423" name="PlaceHolder 3"/>
          <p:cNvSpPr>
            <a:spLocks noGrp="1"/>
          </p:cNvSpPr>
          <p:nvPr>
            <p:ph type="sldNum" idx="10"/>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BB3E2DB-3D57-4FA8-8923-01274DF408DF}"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685800" y="1143000"/>
            <a:ext cx="5484600" cy="3084480"/>
          </a:xfrm>
          <a:prstGeom prst="rect">
            <a:avLst/>
          </a:prstGeom>
          <a:ln w="0">
            <a:noFill/>
          </a:ln>
        </p:spPr>
      </p:sp>
      <p:sp>
        <p:nvSpPr>
          <p:cNvPr id="425"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Côté backend, le code Spring Boot est organisé en packages métier. Le package controller expose les routes REST et les points d'entrée WebSocket. Le package service contient toute la logique métier, par exemple l'envoi d'un message ou la création d'une notification. Le package entity représente les tables de la base de données, et repository gère l'accès aux données grâce à Spring Data JPA. Le package dto définit les objets échangés entre le frontend et le backend, sans exposer directement les entités. Le package security gère l'authentification JWT et la protection des connexions WebSocket, config regroupe la configuration de Spring Boot, et exception centralise la gestion des erreurs. Cette séparation entre présentation, logique métier et accès aux données est un principe clé d'architecture logicielle.</a:t>
            </a:r>
            <a:endParaRPr b="0" lang="fr-FR" sz="2000" spc="-1" strike="noStrike">
              <a:solidFill>
                <a:srgbClr val="000000"/>
              </a:solidFill>
              <a:latin typeface="Arial"/>
            </a:endParaRPr>
          </a:p>
        </p:txBody>
      </p:sp>
      <p:sp>
        <p:nvSpPr>
          <p:cNvPr id="426" name="PlaceHolder 3"/>
          <p:cNvSpPr>
            <a:spLocks noGrp="1"/>
          </p:cNvSpPr>
          <p:nvPr>
            <p:ph type="sldNum" idx="11"/>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1A362B5-6FBE-41ED-BDD0-94EFA428A2BC}"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685800" y="1143000"/>
            <a:ext cx="5484600" cy="3084480"/>
          </a:xfrm>
          <a:prstGeom prst="rect">
            <a:avLst/>
          </a:prstGeom>
          <a:ln w="0">
            <a:noFill/>
          </a:ln>
        </p:spPr>
      </p:sp>
      <p:sp>
        <p:nvSpPr>
          <p:cNvPr id="428"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La sécurité est un point important du projet. L'authentification repose sur JWT : après connexion, chaque utilisateur reçoit un jeton qui accompagne toutes ses requêtes. Ce jeton est vérifié côté serveur par la classe JwtAuthFilter pour chaque requête HTTP, et par JwtChannelInterceptor lors de l'établissement des connexions WebSocket, pour que seuls les utilisateurs authentifiés puissent recevoir des messages en temps réel. Côté mobile, le jeton est stocké de façon sécurisée avec Flutter Secure Storage, jamais en clair. Toutes les routes sensibles sont protégées par Spring Security. Et bien sûr, par souci de sécurité, aucun mot de passe, jeton JWT ou clé Supabase n'apparaît dans cette présentation.</a:t>
            </a:r>
            <a:endParaRPr b="0" lang="fr-FR" sz="2000" spc="-1" strike="noStrike">
              <a:solidFill>
                <a:srgbClr val="000000"/>
              </a:solidFill>
              <a:latin typeface="Arial"/>
            </a:endParaRPr>
          </a:p>
        </p:txBody>
      </p:sp>
      <p:sp>
        <p:nvSpPr>
          <p:cNvPr id="429" name="PlaceHolder 3"/>
          <p:cNvSpPr>
            <a:spLocks noGrp="1"/>
          </p:cNvSpPr>
          <p:nvPr>
            <p:ph type="sldNum" idx="12"/>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116E1EB-FC92-404E-9A0F-FADF24AA6ADD}"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685800" y="1143000"/>
            <a:ext cx="5484600" cy="3084480"/>
          </a:xfrm>
          <a:prstGeom prst="rect">
            <a:avLst/>
          </a:prstGeom>
          <a:ln w="0">
            <a:noFill/>
          </a:ln>
        </p:spPr>
      </p:sp>
      <p:sp>
        <p:nvSpPr>
          <p:cNvPr id="431"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Passons maintenant à la démonstration en direct, avec deux comptes : Amedé et Bernard. Je me connecte d'abord avec le compte d'Amedé et j'ouvre la liste des messages, puis je sélectionne la conversation avec Bernard pour envoyer un message texte, éventuellement accompagné d'un fichier ou d'un message vocal. Je me connecte ensuite avec le compte de Bernard pour vérifier que le message est reçu instantanément, avec le bon nom, la bonne photo, et le compteur de messages non lus mis à jour. J'ouvre la page des notifications pour montrer l'enregistrement dans Supabase, puis je supprime les notifications et vérifie la mise à jour de la table. Je déconnecte Bernard pour montrer l'affichage de la durée hors ligne. Enfin, j'ouvre l'assistant Bot, je pose une question, et je montre les réponses ainsi que les suggestions rapides proposées.</a:t>
            </a:r>
            <a:endParaRPr b="0" lang="fr-FR" sz="2000" spc="-1" strike="noStrike">
              <a:solidFill>
                <a:srgbClr val="000000"/>
              </a:solidFill>
              <a:latin typeface="Arial"/>
            </a:endParaRPr>
          </a:p>
        </p:txBody>
      </p:sp>
      <p:sp>
        <p:nvSpPr>
          <p:cNvPr id="432" name="PlaceHolder 3"/>
          <p:cNvSpPr>
            <a:spLocks noGrp="1"/>
          </p:cNvSpPr>
          <p:nvPr>
            <p:ph type="sldNum" idx="13"/>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08452C5-8CBF-4518-B6E6-4DCE9F069298}"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685800" y="1143000"/>
            <a:ext cx="5484600" cy="3084480"/>
          </a:xfrm>
          <a:prstGeom prst="rect">
            <a:avLst/>
          </a:prstGeom>
          <a:ln w="0">
            <a:noFill/>
          </a:ln>
        </p:spPr>
      </p:sp>
      <p:sp>
        <p:nvSpPr>
          <p:cNvPr id="434"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En résumé, le projet a permis d'obtenir une communication instantanée fonctionnelle, avec des messages correctement sauvegardés en base de données et des notifications persistantes. L'interface mobile est fonctionnelle, avec un affichage correct des noms et des photos de profil. La gestion de la présence utilisateur fonctionne, tout comme l'envoi de fichiers et de messages audio. L'assistant Bot est bien intégré à l'application. Enfin, l'architecture mise en place est séparée et maintenable, ce qui facilitera les évolutions futures du projet.</a:t>
            </a:r>
            <a:endParaRPr b="0" lang="fr-FR" sz="2000" spc="-1" strike="noStrike">
              <a:solidFill>
                <a:srgbClr val="000000"/>
              </a:solidFill>
              <a:latin typeface="Arial"/>
            </a:endParaRPr>
          </a:p>
        </p:txBody>
      </p:sp>
      <p:sp>
        <p:nvSpPr>
          <p:cNvPr id="435" name="PlaceHolder 3"/>
          <p:cNvSpPr>
            <a:spLocks noGrp="1"/>
          </p:cNvSpPr>
          <p:nvPr>
            <p:ph type="sldNum" idx="14"/>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6DB0B99-339E-4B89-86BA-20D98B7AAD1F}"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685800" y="1143000"/>
            <a:ext cx="5484600" cy="3084480"/>
          </a:xfrm>
          <a:prstGeom prst="rect">
            <a:avLst/>
          </a:prstGeom>
          <a:ln w="0">
            <a:noFill/>
          </a:ln>
        </p:spPr>
      </p:sp>
      <p:sp>
        <p:nvSpPr>
          <p:cNvPr id="437"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Comme tout projet, celui-ci comporte des limites et des pistes d'amélioration. On pourrait notamment ajouter des notifications push natives, améliorer la synchronisation hors ligne, ajouter le chiffrement de bout en bout des messages, permettre la création de groupes de discussion, améliorer le système de recherche, ajouter des tests automatisés plus complets, et enrichir l'interface d'administration. Ces pistes constituent une bonne base pour la suite du projet.</a:t>
            </a:r>
            <a:endParaRPr b="0" lang="fr-FR" sz="2000" spc="-1" strike="noStrike">
              <a:solidFill>
                <a:srgbClr val="000000"/>
              </a:solidFill>
              <a:latin typeface="Arial"/>
            </a:endParaRPr>
          </a:p>
        </p:txBody>
      </p:sp>
      <p:sp>
        <p:nvSpPr>
          <p:cNvPr id="438" name="PlaceHolder 3"/>
          <p:cNvSpPr>
            <a:spLocks noGrp="1"/>
          </p:cNvSpPr>
          <p:nvPr>
            <p:ph type="sldNum" idx="15"/>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6D34A91-BD56-4064-BB08-8FB7C75944A4}"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sldImg"/>
          </p:nvPr>
        </p:nvSpPr>
        <p:spPr>
          <a:xfrm>
            <a:off x="685800" y="1143000"/>
            <a:ext cx="5484600" cy="3084480"/>
          </a:xfrm>
          <a:prstGeom prst="rect">
            <a:avLst/>
          </a:prstGeom>
          <a:ln w="0">
            <a:noFill/>
          </a:ln>
        </p:spPr>
      </p:sp>
      <p:sp>
        <p:nvSpPr>
          <p:cNvPr id="440" name="PlaceHolder 2"/>
          <p:cNvSpPr>
            <a:spLocks noGrp="1"/>
          </p:cNvSpPr>
          <p:nvPr>
            <p:ph type="body"/>
          </p:nvPr>
        </p:nvSpPr>
        <p:spPr>
          <a:xfrm>
            <a:off x="685800" y="4400640"/>
            <a:ext cx="5484600" cy="359856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441" name="PlaceHolder 3"/>
          <p:cNvSpPr>
            <a:spLocks noGrp="1"/>
          </p:cNvSpPr>
          <p:nvPr>
            <p:ph type="sldNum" idx="16"/>
          </p:nvPr>
        </p:nvSpPr>
        <p:spPr>
          <a:xfrm>
            <a:off x="3884760" y="8685360"/>
            <a:ext cx="2970000" cy="4568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2625F34-2A15-4EAB-96D7-F78E3214E1C5}" type="slidenum">
              <a:rPr b="0" lang="en-US" sz="1200" spc="-1" strike="noStrike">
                <a:solidFill>
                  <a:schemeClr val="dk1"/>
                </a:solidFill>
                <a:latin typeface="+mn-lt"/>
                <a:ea typeface="+mn-ea"/>
              </a:rPr>
              <a:t>&lt;numéro&gt;</a:t>
            </a:fld>
            <a:endParaRPr b="0" lang="fr-FR"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a:t>
            </a:r>
            <a:r>
              <a:rPr b="0" lang="fr-FR" sz="4400" spc="-1" strike="noStrike">
                <a:solidFill>
                  <a:srgbClr val="000000"/>
                </a:solidFill>
                <a:latin typeface="Arial"/>
              </a:rPr>
              <a:t>pour </a:t>
            </a:r>
            <a:r>
              <a:rPr b="0" lang="fr-FR" sz="4400" spc="-1" strike="noStrike">
                <a:solidFill>
                  <a:srgbClr val="000000"/>
                </a:solidFill>
                <a:latin typeface="Arial"/>
              </a:rPr>
              <a:t>éditer le </a:t>
            </a:r>
            <a:r>
              <a:rPr b="0" lang="fr-FR" sz="4400" spc="-1" strike="noStrike">
                <a:solidFill>
                  <a:srgbClr val="000000"/>
                </a:solidFill>
                <a:latin typeface="Arial"/>
              </a:rPr>
              <a:t>format du </a:t>
            </a:r>
            <a:r>
              <a:rPr b="0" lang="fr-FR" sz="4400" spc="-1" strike="noStrike">
                <a:solidFill>
                  <a:srgbClr val="000000"/>
                </a:solidFill>
                <a:latin typeface="Arial"/>
              </a:rPr>
              <a:t>texte-titre</a:t>
            </a:r>
            <a:endParaRPr b="0" lang="fr-FR" sz="44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1.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1.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1.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8" name="Shape 0"/>
          <p:cNvSpPr/>
          <p:nvPr/>
        </p:nvSpPr>
        <p:spPr>
          <a:xfrm>
            <a:off x="7740000" y="-1620000"/>
            <a:ext cx="6399000" cy="6399000"/>
          </a:xfrm>
          <a:prstGeom prst="ellipse">
            <a:avLst/>
          </a:prstGeom>
          <a:solidFill>
            <a:srgbClr val="1a237e">
              <a:alpha val="45000"/>
            </a:srgbClr>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9" name="Shape 1"/>
          <p:cNvSpPr/>
          <p:nvPr/>
        </p:nvSpPr>
        <p:spPr>
          <a:xfrm>
            <a:off x="9509760" y="3291840"/>
            <a:ext cx="4753080" cy="4753080"/>
          </a:xfrm>
          <a:prstGeom prst="ellipse">
            <a:avLst/>
          </a:prstGeom>
          <a:solidFill>
            <a:srgbClr val="1565c0">
              <a:alpha val="30000"/>
            </a:srgbClr>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0" name="Text 8"/>
          <p:cNvSpPr/>
          <p:nvPr/>
        </p:nvSpPr>
        <p:spPr>
          <a:xfrm>
            <a:off x="540000" y="2334600"/>
            <a:ext cx="7313400" cy="36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88" strike="noStrike">
                <a:solidFill>
                  <a:srgbClr val="1565c0"/>
                </a:solidFill>
                <a:latin typeface="Calibri"/>
                <a:ea typeface="Calibri"/>
              </a:rPr>
              <a:t>PROJET DE  : </a:t>
            </a:r>
            <a:endParaRPr b="0" lang="fr-FR" sz="1300" spc="-1" strike="noStrike">
              <a:solidFill>
                <a:srgbClr val="ffffff"/>
              </a:solidFill>
              <a:latin typeface="Arial"/>
            </a:endParaRPr>
          </a:p>
        </p:txBody>
      </p:sp>
      <p:sp>
        <p:nvSpPr>
          <p:cNvPr id="11" name="Text 9"/>
          <p:cNvSpPr/>
          <p:nvPr/>
        </p:nvSpPr>
        <p:spPr>
          <a:xfrm>
            <a:off x="540000" y="2520000"/>
            <a:ext cx="8098560" cy="123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5400" spc="-1" strike="noStrike">
                <a:solidFill>
                  <a:srgbClr val="ffffff"/>
                </a:solidFill>
                <a:latin typeface="Cambria"/>
                <a:ea typeface="Cambria"/>
              </a:rPr>
              <a:t>Messagerie / Bot (Gp6-5)</a:t>
            </a:r>
            <a:endParaRPr b="0" lang="fr-FR" sz="5400" spc="-1" strike="noStrike">
              <a:solidFill>
                <a:srgbClr val="ffffff"/>
              </a:solidFill>
              <a:latin typeface="Arial"/>
            </a:endParaRPr>
          </a:p>
        </p:txBody>
      </p:sp>
      <p:sp>
        <p:nvSpPr>
          <p:cNvPr id="12" name="Text 10"/>
          <p:cNvSpPr/>
          <p:nvPr/>
        </p:nvSpPr>
        <p:spPr>
          <a:xfrm>
            <a:off x="605160" y="3500280"/>
            <a:ext cx="7313400" cy="63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2400" spc="-1" strike="noStrike">
                <a:solidFill>
                  <a:srgbClr val="1565c0"/>
                </a:solidFill>
                <a:latin typeface="Cambria"/>
                <a:ea typeface="Cambria"/>
              </a:rPr>
              <a:t>Réseau Social Universitaire ENI</a:t>
            </a:r>
            <a:endParaRPr b="0" lang="fr-FR" sz="2400" spc="-1" strike="noStrike">
              <a:solidFill>
                <a:srgbClr val="ffffff"/>
              </a:solidFill>
              <a:latin typeface="Arial"/>
            </a:endParaRPr>
          </a:p>
        </p:txBody>
      </p:sp>
      <p:sp>
        <p:nvSpPr>
          <p:cNvPr id="13" name="Shape 11"/>
          <p:cNvSpPr/>
          <p:nvPr/>
        </p:nvSpPr>
        <p:spPr>
          <a:xfrm>
            <a:off x="6804000" y="5220000"/>
            <a:ext cx="5038560" cy="1369800"/>
          </a:xfrm>
          <a:prstGeom prst="roundRect">
            <a:avLst>
              <a:gd name="adj" fmla="val 6667"/>
            </a:avLst>
          </a:prstGeom>
          <a:solidFill>
            <a:srgbClr val="121212"/>
          </a:solidFill>
          <a:ln w="12700">
            <a:solidFill>
              <a:srgbClr val="2a2a2a"/>
            </a:solidFill>
            <a:round/>
          </a:ln>
        </p:spPr>
        <p:style>
          <a:lnRef idx="0"/>
          <a:fillRef idx="0"/>
          <a:effectRef idx="0"/>
          <a:fontRef idx="minor"/>
        </p:style>
        <p:txBody>
          <a:bodyPr lIns="90000" rIns="90000" tIns="45000" bIns="45000" anchor="t">
            <a:noAutofit/>
          </a:bodyPr>
          <a:p>
            <a:pPr>
              <a:lnSpc>
                <a:spcPct val="100000"/>
              </a:lnSpc>
            </a:pPr>
            <a:r>
              <a:rPr b="0" lang="fr-FR" sz="1800" spc="-1" strike="noStrike">
                <a:solidFill>
                  <a:srgbClr val="ffffff"/>
                </a:solidFill>
                <a:latin typeface="Arial"/>
              </a:rPr>
              <a:t>Présenter par : </a:t>
            </a:r>
            <a:endParaRPr b="0" lang="fr-FR" sz="1800" spc="-1" strike="noStrike">
              <a:solidFill>
                <a:srgbClr val="ffffff"/>
              </a:solidFill>
              <a:latin typeface="Arial"/>
            </a:endParaRPr>
          </a:p>
        </p:txBody>
      </p:sp>
      <p:sp>
        <p:nvSpPr>
          <p:cNvPr id="14" name="Text 12"/>
          <p:cNvSpPr/>
          <p:nvPr/>
        </p:nvSpPr>
        <p:spPr>
          <a:xfrm>
            <a:off x="6804000" y="5220000"/>
            <a:ext cx="5038560" cy="136980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0" lang="fr-FR" sz="1600" spc="-1" strike="noStrike">
              <a:solidFill>
                <a:srgbClr val="ffffff"/>
              </a:solidFill>
              <a:latin typeface="Arial"/>
            </a:endParaRPr>
          </a:p>
          <a:p>
            <a:pPr>
              <a:lnSpc>
                <a:spcPct val="100000"/>
              </a:lnSpc>
            </a:pPr>
            <a:r>
              <a:rPr b="1" lang="en-US" sz="1600" spc="-1" strike="noStrike">
                <a:solidFill>
                  <a:srgbClr val="ffffff"/>
                </a:solidFill>
                <a:latin typeface="Calibri"/>
                <a:ea typeface="Calibri"/>
              </a:rPr>
              <a:t>                                  </a:t>
            </a:r>
            <a:r>
              <a:rPr b="1" lang="en-US" sz="1600" spc="-1" strike="noStrike">
                <a:solidFill>
                  <a:srgbClr val="ffffff"/>
                </a:solidFill>
                <a:latin typeface="Calibri"/>
                <a:ea typeface="Calibri"/>
              </a:rPr>
              <a:t>RAKOTONANDRASANA Amedé</a:t>
            </a:r>
            <a:endParaRPr b="0" lang="fr-FR" sz="1600" spc="-1" strike="noStrike">
              <a:solidFill>
                <a:srgbClr val="ffffff"/>
              </a:solidFill>
              <a:latin typeface="Arial"/>
            </a:endParaRPr>
          </a:p>
          <a:p>
            <a:pPr>
              <a:lnSpc>
                <a:spcPct val="100000"/>
              </a:lnSpc>
            </a:pPr>
            <a:r>
              <a:rPr b="0" lang="en-US" sz="1250" spc="-1" strike="noStrike">
                <a:solidFill>
                  <a:srgbClr val="c7c7c7"/>
                </a:solidFill>
                <a:latin typeface="Calibri"/>
                <a:ea typeface="Calibri"/>
              </a:rPr>
              <a:t>                                             </a:t>
            </a:r>
            <a:endParaRPr b="0" lang="fr-FR" sz="1250" spc="-1" strike="noStrike">
              <a:solidFill>
                <a:srgbClr val="ffffff"/>
              </a:solidFill>
              <a:latin typeface="Arial"/>
            </a:endParaRPr>
          </a:p>
          <a:p>
            <a:pPr>
              <a:lnSpc>
                <a:spcPct val="100000"/>
              </a:lnSpc>
            </a:pPr>
            <a:r>
              <a:rPr b="0" lang="en-US" sz="1250" spc="-1" strike="noStrike">
                <a:solidFill>
                  <a:srgbClr val="c7c7c7"/>
                </a:solidFill>
                <a:latin typeface="Calibri"/>
                <a:ea typeface="Calibri"/>
              </a:rPr>
              <a:t>                                             </a:t>
            </a:r>
            <a:r>
              <a:rPr b="0" lang="en-US" sz="1250" spc="-1" strike="noStrike">
                <a:solidFill>
                  <a:srgbClr val="c7c7c7"/>
                </a:solidFill>
                <a:latin typeface="Calibri"/>
                <a:ea typeface="Calibri"/>
              </a:rPr>
              <a:t>Master 1  — OCC, ENI - 4627</a:t>
            </a:r>
            <a:endParaRPr b="0" lang="fr-FR" sz="1250" spc="-1" strike="noStrike">
              <a:solidFill>
                <a:srgbClr val="ffffff"/>
              </a:solidFill>
              <a:latin typeface="Arial"/>
            </a:endParaRPr>
          </a:p>
          <a:p>
            <a:pPr defTabSz="914400">
              <a:lnSpc>
                <a:spcPct val="125000"/>
              </a:lnSpc>
              <a:tabLst>
                <a:tab algn="l" pos="0"/>
              </a:tabLst>
            </a:pPr>
            <a:r>
              <a:rPr b="0" lang="en-US" sz="1250" spc="-1" strike="noStrike">
                <a:solidFill>
                  <a:srgbClr val="c7c7c7"/>
                </a:solidFill>
                <a:latin typeface="Calibri"/>
                <a:ea typeface="Calibri"/>
              </a:rPr>
              <a:t>                                                                          </a:t>
            </a:r>
            <a:r>
              <a:rPr b="0" lang="en-US" sz="1250" spc="-1" strike="noStrike">
                <a:solidFill>
                  <a:srgbClr val="c7c7c7"/>
                </a:solidFill>
                <a:latin typeface="Calibri"/>
                <a:ea typeface="Calibri"/>
              </a:rPr>
              <a:t>Année universitaire 2025 – 2026</a:t>
            </a:r>
            <a:endParaRPr b="0" lang="fr-FR" sz="1250" spc="-1" strike="noStrike">
              <a:solidFill>
                <a:srgbClr val="ffffff"/>
              </a:solidFill>
              <a:latin typeface="Arial"/>
            </a:endParaRPr>
          </a:p>
        </p:txBody>
      </p:sp>
      <p:pic>
        <p:nvPicPr>
          <p:cNvPr id="15" name="Image 21" descr=""/>
          <p:cNvPicPr/>
          <p:nvPr/>
        </p:nvPicPr>
        <p:blipFill>
          <a:blip r:embed="rId1"/>
          <a:stretch/>
        </p:blipFill>
        <p:spPr>
          <a:xfrm>
            <a:off x="360000" y="240120"/>
            <a:ext cx="1618560" cy="1717200"/>
          </a:xfrm>
          <a:prstGeom prst="rect">
            <a:avLst/>
          </a:prstGeom>
          <a:ln w="0">
            <a:noFill/>
          </a:ln>
        </p:spPr>
      </p:pic>
      <p:pic>
        <p:nvPicPr>
          <p:cNvPr id="16" name="Image 20" descr=""/>
          <p:cNvPicPr/>
          <p:nvPr/>
        </p:nvPicPr>
        <p:blipFill>
          <a:blip r:embed="rId2"/>
          <a:stretch/>
        </p:blipFill>
        <p:spPr>
          <a:xfrm>
            <a:off x="9720000" y="360000"/>
            <a:ext cx="1438560" cy="1438560"/>
          </a:xfrm>
          <a:prstGeom prst="rect">
            <a:avLst/>
          </a:prstGeom>
          <a:ln w="0">
            <a:noFill/>
          </a:ln>
        </p:spPr>
      </p:pic>
      <p:sp>
        <p:nvSpPr>
          <p:cNvPr id="17" name="Shape 2"/>
          <p:cNvSpPr/>
          <p:nvPr/>
        </p:nvSpPr>
        <p:spPr>
          <a:xfrm>
            <a:off x="2953800" y="320400"/>
            <a:ext cx="4784760" cy="1369800"/>
          </a:xfrm>
          <a:prstGeom prst="roundRect">
            <a:avLst>
              <a:gd name="adj" fmla="val 6667"/>
            </a:avLst>
          </a:prstGeom>
          <a:solidFill>
            <a:srgbClr val="121212"/>
          </a:solidFill>
          <a:ln w="12700">
            <a:solidFill>
              <a:srgbClr val="2a2a2a"/>
            </a:solidFill>
            <a:round/>
          </a:ln>
        </p:spPr>
        <p:style>
          <a:lnRef idx="0"/>
          <a:fillRef idx="0"/>
          <a:effectRef idx="0"/>
          <a:fontRef idx="minor"/>
        </p:style>
        <p:txBody>
          <a:bodyPr lIns="90000" rIns="90000" tIns="45000" bIns="45000" anchor="t">
            <a:noAutofit/>
          </a:bodyPr>
          <a:p>
            <a:pPr>
              <a:lnSpc>
                <a:spcPct val="100000"/>
              </a:lnSpc>
            </a:pPr>
            <a:r>
              <a:rPr b="0" lang="fr-FR" sz="1800" spc="-1" strike="noStrike">
                <a:solidFill>
                  <a:srgbClr val="ffffff"/>
                </a:solidFill>
                <a:latin typeface="Arial"/>
              </a:rPr>
              <a:t>     </a:t>
            </a:r>
            <a:endParaRPr b="0" lang="fr-FR" sz="1800" spc="-1" strike="noStrike">
              <a:solidFill>
                <a:srgbClr val="ffffff"/>
              </a:solidFill>
              <a:latin typeface="Arial"/>
            </a:endParaRPr>
          </a:p>
          <a:p>
            <a:pPr>
              <a:lnSpc>
                <a:spcPct val="100000"/>
              </a:lnSpc>
            </a:pPr>
            <a:r>
              <a:rPr b="0" lang="fr-FR" sz="1800" spc="-1" strike="noStrike">
                <a:solidFill>
                  <a:srgbClr val="ffffff"/>
                </a:solidFill>
                <a:latin typeface="Arial"/>
              </a:rPr>
              <a:t>       </a:t>
            </a:r>
            <a:r>
              <a:rPr b="0" lang="fr-FR" sz="1800" spc="-1" strike="noStrike">
                <a:solidFill>
                  <a:srgbClr val="ffffff"/>
                </a:solidFill>
                <a:latin typeface="Arial"/>
              </a:rPr>
              <a:t>UNIVERSITE DE FIANARANTSOA</a:t>
            </a:r>
            <a:endParaRPr b="0" lang="fr-FR" sz="1800" spc="-1" strike="noStrike">
              <a:solidFill>
                <a:srgbClr val="ffffff"/>
              </a:solidFill>
              <a:latin typeface="Arial"/>
            </a:endParaRPr>
          </a:p>
          <a:p>
            <a:pPr>
              <a:lnSpc>
                <a:spcPct val="100000"/>
              </a:lnSpc>
            </a:pPr>
            <a:r>
              <a:rPr b="0" lang="fr-FR" sz="1800" spc="-1" strike="noStrike">
                <a:solidFill>
                  <a:srgbClr val="ffffff"/>
                </a:solidFill>
                <a:latin typeface="Arial"/>
              </a:rPr>
              <a:t>   </a:t>
            </a:r>
            <a:r>
              <a:rPr b="0" lang="fr-FR" sz="1800" spc="-1" strike="noStrike">
                <a:solidFill>
                  <a:srgbClr val="ffffff"/>
                </a:solidFill>
                <a:latin typeface="Arial"/>
              </a:rPr>
              <a:t>ECOLE NATIONALE D’INFORMATIQUE</a:t>
            </a:r>
            <a:endParaRPr b="0" lang="fr-FR" sz="1800" spc="-1" strike="noStrike">
              <a:solidFill>
                <a:srgbClr val="ffffff"/>
              </a:solidFill>
              <a:latin typeface="Arial"/>
            </a:endParaRPr>
          </a:p>
          <a:p>
            <a:pPr>
              <a:lnSpc>
                <a:spcPct val="100000"/>
              </a:lnSpc>
            </a:pPr>
            <a:endParaRPr b="0" lang="fr-FR" sz="1800" spc="-1" strike="noStrike">
              <a:solidFill>
                <a:srgbClr val="ffffff"/>
              </a:solidFill>
              <a:latin typeface="Arial"/>
            </a:endParaRPr>
          </a:p>
        </p:txBody>
      </p:sp>
      <p:pic>
        <p:nvPicPr>
          <p:cNvPr id="18" name="" descr=""/>
          <p:cNvPicPr/>
          <p:nvPr/>
        </p:nvPicPr>
        <p:blipFill>
          <a:blip r:embed="rId3"/>
          <a:stretch/>
        </p:blipFill>
        <p:spPr>
          <a:xfrm>
            <a:off x="1260000" y="4140000"/>
            <a:ext cx="2505960" cy="26859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Text 0"/>
          <p:cNvSpPr/>
          <p:nvPr/>
        </p:nvSpPr>
        <p:spPr>
          <a:xfrm>
            <a:off x="548640" y="384120"/>
            <a:ext cx="731340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86" strike="noStrike">
                <a:solidFill>
                  <a:srgbClr val="1a237e"/>
                </a:solidFill>
                <a:latin typeface="Calibri"/>
                <a:ea typeface="Calibri"/>
              </a:rPr>
              <a:t>INTRODUCTION</a:t>
            </a:r>
            <a:endParaRPr b="0" lang="fr-FR" sz="1200" spc="-1" strike="noStrike">
              <a:solidFill>
                <a:srgbClr val="000000"/>
              </a:solidFill>
              <a:latin typeface="Arial"/>
            </a:endParaRPr>
          </a:p>
        </p:txBody>
      </p:sp>
      <p:sp>
        <p:nvSpPr>
          <p:cNvPr id="20" name="Text 1"/>
          <p:cNvSpPr/>
          <p:nvPr/>
        </p:nvSpPr>
        <p:spPr>
          <a:xfrm>
            <a:off x="548640" y="658440"/>
            <a:ext cx="10513800" cy="72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000000"/>
                </a:solidFill>
                <a:latin typeface="Cambria"/>
                <a:ea typeface="Cambria"/>
              </a:rPr>
              <a:t>Contexte du projet</a:t>
            </a:r>
            <a:endParaRPr b="0" lang="fr-FR" sz="3200" spc="-1" strike="noStrike">
              <a:solidFill>
                <a:srgbClr val="000000"/>
              </a:solidFill>
              <a:latin typeface="Arial"/>
            </a:endParaRPr>
          </a:p>
        </p:txBody>
      </p:sp>
      <p:sp>
        <p:nvSpPr>
          <p:cNvPr id="21" name="Text 2"/>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747878"/>
                </a:solidFill>
                <a:latin typeface="Calibri"/>
                <a:ea typeface="Calibri"/>
              </a:rPr>
              <a:t>2</a:t>
            </a:r>
            <a:endParaRPr b="0" lang="fr-FR" sz="1000" spc="-1" strike="noStrike">
              <a:solidFill>
                <a:srgbClr val="000000"/>
              </a:solidFill>
              <a:latin typeface="Arial"/>
            </a:endParaRPr>
          </a:p>
        </p:txBody>
      </p:sp>
      <p:sp>
        <p:nvSpPr>
          <p:cNvPr id="22" name="Shape 4"/>
          <p:cNvSpPr/>
          <p:nvPr/>
        </p:nvSpPr>
        <p:spPr>
          <a:xfrm>
            <a:off x="548640" y="1691640"/>
            <a:ext cx="5073120" cy="2147040"/>
          </a:xfrm>
          <a:prstGeom prst="roundRect">
            <a:avLst>
              <a:gd name="adj" fmla="val 3404"/>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23" name="Text 7"/>
          <p:cNvSpPr/>
          <p:nvPr/>
        </p:nvSpPr>
        <p:spPr>
          <a:xfrm>
            <a:off x="2284200" y="1965960"/>
            <a:ext cx="2899440" cy="36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000000"/>
                </a:solidFill>
                <a:latin typeface="Cambria"/>
                <a:ea typeface="Cambria"/>
              </a:rPr>
              <a:t>Besoin de communication</a:t>
            </a:r>
            <a:endParaRPr b="0" lang="fr-FR" sz="1500" spc="-1" strike="noStrike">
              <a:solidFill>
                <a:srgbClr val="000000"/>
              </a:solidFill>
              <a:latin typeface="Arial"/>
            </a:endParaRPr>
          </a:p>
        </p:txBody>
      </p:sp>
      <p:sp>
        <p:nvSpPr>
          <p:cNvPr id="24" name="Text 8"/>
          <p:cNvSpPr/>
          <p:nvPr/>
        </p:nvSpPr>
        <p:spPr>
          <a:xfrm>
            <a:off x="822960" y="2651760"/>
            <a:ext cx="4524480" cy="100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444748"/>
                </a:solidFill>
                <a:latin typeface="Calibri"/>
                <a:ea typeface="Calibri"/>
              </a:rPr>
              <a:t>Les étudiants et enseignants de l'ENI ont besoin d'un moyen simple et centralisé pour échanger au sein du réseau universitaire.</a:t>
            </a:r>
            <a:endParaRPr b="0" lang="fr-FR" sz="1200" spc="-1" strike="noStrike">
              <a:solidFill>
                <a:srgbClr val="000000"/>
              </a:solidFill>
              <a:latin typeface="Arial"/>
            </a:endParaRPr>
          </a:p>
        </p:txBody>
      </p:sp>
      <p:sp>
        <p:nvSpPr>
          <p:cNvPr id="25" name="Shape 9"/>
          <p:cNvSpPr/>
          <p:nvPr/>
        </p:nvSpPr>
        <p:spPr>
          <a:xfrm>
            <a:off x="5989320" y="1691640"/>
            <a:ext cx="5073120" cy="2147040"/>
          </a:xfrm>
          <a:prstGeom prst="roundRect">
            <a:avLst>
              <a:gd name="adj" fmla="val 3404"/>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26" name="Text 12"/>
          <p:cNvSpPr/>
          <p:nvPr/>
        </p:nvSpPr>
        <p:spPr>
          <a:xfrm>
            <a:off x="7688880" y="2001960"/>
            <a:ext cx="2138760" cy="36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000000"/>
                </a:solidFill>
                <a:latin typeface="Cambria"/>
                <a:ea typeface="Cambria"/>
              </a:rPr>
              <a:t>Temps réel</a:t>
            </a:r>
            <a:endParaRPr b="0" lang="fr-FR" sz="1500" spc="-1" strike="noStrike">
              <a:solidFill>
                <a:srgbClr val="000000"/>
              </a:solidFill>
              <a:latin typeface="Arial"/>
            </a:endParaRPr>
          </a:p>
        </p:txBody>
      </p:sp>
      <p:sp>
        <p:nvSpPr>
          <p:cNvPr id="27" name="Text 13"/>
          <p:cNvSpPr/>
          <p:nvPr/>
        </p:nvSpPr>
        <p:spPr>
          <a:xfrm>
            <a:off x="6263640" y="2651760"/>
            <a:ext cx="4524480" cy="100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444748"/>
                </a:solidFill>
                <a:latin typeface="Calibri"/>
                <a:ea typeface="Calibri"/>
              </a:rPr>
              <a:t>Les messages doivent être transmis instantanément, sans rechargement ni latence perceptible.</a:t>
            </a:r>
            <a:endParaRPr b="0" lang="fr-FR" sz="1200" spc="-1" strike="noStrike">
              <a:solidFill>
                <a:srgbClr val="000000"/>
              </a:solidFill>
              <a:latin typeface="Arial"/>
            </a:endParaRPr>
          </a:p>
        </p:txBody>
      </p:sp>
      <p:sp>
        <p:nvSpPr>
          <p:cNvPr id="28" name="Shape 14"/>
          <p:cNvSpPr/>
          <p:nvPr/>
        </p:nvSpPr>
        <p:spPr>
          <a:xfrm>
            <a:off x="548640" y="4160520"/>
            <a:ext cx="5073120" cy="2147040"/>
          </a:xfrm>
          <a:prstGeom prst="roundRect">
            <a:avLst>
              <a:gd name="adj" fmla="val 3404"/>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29" name="Text 17"/>
          <p:cNvSpPr/>
          <p:nvPr/>
        </p:nvSpPr>
        <p:spPr>
          <a:xfrm>
            <a:off x="2392200" y="4578840"/>
            <a:ext cx="2539440" cy="36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000000"/>
                </a:solidFill>
                <a:latin typeface="Cambria"/>
                <a:ea typeface="Cambria"/>
              </a:rPr>
              <a:t>Conversations riches</a:t>
            </a:r>
            <a:endParaRPr b="0" lang="fr-FR" sz="1500" spc="-1" strike="noStrike">
              <a:solidFill>
                <a:srgbClr val="000000"/>
              </a:solidFill>
              <a:latin typeface="Arial"/>
            </a:endParaRPr>
          </a:p>
        </p:txBody>
      </p:sp>
      <p:sp>
        <p:nvSpPr>
          <p:cNvPr id="30" name="Text 18"/>
          <p:cNvSpPr/>
          <p:nvPr/>
        </p:nvSpPr>
        <p:spPr>
          <a:xfrm>
            <a:off x="822960" y="5120640"/>
            <a:ext cx="4524480" cy="100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444748"/>
                </a:solidFill>
                <a:latin typeface="Calibri"/>
                <a:ea typeface="Calibri"/>
              </a:rPr>
              <a:t>Chaque utilisateur peut consulter ses conversations, envoyer des fichiers et recevoir des notifications.</a:t>
            </a:r>
            <a:endParaRPr b="0" lang="fr-FR" sz="1200" spc="-1" strike="noStrike">
              <a:solidFill>
                <a:srgbClr val="000000"/>
              </a:solidFill>
              <a:latin typeface="Arial"/>
            </a:endParaRPr>
          </a:p>
        </p:txBody>
      </p:sp>
      <p:sp>
        <p:nvSpPr>
          <p:cNvPr id="31" name="Shape 19"/>
          <p:cNvSpPr/>
          <p:nvPr/>
        </p:nvSpPr>
        <p:spPr>
          <a:xfrm>
            <a:off x="5989320" y="4160520"/>
            <a:ext cx="5073120" cy="2147040"/>
          </a:xfrm>
          <a:prstGeom prst="roundRect">
            <a:avLst>
              <a:gd name="adj" fmla="val 3404"/>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2" name="Text 22"/>
          <p:cNvSpPr/>
          <p:nvPr/>
        </p:nvSpPr>
        <p:spPr>
          <a:xfrm>
            <a:off x="7328880" y="4506840"/>
            <a:ext cx="2318760" cy="36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000000"/>
                </a:solidFill>
                <a:latin typeface="Cambria"/>
                <a:ea typeface="Cambria"/>
              </a:rPr>
              <a:t>Assistant intégré</a:t>
            </a:r>
            <a:endParaRPr b="0" lang="fr-FR" sz="1500" spc="-1" strike="noStrike">
              <a:solidFill>
                <a:srgbClr val="000000"/>
              </a:solidFill>
              <a:latin typeface="Arial"/>
            </a:endParaRPr>
          </a:p>
        </p:txBody>
      </p:sp>
      <p:sp>
        <p:nvSpPr>
          <p:cNvPr id="33" name="Text 23"/>
          <p:cNvSpPr/>
          <p:nvPr/>
        </p:nvSpPr>
        <p:spPr>
          <a:xfrm>
            <a:off x="6263640" y="5120640"/>
            <a:ext cx="4524480" cy="100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444748"/>
                </a:solidFill>
                <a:latin typeface="Calibri"/>
                <a:ea typeface="Calibri"/>
              </a:rPr>
              <a:t>L'application intègre également un assistant conversationnel (Bot) pour accompagner l'étudiant.</a:t>
            </a:r>
            <a:endParaRPr b="0" lang="fr-FR" sz="1200" spc="-1" strike="noStrike">
              <a:solidFill>
                <a:srgbClr val="000000"/>
              </a:solidFill>
              <a:latin typeface="Arial"/>
            </a:endParaRPr>
          </a:p>
        </p:txBody>
      </p:sp>
      <p:pic>
        <p:nvPicPr>
          <p:cNvPr id="34" name="" descr=""/>
          <p:cNvPicPr/>
          <p:nvPr/>
        </p:nvPicPr>
        <p:blipFill>
          <a:blip r:embed="rId1"/>
          <a:stretch/>
        </p:blipFill>
        <p:spPr>
          <a:xfrm>
            <a:off x="1152000" y="4392000"/>
            <a:ext cx="746280" cy="719640"/>
          </a:xfrm>
          <a:prstGeom prst="rect">
            <a:avLst/>
          </a:prstGeom>
          <a:ln w="0">
            <a:noFill/>
          </a:ln>
        </p:spPr>
      </p:pic>
      <p:pic>
        <p:nvPicPr>
          <p:cNvPr id="35" name="" descr=""/>
          <p:cNvPicPr/>
          <p:nvPr/>
        </p:nvPicPr>
        <p:blipFill>
          <a:blip r:embed="rId2"/>
          <a:stretch/>
        </p:blipFill>
        <p:spPr>
          <a:xfrm>
            <a:off x="6408000" y="4356000"/>
            <a:ext cx="739800" cy="751320"/>
          </a:xfrm>
          <a:prstGeom prst="rect">
            <a:avLst/>
          </a:prstGeom>
          <a:ln w="0">
            <a:noFill/>
          </a:ln>
        </p:spPr>
      </p:pic>
      <p:pic>
        <p:nvPicPr>
          <p:cNvPr id="36" name="" descr=""/>
          <p:cNvPicPr/>
          <p:nvPr/>
        </p:nvPicPr>
        <p:blipFill>
          <a:blip r:embed="rId3"/>
          <a:stretch/>
        </p:blipFill>
        <p:spPr>
          <a:xfrm>
            <a:off x="6588000" y="1945800"/>
            <a:ext cx="634320" cy="609840"/>
          </a:xfrm>
          <a:prstGeom prst="rect">
            <a:avLst/>
          </a:prstGeom>
          <a:ln w="0">
            <a:noFill/>
          </a:ln>
        </p:spPr>
      </p:pic>
      <p:pic>
        <p:nvPicPr>
          <p:cNvPr id="37" name="" descr=""/>
          <p:cNvPicPr/>
          <p:nvPr/>
        </p:nvPicPr>
        <p:blipFill>
          <a:blip r:embed="rId4"/>
          <a:stretch/>
        </p:blipFill>
        <p:spPr>
          <a:xfrm>
            <a:off x="828000" y="1871640"/>
            <a:ext cx="1065600" cy="72000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Text 0"/>
          <p:cNvSpPr/>
          <p:nvPr/>
        </p:nvSpPr>
        <p:spPr>
          <a:xfrm>
            <a:off x="548640" y="384120"/>
            <a:ext cx="731340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86" strike="noStrike">
                <a:solidFill>
                  <a:srgbClr val="1a237e"/>
                </a:solidFill>
                <a:latin typeface="Calibri"/>
                <a:ea typeface="Calibri"/>
              </a:rPr>
              <a:t>QUESTIONS DE RECHERCHE</a:t>
            </a:r>
            <a:endParaRPr b="0" lang="fr-FR" sz="1200" spc="-1" strike="noStrike">
              <a:solidFill>
                <a:srgbClr val="000000"/>
              </a:solidFill>
              <a:latin typeface="Arial"/>
            </a:endParaRPr>
          </a:p>
        </p:txBody>
      </p:sp>
      <p:sp>
        <p:nvSpPr>
          <p:cNvPr id="39" name="Text 1"/>
          <p:cNvSpPr/>
          <p:nvPr/>
        </p:nvSpPr>
        <p:spPr>
          <a:xfrm>
            <a:off x="548640" y="658440"/>
            <a:ext cx="10513800" cy="72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000000"/>
                </a:solidFill>
                <a:latin typeface="Cambria"/>
                <a:ea typeface="Cambria"/>
              </a:rPr>
              <a:t>Problématique</a:t>
            </a:r>
            <a:endParaRPr b="0" lang="fr-FR" sz="3200" spc="-1" strike="noStrike">
              <a:solidFill>
                <a:srgbClr val="000000"/>
              </a:solidFill>
              <a:latin typeface="Arial"/>
            </a:endParaRPr>
          </a:p>
        </p:txBody>
      </p:sp>
      <p:sp>
        <p:nvSpPr>
          <p:cNvPr id="40" name="Text 2"/>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747878"/>
                </a:solidFill>
                <a:latin typeface="Calibri"/>
                <a:ea typeface="Calibri"/>
              </a:rPr>
              <a:t>3</a:t>
            </a:r>
            <a:endParaRPr b="0" lang="fr-FR" sz="1000" spc="-1" strike="noStrike">
              <a:solidFill>
                <a:srgbClr val="000000"/>
              </a:solidFill>
              <a:latin typeface="Arial"/>
            </a:endParaRPr>
          </a:p>
        </p:txBody>
      </p:sp>
      <p:sp>
        <p:nvSpPr>
          <p:cNvPr id="41" name="Shape 4"/>
          <p:cNvSpPr/>
          <p:nvPr/>
        </p:nvSpPr>
        <p:spPr>
          <a:xfrm>
            <a:off x="548640" y="1737360"/>
            <a:ext cx="11062440" cy="839520"/>
          </a:xfrm>
          <a:prstGeom prst="roundRect">
            <a:avLst>
              <a:gd name="adj" fmla="val 8696"/>
            </a:avLst>
          </a:prstGeom>
          <a:solidFill>
            <a:srgbClr val="ffffff"/>
          </a:solidFill>
          <a:ln w="0">
            <a:noFill/>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42" name="Shape 5"/>
          <p:cNvSpPr/>
          <p:nvPr/>
        </p:nvSpPr>
        <p:spPr>
          <a:xfrm>
            <a:off x="822960" y="1901880"/>
            <a:ext cx="510120" cy="51012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43" name="Text 6"/>
          <p:cNvSpPr/>
          <p:nvPr/>
        </p:nvSpPr>
        <p:spPr>
          <a:xfrm>
            <a:off x="822960" y="1883520"/>
            <a:ext cx="510120" cy="51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1</a:t>
            </a:r>
            <a:endParaRPr b="0" lang="fr-FR" sz="1400" spc="-1" strike="noStrike">
              <a:solidFill>
                <a:srgbClr val="000000"/>
              </a:solidFill>
              <a:latin typeface="Arial"/>
            </a:endParaRPr>
          </a:p>
        </p:txBody>
      </p:sp>
      <p:sp>
        <p:nvSpPr>
          <p:cNvPr id="44" name="Text 7"/>
          <p:cNvSpPr/>
          <p:nvPr/>
        </p:nvSpPr>
        <p:spPr>
          <a:xfrm>
            <a:off x="1600200" y="1737360"/>
            <a:ext cx="9782280" cy="83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50" spc="-1" strike="noStrike">
                <a:solidFill>
                  <a:srgbClr val="000000"/>
                </a:solidFill>
                <a:latin typeface="Calibri"/>
                <a:ea typeface="Calibri"/>
              </a:rPr>
              <a:t>Comment permettre une communication instantanée entre les utilisateurs ?</a:t>
            </a:r>
            <a:endParaRPr b="0" lang="fr-FR" sz="1550" spc="-1" strike="noStrike">
              <a:solidFill>
                <a:srgbClr val="000000"/>
              </a:solidFill>
              <a:latin typeface="Arial"/>
            </a:endParaRPr>
          </a:p>
        </p:txBody>
      </p:sp>
      <p:sp>
        <p:nvSpPr>
          <p:cNvPr id="45" name="Shape 8"/>
          <p:cNvSpPr/>
          <p:nvPr/>
        </p:nvSpPr>
        <p:spPr>
          <a:xfrm>
            <a:off x="548640" y="2697480"/>
            <a:ext cx="11062440" cy="839520"/>
          </a:xfrm>
          <a:prstGeom prst="roundRect">
            <a:avLst>
              <a:gd name="adj" fmla="val 8696"/>
            </a:avLst>
          </a:prstGeom>
          <a:solidFill>
            <a:srgbClr val="e3f2fd"/>
          </a:solidFill>
          <a:ln w="0">
            <a:noFill/>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46" name="Shape 9"/>
          <p:cNvSpPr/>
          <p:nvPr/>
        </p:nvSpPr>
        <p:spPr>
          <a:xfrm>
            <a:off x="822960" y="2862000"/>
            <a:ext cx="510120" cy="51012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47" name="Text 10"/>
          <p:cNvSpPr/>
          <p:nvPr/>
        </p:nvSpPr>
        <p:spPr>
          <a:xfrm>
            <a:off x="822960" y="2843640"/>
            <a:ext cx="510120" cy="51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2</a:t>
            </a:r>
            <a:endParaRPr b="0" lang="fr-FR" sz="1400" spc="-1" strike="noStrike">
              <a:solidFill>
                <a:srgbClr val="000000"/>
              </a:solidFill>
              <a:latin typeface="Arial"/>
            </a:endParaRPr>
          </a:p>
        </p:txBody>
      </p:sp>
      <p:sp>
        <p:nvSpPr>
          <p:cNvPr id="48" name="Text 11"/>
          <p:cNvSpPr/>
          <p:nvPr/>
        </p:nvSpPr>
        <p:spPr>
          <a:xfrm>
            <a:off x="1600200" y="2697480"/>
            <a:ext cx="9782280" cy="83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50" spc="-1" strike="noStrike">
                <a:solidFill>
                  <a:srgbClr val="000000"/>
                </a:solidFill>
                <a:latin typeface="Calibri"/>
                <a:ea typeface="Calibri"/>
              </a:rPr>
              <a:t>Comment gérer les conversations privées de manière fiable ?</a:t>
            </a:r>
            <a:endParaRPr b="0" lang="fr-FR" sz="1550" spc="-1" strike="noStrike">
              <a:solidFill>
                <a:srgbClr val="000000"/>
              </a:solidFill>
              <a:latin typeface="Arial"/>
            </a:endParaRPr>
          </a:p>
        </p:txBody>
      </p:sp>
      <p:sp>
        <p:nvSpPr>
          <p:cNvPr id="49" name="Shape 16"/>
          <p:cNvSpPr/>
          <p:nvPr/>
        </p:nvSpPr>
        <p:spPr>
          <a:xfrm>
            <a:off x="548640" y="3897720"/>
            <a:ext cx="11062440" cy="839520"/>
          </a:xfrm>
          <a:prstGeom prst="roundRect">
            <a:avLst>
              <a:gd name="adj" fmla="val 8696"/>
            </a:avLst>
          </a:prstGeom>
          <a:solidFill>
            <a:srgbClr val="e3f2fd"/>
          </a:solidFill>
          <a:ln w="0">
            <a:noFill/>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50" name="Shape 17"/>
          <p:cNvSpPr/>
          <p:nvPr/>
        </p:nvSpPr>
        <p:spPr>
          <a:xfrm>
            <a:off x="822960" y="4062240"/>
            <a:ext cx="510120" cy="51012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51" name="Text 18"/>
          <p:cNvSpPr/>
          <p:nvPr/>
        </p:nvSpPr>
        <p:spPr>
          <a:xfrm>
            <a:off x="822960" y="4043880"/>
            <a:ext cx="510120" cy="51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4</a:t>
            </a:r>
            <a:endParaRPr b="0" lang="fr-FR" sz="1400" spc="-1" strike="noStrike">
              <a:solidFill>
                <a:srgbClr val="000000"/>
              </a:solidFill>
              <a:latin typeface="Arial"/>
            </a:endParaRPr>
          </a:p>
        </p:txBody>
      </p:sp>
      <p:sp>
        <p:nvSpPr>
          <p:cNvPr id="52" name="Text 19"/>
          <p:cNvSpPr/>
          <p:nvPr/>
        </p:nvSpPr>
        <p:spPr>
          <a:xfrm>
            <a:off x="1600200" y="3897720"/>
            <a:ext cx="9782280" cy="83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50" spc="-1" strike="noStrike">
                <a:solidFill>
                  <a:srgbClr val="000000"/>
                </a:solidFill>
                <a:latin typeface="Calibri"/>
                <a:ea typeface="Calibri"/>
              </a:rPr>
              <a:t>Comment sécuriser l'accès aux données de l'application ?</a:t>
            </a:r>
            <a:endParaRPr b="0" lang="fr-FR" sz="1550" spc="-1" strike="noStrike">
              <a:solidFill>
                <a:srgbClr val="000000"/>
              </a:solidFill>
              <a:latin typeface="Arial"/>
            </a:endParaRPr>
          </a:p>
        </p:txBody>
      </p:sp>
      <p:sp>
        <p:nvSpPr>
          <p:cNvPr id="53" name="Shape 20"/>
          <p:cNvSpPr/>
          <p:nvPr/>
        </p:nvSpPr>
        <p:spPr>
          <a:xfrm>
            <a:off x="1600200" y="5145840"/>
            <a:ext cx="10010880" cy="839520"/>
          </a:xfrm>
          <a:prstGeom prst="roundRect">
            <a:avLst>
              <a:gd name="adj" fmla="val 8696"/>
            </a:avLst>
          </a:prstGeom>
          <a:solidFill>
            <a:srgbClr val="ffffff"/>
          </a:solidFill>
          <a:ln w="0">
            <a:noFill/>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54" name="Shape 21"/>
          <p:cNvSpPr/>
          <p:nvPr/>
        </p:nvSpPr>
        <p:spPr>
          <a:xfrm>
            <a:off x="822960" y="5238360"/>
            <a:ext cx="510120" cy="51012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55" name="Text 22"/>
          <p:cNvSpPr/>
          <p:nvPr/>
        </p:nvSpPr>
        <p:spPr>
          <a:xfrm>
            <a:off x="822960" y="5220000"/>
            <a:ext cx="510120" cy="51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5</a:t>
            </a:r>
            <a:endParaRPr b="0" lang="fr-FR" sz="1400" spc="-1" strike="noStrike">
              <a:solidFill>
                <a:srgbClr val="000000"/>
              </a:solidFill>
              <a:latin typeface="Arial"/>
            </a:endParaRPr>
          </a:p>
        </p:txBody>
      </p:sp>
      <p:sp>
        <p:nvSpPr>
          <p:cNvPr id="56" name="Text 23"/>
          <p:cNvSpPr/>
          <p:nvPr/>
        </p:nvSpPr>
        <p:spPr>
          <a:xfrm>
            <a:off x="1600200" y="5037840"/>
            <a:ext cx="9782280" cy="83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50" spc="-1" strike="noStrike">
                <a:solidFill>
                  <a:srgbClr val="000000"/>
                </a:solidFill>
                <a:latin typeface="Calibri"/>
                <a:ea typeface="Calibri"/>
              </a:rPr>
              <a:t>Comment intégrer un assistant Bot dans une application universitaire ?</a:t>
            </a:r>
            <a:endParaRPr b="0" lang="fr-FR" sz="1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 name="Text 0"/>
          <p:cNvSpPr/>
          <p:nvPr/>
        </p:nvSpPr>
        <p:spPr>
          <a:xfrm>
            <a:off x="548640" y="384120"/>
            <a:ext cx="731340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86" strike="noStrike">
                <a:solidFill>
                  <a:srgbClr val="1a237e"/>
                </a:solidFill>
                <a:latin typeface="Calibri"/>
                <a:ea typeface="Calibri"/>
              </a:rPr>
              <a:t>CAHIER DES CHARGES</a:t>
            </a:r>
            <a:endParaRPr b="0" lang="fr-FR" sz="1200" spc="-1" strike="noStrike">
              <a:solidFill>
                <a:srgbClr val="000000"/>
              </a:solidFill>
              <a:latin typeface="Arial"/>
            </a:endParaRPr>
          </a:p>
        </p:txBody>
      </p:sp>
      <p:sp>
        <p:nvSpPr>
          <p:cNvPr id="58" name="Text 1"/>
          <p:cNvSpPr/>
          <p:nvPr/>
        </p:nvSpPr>
        <p:spPr>
          <a:xfrm>
            <a:off x="548640" y="658440"/>
            <a:ext cx="10513800" cy="72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000000"/>
                </a:solidFill>
                <a:latin typeface="Cambria"/>
                <a:ea typeface="Cambria"/>
              </a:rPr>
              <a:t>Objectifs du projet</a:t>
            </a:r>
            <a:endParaRPr b="0" lang="fr-FR" sz="3200" spc="-1" strike="noStrike">
              <a:solidFill>
                <a:srgbClr val="000000"/>
              </a:solidFill>
              <a:latin typeface="Arial"/>
            </a:endParaRPr>
          </a:p>
        </p:txBody>
      </p:sp>
      <p:sp>
        <p:nvSpPr>
          <p:cNvPr id="59" name="Text 2"/>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747878"/>
                </a:solidFill>
                <a:latin typeface="Calibri"/>
                <a:ea typeface="Calibri"/>
              </a:rPr>
              <a:t>4</a:t>
            </a:r>
            <a:endParaRPr b="0" lang="fr-FR" sz="1000" spc="-1" strike="noStrike">
              <a:solidFill>
                <a:srgbClr val="000000"/>
              </a:solidFill>
              <a:latin typeface="Arial"/>
            </a:endParaRPr>
          </a:p>
        </p:txBody>
      </p:sp>
      <p:sp>
        <p:nvSpPr>
          <p:cNvPr id="60" name="Shape 4"/>
          <p:cNvSpPr/>
          <p:nvPr/>
        </p:nvSpPr>
        <p:spPr>
          <a:xfrm>
            <a:off x="548640" y="1691640"/>
            <a:ext cx="3610080" cy="1415520"/>
          </a:xfrm>
          <a:prstGeom prst="roundRect">
            <a:avLst>
              <a:gd name="adj" fmla="val 5161"/>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61" name="Shape 5"/>
          <p:cNvSpPr/>
          <p:nvPr/>
        </p:nvSpPr>
        <p:spPr>
          <a:xfrm>
            <a:off x="777240" y="192024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62" name="Text 6"/>
          <p:cNvSpPr/>
          <p:nvPr/>
        </p:nvSpPr>
        <p:spPr>
          <a:xfrm>
            <a:off x="777240" y="190188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63" name="Text 7"/>
          <p:cNvSpPr/>
          <p:nvPr/>
        </p:nvSpPr>
        <p:spPr>
          <a:xfrm>
            <a:off x="777240" y="246888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300" spc="-1" strike="noStrike">
                <a:solidFill>
                  <a:srgbClr val="000000"/>
                </a:solidFill>
                <a:latin typeface="Calibri"/>
                <a:ea typeface="Calibri"/>
              </a:rPr>
              <a:t>Authentification</a:t>
            </a:r>
            <a:endParaRPr b="0" lang="fr-FR" sz="1300" spc="-1" strike="noStrike">
              <a:solidFill>
                <a:srgbClr val="000000"/>
              </a:solidFill>
              <a:latin typeface="Arial"/>
            </a:endParaRPr>
          </a:p>
        </p:txBody>
      </p:sp>
      <p:sp>
        <p:nvSpPr>
          <p:cNvPr id="64" name="Shape 8"/>
          <p:cNvSpPr/>
          <p:nvPr/>
        </p:nvSpPr>
        <p:spPr>
          <a:xfrm>
            <a:off x="4343400" y="1691640"/>
            <a:ext cx="3610080" cy="1415520"/>
          </a:xfrm>
          <a:prstGeom prst="roundRect">
            <a:avLst>
              <a:gd name="adj" fmla="val 5161"/>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65" name="Shape 9"/>
          <p:cNvSpPr/>
          <p:nvPr/>
        </p:nvSpPr>
        <p:spPr>
          <a:xfrm>
            <a:off x="4572000" y="192024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66" name="Text 10"/>
          <p:cNvSpPr/>
          <p:nvPr/>
        </p:nvSpPr>
        <p:spPr>
          <a:xfrm>
            <a:off x="4572000" y="190188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67" name="Text 11"/>
          <p:cNvSpPr/>
          <p:nvPr/>
        </p:nvSpPr>
        <p:spPr>
          <a:xfrm>
            <a:off x="4572000" y="246888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300" spc="-1" strike="noStrike">
                <a:solidFill>
                  <a:srgbClr val="000000"/>
                </a:solidFill>
                <a:latin typeface="Calibri"/>
                <a:ea typeface="Calibri"/>
              </a:rPr>
              <a:t>Gestion du profil utilisateur</a:t>
            </a:r>
            <a:endParaRPr b="0" lang="fr-FR" sz="1300" spc="-1" strike="noStrike">
              <a:solidFill>
                <a:srgbClr val="000000"/>
              </a:solidFill>
              <a:latin typeface="Arial"/>
            </a:endParaRPr>
          </a:p>
        </p:txBody>
      </p:sp>
      <p:sp>
        <p:nvSpPr>
          <p:cNvPr id="68" name="Shape 12"/>
          <p:cNvSpPr/>
          <p:nvPr/>
        </p:nvSpPr>
        <p:spPr>
          <a:xfrm>
            <a:off x="8138160" y="1691640"/>
            <a:ext cx="3610080" cy="1415520"/>
          </a:xfrm>
          <a:prstGeom prst="roundRect">
            <a:avLst>
              <a:gd name="adj" fmla="val 5161"/>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69" name="Shape 13"/>
          <p:cNvSpPr/>
          <p:nvPr/>
        </p:nvSpPr>
        <p:spPr>
          <a:xfrm>
            <a:off x="8366760" y="192024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70" name="Text 14"/>
          <p:cNvSpPr/>
          <p:nvPr/>
        </p:nvSpPr>
        <p:spPr>
          <a:xfrm>
            <a:off x="8366760" y="190188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71" name="Text 15"/>
          <p:cNvSpPr/>
          <p:nvPr/>
        </p:nvSpPr>
        <p:spPr>
          <a:xfrm>
            <a:off x="8366760" y="246888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300" spc="-1" strike="noStrike">
                <a:solidFill>
                  <a:srgbClr val="000000"/>
                </a:solidFill>
                <a:latin typeface="Calibri"/>
                <a:ea typeface="Calibri"/>
              </a:rPr>
              <a:t>Conversations privées</a:t>
            </a:r>
            <a:endParaRPr b="0" lang="fr-FR" sz="1300" spc="-1" strike="noStrike">
              <a:solidFill>
                <a:srgbClr val="000000"/>
              </a:solidFill>
              <a:latin typeface="Arial"/>
            </a:endParaRPr>
          </a:p>
        </p:txBody>
      </p:sp>
      <p:sp>
        <p:nvSpPr>
          <p:cNvPr id="72" name="Shape 16"/>
          <p:cNvSpPr/>
          <p:nvPr/>
        </p:nvSpPr>
        <p:spPr>
          <a:xfrm>
            <a:off x="548640" y="3291840"/>
            <a:ext cx="3610080" cy="1415520"/>
          </a:xfrm>
          <a:prstGeom prst="roundRect">
            <a:avLst>
              <a:gd name="adj" fmla="val 5161"/>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73" name="Shape 17"/>
          <p:cNvSpPr/>
          <p:nvPr/>
        </p:nvSpPr>
        <p:spPr>
          <a:xfrm>
            <a:off x="777240" y="352044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74" name="Text 18"/>
          <p:cNvSpPr/>
          <p:nvPr/>
        </p:nvSpPr>
        <p:spPr>
          <a:xfrm>
            <a:off x="777240" y="350208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75" name="Text 19"/>
          <p:cNvSpPr/>
          <p:nvPr/>
        </p:nvSpPr>
        <p:spPr>
          <a:xfrm>
            <a:off x="777240" y="406908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300" spc="-1" strike="noStrike">
                <a:solidFill>
                  <a:srgbClr val="000000"/>
                </a:solidFill>
                <a:latin typeface="Calibri"/>
                <a:ea typeface="Calibri"/>
              </a:rPr>
              <a:t>Échange de messages en temps réel</a:t>
            </a:r>
            <a:endParaRPr b="0" lang="fr-FR" sz="1300" spc="-1" strike="noStrike">
              <a:solidFill>
                <a:srgbClr val="000000"/>
              </a:solidFill>
              <a:latin typeface="Arial"/>
            </a:endParaRPr>
          </a:p>
        </p:txBody>
      </p:sp>
      <p:sp>
        <p:nvSpPr>
          <p:cNvPr id="76" name="Shape 20"/>
          <p:cNvSpPr/>
          <p:nvPr/>
        </p:nvSpPr>
        <p:spPr>
          <a:xfrm>
            <a:off x="4343400" y="3291840"/>
            <a:ext cx="3610080" cy="1415520"/>
          </a:xfrm>
          <a:prstGeom prst="roundRect">
            <a:avLst>
              <a:gd name="adj" fmla="val 5161"/>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77" name="Shape 21"/>
          <p:cNvSpPr/>
          <p:nvPr/>
        </p:nvSpPr>
        <p:spPr>
          <a:xfrm>
            <a:off x="4572000" y="352044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78" name="Text 22"/>
          <p:cNvSpPr/>
          <p:nvPr/>
        </p:nvSpPr>
        <p:spPr>
          <a:xfrm>
            <a:off x="4572000" y="350208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79" name="Text 23"/>
          <p:cNvSpPr/>
          <p:nvPr/>
        </p:nvSpPr>
        <p:spPr>
          <a:xfrm>
            <a:off x="4572000" y="406908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300" spc="-1" strike="noStrike">
                <a:solidFill>
                  <a:srgbClr val="000000"/>
                </a:solidFill>
                <a:latin typeface="Calibri"/>
                <a:ea typeface="Calibri"/>
              </a:rPr>
              <a:t>Envoi de fichiers et messages vocaux</a:t>
            </a:r>
            <a:endParaRPr b="0" lang="fr-FR" sz="1300" spc="-1" strike="noStrike">
              <a:solidFill>
                <a:srgbClr val="000000"/>
              </a:solidFill>
              <a:latin typeface="Arial"/>
            </a:endParaRPr>
          </a:p>
        </p:txBody>
      </p:sp>
      <p:sp>
        <p:nvSpPr>
          <p:cNvPr id="80" name="Shape 24"/>
          <p:cNvSpPr/>
          <p:nvPr/>
        </p:nvSpPr>
        <p:spPr>
          <a:xfrm>
            <a:off x="8138160" y="3291840"/>
            <a:ext cx="3610080" cy="1415520"/>
          </a:xfrm>
          <a:prstGeom prst="roundRect">
            <a:avLst>
              <a:gd name="adj" fmla="val 5161"/>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81" name="Shape 25"/>
          <p:cNvSpPr/>
          <p:nvPr/>
        </p:nvSpPr>
        <p:spPr>
          <a:xfrm>
            <a:off x="8366760" y="352044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82" name="Text 26"/>
          <p:cNvSpPr/>
          <p:nvPr/>
        </p:nvSpPr>
        <p:spPr>
          <a:xfrm>
            <a:off x="8366760" y="350208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83" name="Text 27"/>
          <p:cNvSpPr/>
          <p:nvPr/>
        </p:nvSpPr>
        <p:spPr>
          <a:xfrm>
            <a:off x="8366760" y="406908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300" spc="-1" strike="noStrike">
                <a:solidFill>
                  <a:srgbClr val="000000"/>
                </a:solidFill>
                <a:latin typeface="Calibri"/>
                <a:ea typeface="Calibri"/>
              </a:rPr>
              <a:t>Présence en ligne / hors ligne</a:t>
            </a:r>
            <a:endParaRPr b="0" lang="fr-FR" sz="1300" spc="-1" strike="noStrike">
              <a:solidFill>
                <a:srgbClr val="000000"/>
              </a:solidFill>
              <a:latin typeface="Arial"/>
            </a:endParaRPr>
          </a:p>
        </p:txBody>
      </p:sp>
      <p:sp>
        <p:nvSpPr>
          <p:cNvPr id="84" name="Shape 28"/>
          <p:cNvSpPr/>
          <p:nvPr/>
        </p:nvSpPr>
        <p:spPr>
          <a:xfrm>
            <a:off x="1556640" y="4892040"/>
            <a:ext cx="3610080" cy="1415520"/>
          </a:xfrm>
          <a:prstGeom prst="roundRect">
            <a:avLst>
              <a:gd name="adj" fmla="val 5161"/>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85" name="Shape 29"/>
          <p:cNvSpPr/>
          <p:nvPr/>
        </p:nvSpPr>
        <p:spPr>
          <a:xfrm>
            <a:off x="1749240" y="512064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86" name="Text 30"/>
          <p:cNvSpPr/>
          <p:nvPr/>
        </p:nvSpPr>
        <p:spPr>
          <a:xfrm>
            <a:off x="1749240" y="510228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87" name="Text 31"/>
          <p:cNvSpPr/>
          <p:nvPr/>
        </p:nvSpPr>
        <p:spPr>
          <a:xfrm>
            <a:off x="1857240" y="566928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300" spc="-1" strike="noStrike">
                <a:solidFill>
                  <a:srgbClr val="000000"/>
                </a:solidFill>
                <a:latin typeface="Calibri"/>
                <a:ea typeface="Calibri"/>
              </a:rPr>
              <a:t>Notifications persistantes en base</a:t>
            </a:r>
            <a:endParaRPr b="0" lang="fr-FR" sz="1300" spc="-1" strike="noStrike">
              <a:solidFill>
                <a:srgbClr val="000000"/>
              </a:solidFill>
              <a:latin typeface="Arial"/>
            </a:endParaRPr>
          </a:p>
        </p:txBody>
      </p:sp>
      <p:sp>
        <p:nvSpPr>
          <p:cNvPr id="88" name="Shape 32"/>
          <p:cNvSpPr/>
          <p:nvPr/>
        </p:nvSpPr>
        <p:spPr>
          <a:xfrm>
            <a:off x="6431400" y="4892040"/>
            <a:ext cx="3610080" cy="1415520"/>
          </a:xfrm>
          <a:prstGeom prst="roundRect">
            <a:avLst>
              <a:gd name="adj" fmla="val 5161"/>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89" name="Shape 33"/>
          <p:cNvSpPr/>
          <p:nvPr/>
        </p:nvSpPr>
        <p:spPr>
          <a:xfrm>
            <a:off x="6624000" y="512064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90" name="Text 34"/>
          <p:cNvSpPr/>
          <p:nvPr/>
        </p:nvSpPr>
        <p:spPr>
          <a:xfrm>
            <a:off x="6624000" y="510228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91" name="Text 35"/>
          <p:cNvSpPr/>
          <p:nvPr/>
        </p:nvSpPr>
        <p:spPr>
          <a:xfrm>
            <a:off x="6696000" y="566928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300" spc="-1" strike="noStrike">
                <a:solidFill>
                  <a:srgbClr val="000000"/>
                </a:solidFill>
                <a:latin typeface="Calibri"/>
                <a:ea typeface="Calibri"/>
              </a:rPr>
              <a:t>Assistant Bot pour aider l'étudiant</a:t>
            </a:r>
            <a:endParaRPr b="0" lang="fr-FR"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Text 0"/>
          <p:cNvSpPr/>
          <p:nvPr/>
        </p:nvSpPr>
        <p:spPr>
          <a:xfrm>
            <a:off x="548640" y="384120"/>
            <a:ext cx="731340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86" strike="noStrike">
                <a:solidFill>
                  <a:srgbClr val="1a237e"/>
                </a:solidFill>
                <a:latin typeface="Calibri"/>
                <a:ea typeface="Calibri"/>
              </a:rPr>
              <a:t>STACK TECHNIQUE</a:t>
            </a:r>
            <a:endParaRPr b="0" lang="fr-FR" sz="1200" spc="-1" strike="noStrike">
              <a:solidFill>
                <a:srgbClr val="000000"/>
              </a:solidFill>
              <a:latin typeface="Arial"/>
            </a:endParaRPr>
          </a:p>
        </p:txBody>
      </p:sp>
      <p:sp>
        <p:nvSpPr>
          <p:cNvPr id="93" name="Text 1"/>
          <p:cNvSpPr/>
          <p:nvPr/>
        </p:nvSpPr>
        <p:spPr>
          <a:xfrm>
            <a:off x="548640" y="658440"/>
            <a:ext cx="10513800" cy="72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000000"/>
                </a:solidFill>
                <a:latin typeface="Cambria"/>
                <a:ea typeface="Cambria"/>
              </a:rPr>
              <a:t>Technologies utilisées</a:t>
            </a:r>
            <a:endParaRPr b="0" lang="fr-FR" sz="3200" spc="-1" strike="noStrike">
              <a:solidFill>
                <a:srgbClr val="000000"/>
              </a:solidFill>
              <a:latin typeface="Arial"/>
            </a:endParaRPr>
          </a:p>
        </p:txBody>
      </p:sp>
      <p:sp>
        <p:nvSpPr>
          <p:cNvPr id="94" name="Text 2"/>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747878"/>
                </a:solidFill>
                <a:latin typeface="Calibri"/>
                <a:ea typeface="Calibri"/>
              </a:rPr>
              <a:t>5</a:t>
            </a:r>
            <a:endParaRPr b="0" lang="fr-FR" sz="1000" spc="-1" strike="noStrike">
              <a:solidFill>
                <a:srgbClr val="000000"/>
              </a:solidFill>
              <a:latin typeface="Arial"/>
            </a:endParaRPr>
          </a:p>
        </p:txBody>
      </p:sp>
      <p:sp>
        <p:nvSpPr>
          <p:cNvPr id="95" name="Shape 4"/>
          <p:cNvSpPr/>
          <p:nvPr/>
        </p:nvSpPr>
        <p:spPr>
          <a:xfrm>
            <a:off x="548640" y="1691640"/>
            <a:ext cx="3610080" cy="4295880"/>
          </a:xfrm>
          <a:prstGeom prst="roundRect">
            <a:avLst>
              <a:gd name="adj" fmla="val 2025"/>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96" name="Text 7"/>
          <p:cNvSpPr/>
          <p:nvPr/>
        </p:nvSpPr>
        <p:spPr>
          <a:xfrm>
            <a:off x="822960" y="2788920"/>
            <a:ext cx="3061440" cy="40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pc="-1" strike="noStrike">
                <a:solidFill>
                  <a:srgbClr val="000000"/>
                </a:solidFill>
                <a:latin typeface="Cambria"/>
                <a:ea typeface="Cambria"/>
              </a:rPr>
              <a:t>Frontend</a:t>
            </a:r>
            <a:endParaRPr b="0" lang="fr-FR" sz="1800" spc="-1" strike="noStrike">
              <a:solidFill>
                <a:srgbClr val="000000"/>
              </a:solidFill>
              <a:latin typeface="Arial"/>
            </a:endParaRPr>
          </a:p>
        </p:txBody>
      </p:sp>
      <p:sp>
        <p:nvSpPr>
          <p:cNvPr id="97" name="Text 8"/>
          <p:cNvSpPr/>
          <p:nvPr/>
        </p:nvSpPr>
        <p:spPr>
          <a:xfrm>
            <a:off x="822960" y="3291840"/>
            <a:ext cx="3061440" cy="246708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30000"/>
              </a:lnSpc>
              <a:spcAft>
                <a:spcPts val="799"/>
              </a:spcAft>
              <a:buClr>
                <a:srgbClr val="000000"/>
              </a:buClr>
              <a:buFont typeface="OpenSymbol"/>
              <a:buChar char="▪"/>
            </a:pPr>
            <a:r>
              <a:rPr b="0" lang="en-US" sz="1350" spc="-1" strike="noStrike">
                <a:solidFill>
                  <a:srgbClr val="000000"/>
                </a:solidFill>
                <a:latin typeface="Calibri"/>
                <a:ea typeface="Calibri"/>
              </a:rPr>
              <a:t>Flutter / Dart</a:t>
            </a:r>
            <a:endParaRPr b="0" lang="fr-FR" sz="1350" spc="-1" strike="noStrike">
              <a:solidFill>
                <a:srgbClr val="000000"/>
              </a:solidFill>
              <a:latin typeface="Arial"/>
            </a:endParaRPr>
          </a:p>
          <a:p>
            <a:pPr marL="343080" indent="-343080" defTabSz="914400">
              <a:lnSpc>
                <a:spcPct val="130000"/>
              </a:lnSpc>
              <a:spcAft>
                <a:spcPts val="799"/>
              </a:spcAft>
              <a:buClr>
                <a:srgbClr val="000000"/>
              </a:buClr>
              <a:buFont typeface="OpenSymbol"/>
              <a:buChar char="▪"/>
            </a:pPr>
            <a:r>
              <a:rPr b="0" lang="en-US" sz="1350" spc="-1" strike="noStrike">
                <a:solidFill>
                  <a:srgbClr val="000000"/>
                </a:solidFill>
                <a:latin typeface="Calibri"/>
                <a:ea typeface="Calibri"/>
              </a:rPr>
              <a:t>Riverpod (état)</a:t>
            </a:r>
            <a:endParaRPr b="0" lang="fr-FR" sz="1350" spc="-1" strike="noStrike">
              <a:solidFill>
                <a:srgbClr val="000000"/>
              </a:solidFill>
              <a:latin typeface="Arial"/>
            </a:endParaRPr>
          </a:p>
          <a:p>
            <a:pPr marL="343080" indent="-343080" defTabSz="914400">
              <a:lnSpc>
                <a:spcPct val="130000"/>
              </a:lnSpc>
              <a:spcAft>
                <a:spcPts val="799"/>
              </a:spcAft>
              <a:buClr>
                <a:srgbClr val="000000"/>
              </a:buClr>
              <a:buFont typeface="OpenSymbol"/>
              <a:buChar char="▪"/>
            </a:pPr>
            <a:r>
              <a:rPr b="0" lang="en-US" sz="1350" spc="-1" strike="noStrike">
                <a:solidFill>
                  <a:srgbClr val="000000"/>
                </a:solidFill>
                <a:latin typeface="Calibri"/>
                <a:ea typeface="Calibri"/>
              </a:rPr>
              <a:t>Dio (client REST)</a:t>
            </a:r>
            <a:endParaRPr b="0" lang="fr-FR" sz="1350" spc="-1" strike="noStrike">
              <a:solidFill>
                <a:srgbClr val="000000"/>
              </a:solidFill>
              <a:latin typeface="Arial"/>
            </a:endParaRPr>
          </a:p>
          <a:p>
            <a:pPr marL="343080" indent="-343080" defTabSz="914400">
              <a:lnSpc>
                <a:spcPct val="130000"/>
              </a:lnSpc>
              <a:spcAft>
                <a:spcPts val="799"/>
              </a:spcAft>
              <a:buClr>
                <a:srgbClr val="000000"/>
              </a:buClr>
              <a:buFont typeface="OpenSymbol"/>
              <a:buChar char="▪"/>
            </a:pPr>
            <a:r>
              <a:rPr b="0" lang="en-US" sz="1350" spc="-1" strike="noStrike">
                <a:solidFill>
                  <a:srgbClr val="000000"/>
                </a:solidFill>
                <a:latin typeface="Calibri"/>
                <a:ea typeface="Calibri"/>
              </a:rPr>
              <a:t>STOMP / WebSocket</a:t>
            </a:r>
            <a:endParaRPr b="0" lang="fr-FR" sz="1350" spc="-1" strike="noStrike">
              <a:solidFill>
                <a:srgbClr val="000000"/>
              </a:solidFill>
              <a:latin typeface="Arial"/>
            </a:endParaRPr>
          </a:p>
          <a:p>
            <a:pPr marL="343080" indent="-343080" defTabSz="914400">
              <a:lnSpc>
                <a:spcPct val="130000"/>
              </a:lnSpc>
              <a:spcAft>
                <a:spcPts val="799"/>
              </a:spcAft>
              <a:buClr>
                <a:srgbClr val="000000"/>
              </a:buClr>
              <a:buFont typeface="OpenSymbol"/>
              <a:buChar char="▪"/>
            </a:pPr>
            <a:r>
              <a:rPr b="0" lang="en-US" sz="1350" spc="-1" strike="noStrike">
                <a:solidFill>
                  <a:srgbClr val="000000"/>
                </a:solidFill>
                <a:latin typeface="Calibri"/>
                <a:ea typeface="Calibri"/>
              </a:rPr>
              <a:t>Flutter Secure Storage</a:t>
            </a:r>
            <a:endParaRPr b="0" lang="fr-FR" sz="1350" spc="-1" strike="noStrike">
              <a:solidFill>
                <a:srgbClr val="000000"/>
              </a:solidFill>
              <a:latin typeface="Arial"/>
            </a:endParaRPr>
          </a:p>
        </p:txBody>
      </p:sp>
      <p:sp>
        <p:nvSpPr>
          <p:cNvPr id="98" name="Shape 9"/>
          <p:cNvSpPr/>
          <p:nvPr/>
        </p:nvSpPr>
        <p:spPr>
          <a:xfrm>
            <a:off x="4343400" y="1691640"/>
            <a:ext cx="3610080" cy="4295880"/>
          </a:xfrm>
          <a:prstGeom prst="roundRect">
            <a:avLst>
              <a:gd name="adj" fmla="val 2025"/>
            </a:avLst>
          </a:prstGeom>
          <a:solidFill>
            <a:srgbClr val="000000"/>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99" name="Text 12"/>
          <p:cNvSpPr/>
          <p:nvPr/>
        </p:nvSpPr>
        <p:spPr>
          <a:xfrm>
            <a:off x="4617720" y="2788920"/>
            <a:ext cx="3061440" cy="40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pc="-1" strike="noStrike">
                <a:solidFill>
                  <a:srgbClr val="1565c0"/>
                </a:solidFill>
                <a:latin typeface="Cambria"/>
                <a:ea typeface="Cambria"/>
              </a:rPr>
              <a:t>Backend</a:t>
            </a:r>
            <a:endParaRPr b="0" lang="fr-FR" sz="1800" spc="-1" strike="noStrike">
              <a:solidFill>
                <a:srgbClr val="000000"/>
              </a:solidFill>
              <a:latin typeface="Arial"/>
            </a:endParaRPr>
          </a:p>
        </p:txBody>
      </p:sp>
      <p:sp>
        <p:nvSpPr>
          <p:cNvPr id="100" name="Text 13"/>
          <p:cNvSpPr/>
          <p:nvPr/>
        </p:nvSpPr>
        <p:spPr>
          <a:xfrm>
            <a:off x="4617720" y="3291840"/>
            <a:ext cx="3061440" cy="246708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30000"/>
              </a:lnSpc>
              <a:spcAft>
                <a:spcPts val="799"/>
              </a:spcAft>
              <a:buClr>
                <a:srgbClr val="ffffff"/>
              </a:buClr>
              <a:buFont typeface="OpenSymbol"/>
              <a:buChar char="▪"/>
            </a:pPr>
            <a:r>
              <a:rPr b="0" lang="en-US" sz="1350" spc="-1" strike="noStrike">
                <a:solidFill>
                  <a:srgbClr val="ffffff"/>
                </a:solidFill>
                <a:latin typeface="Calibri"/>
                <a:ea typeface="Calibri"/>
              </a:rPr>
              <a:t>Java 17</a:t>
            </a:r>
            <a:endParaRPr b="0" lang="fr-FR" sz="1350" spc="-1" strike="noStrike">
              <a:solidFill>
                <a:srgbClr val="000000"/>
              </a:solidFill>
              <a:latin typeface="Arial"/>
            </a:endParaRPr>
          </a:p>
          <a:p>
            <a:pPr marL="343080" indent="-343080" defTabSz="914400">
              <a:lnSpc>
                <a:spcPct val="130000"/>
              </a:lnSpc>
              <a:spcAft>
                <a:spcPts val="799"/>
              </a:spcAft>
              <a:buClr>
                <a:srgbClr val="ffffff"/>
              </a:buClr>
              <a:buFont typeface="OpenSymbol"/>
              <a:buChar char="▪"/>
            </a:pPr>
            <a:r>
              <a:rPr b="0" lang="en-US" sz="1350" spc="-1" strike="noStrike">
                <a:solidFill>
                  <a:srgbClr val="ffffff"/>
                </a:solidFill>
                <a:latin typeface="Calibri"/>
                <a:ea typeface="Calibri"/>
              </a:rPr>
              <a:t>Spring Boot</a:t>
            </a:r>
            <a:endParaRPr b="0" lang="fr-FR" sz="1350" spc="-1" strike="noStrike">
              <a:solidFill>
                <a:srgbClr val="000000"/>
              </a:solidFill>
              <a:latin typeface="Arial"/>
            </a:endParaRPr>
          </a:p>
          <a:p>
            <a:pPr marL="343080" indent="-343080" defTabSz="914400">
              <a:lnSpc>
                <a:spcPct val="130000"/>
              </a:lnSpc>
              <a:spcAft>
                <a:spcPts val="799"/>
              </a:spcAft>
              <a:buClr>
                <a:srgbClr val="ffffff"/>
              </a:buClr>
              <a:buFont typeface="OpenSymbol"/>
              <a:buChar char="▪"/>
            </a:pPr>
            <a:r>
              <a:rPr b="0" lang="en-US" sz="1350" spc="-1" strike="noStrike">
                <a:solidFill>
                  <a:srgbClr val="ffffff"/>
                </a:solidFill>
                <a:latin typeface="Calibri"/>
                <a:ea typeface="Calibri"/>
              </a:rPr>
              <a:t>Spring Web</a:t>
            </a:r>
            <a:endParaRPr b="0" lang="fr-FR" sz="1350" spc="-1" strike="noStrike">
              <a:solidFill>
                <a:srgbClr val="000000"/>
              </a:solidFill>
              <a:latin typeface="Arial"/>
            </a:endParaRPr>
          </a:p>
          <a:p>
            <a:pPr marL="343080" indent="-343080" defTabSz="914400">
              <a:lnSpc>
                <a:spcPct val="130000"/>
              </a:lnSpc>
              <a:spcAft>
                <a:spcPts val="799"/>
              </a:spcAft>
              <a:buClr>
                <a:srgbClr val="ffffff"/>
              </a:buClr>
              <a:buFont typeface="OpenSymbol"/>
              <a:buChar char="▪"/>
            </a:pPr>
            <a:r>
              <a:rPr b="0" lang="en-US" sz="1350" spc="-1" strike="noStrike">
                <a:solidFill>
                  <a:srgbClr val="ffffff"/>
                </a:solidFill>
                <a:latin typeface="Calibri"/>
                <a:ea typeface="Calibri"/>
              </a:rPr>
              <a:t>Spring Data JPA</a:t>
            </a:r>
            <a:endParaRPr b="0" lang="fr-FR" sz="1350" spc="-1" strike="noStrike">
              <a:solidFill>
                <a:srgbClr val="000000"/>
              </a:solidFill>
              <a:latin typeface="Arial"/>
            </a:endParaRPr>
          </a:p>
          <a:p>
            <a:pPr marL="343080" indent="-343080" defTabSz="914400">
              <a:lnSpc>
                <a:spcPct val="130000"/>
              </a:lnSpc>
              <a:spcAft>
                <a:spcPts val="799"/>
              </a:spcAft>
              <a:buClr>
                <a:srgbClr val="ffffff"/>
              </a:buClr>
              <a:buFont typeface="OpenSymbol"/>
              <a:buChar char="▪"/>
            </a:pPr>
            <a:r>
              <a:rPr b="0" lang="en-US" sz="1350" spc="-1" strike="noStrike">
                <a:solidFill>
                  <a:srgbClr val="ffffff"/>
                </a:solidFill>
                <a:latin typeface="Calibri"/>
                <a:ea typeface="Calibri"/>
              </a:rPr>
              <a:t>Spring Security + JWT</a:t>
            </a:r>
            <a:endParaRPr b="0" lang="fr-FR" sz="1350" spc="-1" strike="noStrike">
              <a:solidFill>
                <a:srgbClr val="000000"/>
              </a:solidFill>
              <a:latin typeface="Arial"/>
            </a:endParaRPr>
          </a:p>
          <a:p>
            <a:pPr marL="343080" indent="-343080" defTabSz="914400">
              <a:lnSpc>
                <a:spcPct val="130000"/>
              </a:lnSpc>
              <a:spcAft>
                <a:spcPts val="799"/>
              </a:spcAft>
              <a:buClr>
                <a:srgbClr val="ffffff"/>
              </a:buClr>
              <a:buFont typeface="OpenSymbol"/>
              <a:buChar char="▪"/>
            </a:pPr>
            <a:r>
              <a:rPr b="0" lang="en-US" sz="1350" spc="-1" strike="noStrike">
                <a:solidFill>
                  <a:srgbClr val="ffffff"/>
                </a:solidFill>
                <a:latin typeface="Calibri"/>
                <a:ea typeface="Calibri"/>
              </a:rPr>
              <a:t>WebSocket / STOMP</a:t>
            </a:r>
            <a:endParaRPr b="0" lang="fr-FR" sz="1350" spc="-1" strike="noStrike">
              <a:solidFill>
                <a:srgbClr val="000000"/>
              </a:solidFill>
              <a:latin typeface="Arial"/>
            </a:endParaRPr>
          </a:p>
        </p:txBody>
      </p:sp>
      <p:sp>
        <p:nvSpPr>
          <p:cNvPr id="101" name="Shape 14"/>
          <p:cNvSpPr/>
          <p:nvPr/>
        </p:nvSpPr>
        <p:spPr>
          <a:xfrm>
            <a:off x="8169480" y="1691640"/>
            <a:ext cx="3610080" cy="4295880"/>
          </a:xfrm>
          <a:prstGeom prst="roundRect">
            <a:avLst>
              <a:gd name="adj" fmla="val 2025"/>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02" name="Text 17"/>
          <p:cNvSpPr/>
          <p:nvPr/>
        </p:nvSpPr>
        <p:spPr>
          <a:xfrm>
            <a:off x="8412480" y="2788920"/>
            <a:ext cx="3061440" cy="409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pc="-1" strike="noStrike">
                <a:solidFill>
                  <a:srgbClr val="000000"/>
                </a:solidFill>
                <a:latin typeface="Cambria"/>
                <a:ea typeface="Cambria"/>
              </a:rPr>
              <a:t>Données &amp; services</a:t>
            </a:r>
            <a:endParaRPr b="0" lang="fr-FR" sz="1800" spc="-1" strike="noStrike">
              <a:solidFill>
                <a:srgbClr val="000000"/>
              </a:solidFill>
              <a:latin typeface="Arial"/>
            </a:endParaRPr>
          </a:p>
        </p:txBody>
      </p:sp>
      <p:sp>
        <p:nvSpPr>
          <p:cNvPr id="103" name="Text 18"/>
          <p:cNvSpPr/>
          <p:nvPr/>
        </p:nvSpPr>
        <p:spPr>
          <a:xfrm>
            <a:off x="8412480" y="3291840"/>
            <a:ext cx="3061440" cy="246708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30000"/>
              </a:lnSpc>
              <a:spcAft>
                <a:spcPts val="799"/>
              </a:spcAft>
              <a:buClr>
                <a:srgbClr val="000000"/>
              </a:buClr>
              <a:buFont typeface="OpenSymbol"/>
              <a:buChar char="▪"/>
            </a:pPr>
            <a:r>
              <a:rPr b="0" lang="en-US" sz="1350" spc="-1" strike="noStrike">
                <a:solidFill>
                  <a:srgbClr val="000000"/>
                </a:solidFill>
                <a:latin typeface="Calibri"/>
                <a:ea typeface="Calibri"/>
              </a:rPr>
              <a:t>Supabase PostgreSQL</a:t>
            </a:r>
            <a:endParaRPr b="0" lang="fr-FR" sz="1350" spc="-1" strike="noStrike">
              <a:solidFill>
                <a:srgbClr val="000000"/>
              </a:solidFill>
              <a:latin typeface="Arial"/>
            </a:endParaRPr>
          </a:p>
          <a:p>
            <a:pPr marL="343080" indent="-343080" defTabSz="914400">
              <a:lnSpc>
                <a:spcPct val="130000"/>
              </a:lnSpc>
              <a:spcAft>
                <a:spcPts val="799"/>
              </a:spcAft>
              <a:buClr>
                <a:srgbClr val="000000"/>
              </a:buClr>
              <a:buFont typeface="OpenSymbol"/>
              <a:buChar char="▪"/>
            </a:pPr>
            <a:r>
              <a:rPr b="0" lang="en-US" sz="1350" spc="-1" strike="noStrike">
                <a:solidFill>
                  <a:srgbClr val="000000"/>
                </a:solidFill>
                <a:latin typeface="Calibri"/>
                <a:ea typeface="Calibri"/>
              </a:rPr>
              <a:t>Supabase Storage</a:t>
            </a:r>
            <a:endParaRPr b="0" lang="fr-FR" sz="1350" spc="-1" strike="noStrike">
              <a:solidFill>
                <a:srgbClr val="000000"/>
              </a:solidFill>
              <a:latin typeface="Arial"/>
            </a:endParaRPr>
          </a:p>
          <a:p>
            <a:pPr marL="343080" indent="-343080" defTabSz="914400">
              <a:lnSpc>
                <a:spcPct val="130000"/>
              </a:lnSpc>
              <a:spcAft>
                <a:spcPts val="799"/>
              </a:spcAft>
              <a:buClr>
                <a:srgbClr val="000000"/>
              </a:buClr>
              <a:buFont typeface="OpenSymbol"/>
              <a:buChar char="▪"/>
            </a:pPr>
            <a:r>
              <a:rPr b="0" lang="en-US" sz="1350" spc="-1" strike="noStrike">
                <a:solidFill>
                  <a:srgbClr val="000000"/>
                </a:solidFill>
                <a:latin typeface="Calibri"/>
                <a:ea typeface="Calibri"/>
              </a:rPr>
              <a:t>Hébergement backend (Render)</a:t>
            </a:r>
            <a:endParaRPr b="0" lang="fr-FR" sz="1350" spc="-1" strike="noStrike">
              <a:solidFill>
                <a:srgbClr val="000000"/>
              </a:solidFill>
              <a:latin typeface="Arial"/>
            </a:endParaRPr>
          </a:p>
        </p:txBody>
      </p:sp>
      <p:pic>
        <p:nvPicPr>
          <p:cNvPr id="104" name="" descr=""/>
          <p:cNvPicPr/>
          <p:nvPr/>
        </p:nvPicPr>
        <p:blipFill>
          <a:blip r:embed="rId1"/>
          <a:stretch/>
        </p:blipFill>
        <p:spPr>
          <a:xfrm>
            <a:off x="1482120" y="1813320"/>
            <a:ext cx="1216440" cy="974160"/>
          </a:xfrm>
          <a:prstGeom prst="rect">
            <a:avLst/>
          </a:prstGeom>
          <a:ln w="0">
            <a:noFill/>
          </a:ln>
        </p:spPr>
      </p:pic>
      <p:pic>
        <p:nvPicPr>
          <p:cNvPr id="105" name="" descr=""/>
          <p:cNvPicPr/>
          <p:nvPr/>
        </p:nvPicPr>
        <p:blipFill>
          <a:blip r:embed="rId2"/>
          <a:stretch/>
        </p:blipFill>
        <p:spPr>
          <a:xfrm>
            <a:off x="5415480" y="1863360"/>
            <a:ext cx="883080" cy="924120"/>
          </a:xfrm>
          <a:prstGeom prst="rect">
            <a:avLst/>
          </a:prstGeom>
          <a:ln w="0">
            <a:noFill/>
          </a:ln>
        </p:spPr>
      </p:pic>
      <p:pic>
        <p:nvPicPr>
          <p:cNvPr id="106" name="" descr=""/>
          <p:cNvPicPr/>
          <p:nvPr/>
        </p:nvPicPr>
        <p:blipFill>
          <a:blip r:embed="rId3"/>
          <a:stretch/>
        </p:blipFill>
        <p:spPr>
          <a:xfrm>
            <a:off x="9000000" y="1800000"/>
            <a:ext cx="898560" cy="8985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 name="Text 0"/>
          <p:cNvSpPr/>
          <p:nvPr/>
        </p:nvSpPr>
        <p:spPr>
          <a:xfrm>
            <a:off x="548640" y="384120"/>
            <a:ext cx="731340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86" strike="noStrike">
                <a:solidFill>
                  <a:srgbClr val="1a237e"/>
                </a:solidFill>
                <a:latin typeface="Calibri"/>
                <a:ea typeface="Calibri"/>
              </a:rPr>
              <a:t>VUE D'ENSEMBLE</a:t>
            </a:r>
            <a:endParaRPr b="0" lang="fr-FR" sz="1200" spc="-1" strike="noStrike">
              <a:solidFill>
                <a:srgbClr val="000000"/>
              </a:solidFill>
              <a:latin typeface="Arial"/>
            </a:endParaRPr>
          </a:p>
        </p:txBody>
      </p:sp>
      <p:sp>
        <p:nvSpPr>
          <p:cNvPr id="108" name="Text 1"/>
          <p:cNvSpPr/>
          <p:nvPr/>
        </p:nvSpPr>
        <p:spPr>
          <a:xfrm>
            <a:off x="548640" y="658440"/>
            <a:ext cx="10513800" cy="72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000000"/>
                </a:solidFill>
                <a:latin typeface="Cambria"/>
                <a:ea typeface="Cambria"/>
              </a:rPr>
              <a:t>Architecture générale</a:t>
            </a:r>
            <a:endParaRPr b="0" lang="fr-FR" sz="3200" spc="-1" strike="noStrike">
              <a:solidFill>
                <a:srgbClr val="000000"/>
              </a:solidFill>
              <a:latin typeface="Arial"/>
            </a:endParaRPr>
          </a:p>
        </p:txBody>
      </p:sp>
      <p:sp>
        <p:nvSpPr>
          <p:cNvPr id="109" name="Text 2"/>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747878"/>
                </a:solidFill>
                <a:latin typeface="Calibri"/>
                <a:ea typeface="Calibri"/>
              </a:rPr>
              <a:t>6</a:t>
            </a:r>
            <a:endParaRPr b="0" lang="fr-FR" sz="1000" spc="-1" strike="noStrike">
              <a:solidFill>
                <a:srgbClr val="000000"/>
              </a:solidFill>
              <a:latin typeface="Arial"/>
            </a:endParaRPr>
          </a:p>
        </p:txBody>
      </p:sp>
      <p:sp>
        <p:nvSpPr>
          <p:cNvPr id="110" name="Shape 4"/>
          <p:cNvSpPr/>
          <p:nvPr/>
        </p:nvSpPr>
        <p:spPr>
          <a:xfrm>
            <a:off x="4722840" y="1600200"/>
            <a:ext cx="2741400" cy="866880"/>
          </a:xfrm>
          <a:prstGeom prst="roundRect">
            <a:avLst>
              <a:gd name="adj" fmla="val 8421"/>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11" name="Text 5"/>
          <p:cNvSpPr/>
          <p:nvPr/>
        </p:nvSpPr>
        <p:spPr>
          <a:xfrm>
            <a:off x="4722840" y="1719000"/>
            <a:ext cx="2741400" cy="3823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pc="-1" strike="noStrike">
                <a:solidFill>
                  <a:srgbClr val="000000"/>
                </a:solidFill>
                <a:latin typeface="Cambria"/>
                <a:ea typeface="Cambria"/>
              </a:rPr>
              <a:t>Utilisateur</a:t>
            </a:r>
            <a:endParaRPr b="0" lang="fr-FR" sz="1500" spc="-1" strike="noStrike">
              <a:solidFill>
                <a:srgbClr val="000000"/>
              </a:solidFill>
              <a:latin typeface="Arial"/>
            </a:endParaRPr>
          </a:p>
        </p:txBody>
      </p:sp>
      <p:sp>
        <p:nvSpPr>
          <p:cNvPr id="112" name="Text 6"/>
          <p:cNvSpPr/>
          <p:nvPr/>
        </p:nvSpPr>
        <p:spPr>
          <a:xfrm>
            <a:off x="4722840" y="2084760"/>
            <a:ext cx="2741400" cy="318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747878"/>
                </a:solidFill>
                <a:latin typeface="Calibri"/>
                <a:ea typeface="Calibri"/>
              </a:rPr>
              <a:t>Étudiant / Enseignant</a:t>
            </a:r>
            <a:endParaRPr b="0" lang="fr-FR" sz="1050" spc="-1" strike="noStrike">
              <a:solidFill>
                <a:srgbClr val="000000"/>
              </a:solidFill>
              <a:latin typeface="Arial"/>
            </a:endParaRPr>
          </a:p>
        </p:txBody>
      </p:sp>
      <p:sp>
        <p:nvSpPr>
          <p:cNvPr id="113" name="Shape 7"/>
          <p:cNvSpPr/>
          <p:nvPr/>
        </p:nvSpPr>
        <p:spPr>
          <a:xfrm>
            <a:off x="6094440" y="2468880"/>
            <a:ext cx="9000" cy="320040"/>
          </a:xfrm>
          <a:prstGeom prst="line">
            <a:avLst/>
          </a:prstGeom>
          <a:ln w="31750">
            <a:solidFill>
              <a:srgbClr val="1a237e"/>
            </a:solidFill>
            <a:round/>
            <a:tailEnd len="med" type="triangle" w="med"/>
          </a:ln>
        </p:spPr>
        <p:style>
          <a:lnRef idx="0"/>
          <a:fillRef idx="0"/>
          <a:effectRef idx="0"/>
          <a:fontRef idx="minor"/>
        </p:style>
        <p:txBody>
          <a:bodyPr lIns="90000" rIns="90000" tIns="45000" bIns="45000" anchor="t" anchorCtr="1">
            <a:noAutofit/>
          </a:bodyPr>
          <a:p>
            <a:endParaRPr b="0" lang="fr-FR" sz="1800" spc="-1" strike="noStrike">
              <a:solidFill>
                <a:srgbClr val="000000"/>
              </a:solidFill>
              <a:latin typeface="Arial"/>
            </a:endParaRPr>
          </a:p>
        </p:txBody>
      </p:sp>
      <p:sp>
        <p:nvSpPr>
          <p:cNvPr id="114" name="Shape 8"/>
          <p:cNvSpPr/>
          <p:nvPr/>
        </p:nvSpPr>
        <p:spPr>
          <a:xfrm>
            <a:off x="4722840" y="2788920"/>
            <a:ext cx="2741400" cy="866880"/>
          </a:xfrm>
          <a:prstGeom prst="roundRect">
            <a:avLst>
              <a:gd name="adj" fmla="val 8421"/>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15" name="Text 9"/>
          <p:cNvSpPr/>
          <p:nvPr/>
        </p:nvSpPr>
        <p:spPr>
          <a:xfrm>
            <a:off x="4722840" y="2907720"/>
            <a:ext cx="2741400" cy="3823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pc="-1" strike="noStrike">
                <a:solidFill>
                  <a:srgbClr val="000000"/>
                </a:solidFill>
                <a:latin typeface="Cambria"/>
                <a:ea typeface="Cambria"/>
              </a:rPr>
              <a:t>Application Flutter</a:t>
            </a:r>
            <a:endParaRPr b="0" lang="fr-FR" sz="1500" spc="-1" strike="noStrike">
              <a:solidFill>
                <a:srgbClr val="000000"/>
              </a:solidFill>
              <a:latin typeface="Arial"/>
            </a:endParaRPr>
          </a:p>
        </p:txBody>
      </p:sp>
      <p:sp>
        <p:nvSpPr>
          <p:cNvPr id="116" name="Text 10"/>
          <p:cNvSpPr/>
          <p:nvPr/>
        </p:nvSpPr>
        <p:spPr>
          <a:xfrm>
            <a:off x="4722840" y="3273480"/>
            <a:ext cx="2741400" cy="318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747878"/>
                </a:solidFill>
                <a:latin typeface="Calibri"/>
                <a:ea typeface="Calibri"/>
              </a:rPr>
              <a:t>Interface mobile</a:t>
            </a:r>
            <a:endParaRPr b="0" lang="fr-FR" sz="1050" spc="-1" strike="noStrike">
              <a:solidFill>
                <a:srgbClr val="000000"/>
              </a:solidFill>
              <a:latin typeface="Arial"/>
            </a:endParaRPr>
          </a:p>
        </p:txBody>
      </p:sp>
      <p:sp>
        <p:nvSpPr>
          <p:cNvPr id="117" name="Shape 11"/>
          <p:cNvSpPr/>
          <p:nvPr/>
        </p:nvSpPr>
        <p:spPr>
          <a:xfrm>
            <a:off x="6094440" y="3657600"/>
            <a:ext cx="9000" cy="320040"/>
          </a:xfrm>
          <a:prstGeom prst="line">
            <a:avLst/>
          </a:prstGeom>
          <a:ln w="31750">
            <a:solidFill>
              <a:srgbClr val="1a237e"/>
            </a:solidFill>
            <a:round/>
            <a:tailEnd len="med" type="triangle" w="med"/>
          </a:ln>
        </p:spPr>
        <p:style>
          <a:lnRef idx="0"/>
          <a:fillRef idx="0"/>
          <a:effectRef idx="0"/>
          <a:fontRef idx="minor"/>
        </p:style>
        <p:txBody>
          <a:bodyPr lIns="90000" rIns="90000" tIns="45000" bIns="45000" anchor="t" anchorCtr="1">
            <a:noAutofit/>
          </a:bodyPr>
          <a:p>
            <a:endParaRPr b="0" lang="fr-FR" sz="1800" spc="-1" strike="noStrike">
              <a:solidFill>
                <a:srgbClr val="000000"/>
              </a:solidFill>
              <a:latin typeface="Arial"/>
            </a:endParaRPr>
          </a:p>
        </p:txBody>
      </p:sp>
      <p:sp>
        <p:nvSpPr>
          <p:cNvPr id="118" name="Shape 12"/>
          <p:cNvSpPr/>
          <p:nvPr/>
        </p:nvSpPr>
        <p:spPr>
          <a:xfrm>
            <a:off x="4722840" y="3977640"/>
            <a:ext cx="2741400" cy="866880"/>
          </a:xfrm>
          <a:prstGeom prst="roundRect">
            <a:avLst>
              <a:gd name="adj" fmla="val 8421"/>
            </a:avLst>
          </a:prstGeom>
          <a:solidFill>
            <a:srgbClr val="000000"/>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19" name="Text 13"/>
          <p:cNvSpPr/>
          <p:nvPr/>
        </p:nvSpPr>
        <p:spPr>
          <a:xfrm>
            <a:off x="4722840" y="4096440"/>
            <a:ext cx="2741400" cy="3823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pc="-1" strike="noStrike">
                <a:solidFill>
                  <a:srgbClr val="1565c0"/>
                </a:solidFill>
                <a:latin typeface="Cambria"/>
                <a:ea typeface="Cambria"/>
              </a:rPr>
              <a:t>Backend Spring Boot</a:t>
            </a:r>
            <a:endParaRPr b="0" lang="fr-FR" sz="1500" spc="-1" strike="noStrike">
              <a:solidFill>
                <a:srgbClr val="000000"/>
              </a:solidFill>
              <a:latin typeface="Arial"/>
            </a:endParaRPr>
          </a:p>
        </p:txBody>
      </p:sp>
      <p:sp>
        <p:nvSpPr>
          <p:cNvPr id="120" name="Text 14"/>
          <p:cNvSpPr/>
          <p:nvPr/>
        </p:nvSpPr>
        <p:spPr>
          <a:xfrm>
            <a:off x="4722840" y="4462200"/>
            <a:ext cx="2741400" cy="318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5e5e5"/>
                </a:solidFill>
                <a:latin typeface="Calibri"/>
                <a:ea typeface="Calibri"/>
              </a:rPr>
              <a:t>REST API + WebSocket/STOMP</a:t>
            </a:r>
            <a:endParaRPr b="0" lang="fr-FR" sz="1050" spc="-1" strike="noStrike">
              <a:solidFill>
                <a:srgbClr val="000000"/>
              </a:solidFill>
              <a:latin typeface="Arial"/>
            </a:endParaRPr>
          </a:p>
        </p:txBody>
      </p:sp>
      <p:sp>
        <p:nvSpPr>
          <p:cNvPr id="121" name="Shape 15"/>
          <p:cNvSpPr/>
          <p:nvPr/>
        </p:nvSpPr>
        <p:spPr>
          <a:xfrm>
            <a:off x="6094440" y="4846320"/>
            <a:ext cx="9000" cy="320040"/>
          </a:xfrm>
          <a:prstGeom prst="line">
            <a:avLst/>
          </a:prstGeom>
          <a:ln w="31750">
            <a:solidFill>
              <a:srgbClr val="1a237e"/>
            </a:solidFill>
            <a:round/>
            <a:tailEnd len="med" type="triangle" w="med"/>
          </a:ln>
        </p:spPr>
        <p:style>
          <a:lnRef idx="0"/>
          <a:fillRef idx="0"/>
          <a:effectRef idx="0"/>
          <a:fontRef idx="minor"/>
        </p:style>
        <p:txBody>
          <a:bodyPr lIns="90000" rIns="90000" tIns="45000" bIns="45000" anchor="t" anchorCtr="1">
            <a:noAutofit/>
          </a:bodyPr>
          <a:p>
            <a:endParaRPr b="0" lang="fr-FR" sz="1800" spc="-1" strike="noStrike">
              <a:solidFill>
                <a:srgbClr val="000000"/>
              </a:solidFill>
              <a:latin typeface="Arial"/>
            </a:endParaRPr>
          </a:p>
        </p:txBody>
      </p:sp>
      <p:sp>
        <p:nvSpPr>
          <p:cNvPr id="122" name="Shape 16"/>
          <p:cNvSpPr/>
          <p:nvPr/>
        </p:nvSpPr>
        <p:spPr>
          <a:xfrm>
            <a:off x="4722840" y="5166360"/>
            <a:ext cx="2741400" cy="866880"/>
          </a:xfrm>
          <a:prstGeom prst="roundRect">
            <a:avLst>
              <a:gd name="adj" fmla="val 8421"/>
            </a:avLst>
          </a:prstGeom>
          <a:solidFill>
            <a:srgbClr val="1a237e"/>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23" name="Text 17"/>
          <p:cNvSpPr/>
          <p:nvPr/>
        </p:nvSpPr>
        <p:spPr>
          <a:xfrm>
            <a:off x="4722840" y="5285160"/>
            <a:ext cx="2741400" cy="3823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pc="-1" strike="noStrike">
                <a:solidFill>
                  <a:srgbClr val="ffffff"/>
                </a:solidFill>
                <a:latin typeface="Cambria"/>
                <a:ea typeface="Cambria"/>
              </a:rPr>
              <a:t>Supabase</a:t>
            </a:r>
            <a:endParaRPr b="0" lang="fr-FR" sz="1500" spc="-1" strike="noStrike">
              <a:solidFill>
                <a:srgbClr val="000000"/>
              </a:solidFill>
              <a:latin typeface="Arial"/>
            </a:endParaRPr>
          </a:p>
        </p:txBody>
      </p:sp>
      <p:sp>
        <p:nvSpPr>
          <p:cNvPr id="124" name="Text 18"/>
          <p:cNvSpPr/>
          <p:nvPr/>
        </p:nvSpPr>
        <p:spPr>
          <a:xfrm>
            <a:off x="4722840" y="5650920"/>
            <a:ext cx="2741400" cy="318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5e5e5"/>
                </a:solidFill>
                <a:latin typeface="Calibri"/>
                <a:ea typeface="Calibri"/>
              </a:rPr>
              <a:t>PostgreSQL + Storage</a:t>
            </a:r>
            <a:endParaRPr b="0" lang="fr-FR" sz="1050" spc="-1" strike="noStrike">
              <a:solidFill>
                <a:srgbClr val="000000"/>
              </a:solidFill>
              <a:latin typeface="Arial"/>
            </a:endParaRPr>
          </a:p>
        </p:txBody>
      </p:sp>
      <p:sp>
        <p:nvSpPr>
          <p:cNvPr id="125" name="Text 19"/>
          <p:cNvSpPr/>
          <p:nvPr/>
        </p:nvSpPr>
        <p:spPr>
          <a:xfrm>
            <a:off x="7831800" y="2331720"/>
            <a:ext cx="310716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050" spc="-1" strike="noStrike">
                <a:solidFill>
                  <a:srgbClr val="444748"/>
                </a:solidFill>
                <a:latin typeface="Calibri"/>
                <a:ea typeface="Calibri"/>
              </a:rPr>
              <a:t>REST API — authentification, profils,</a:t>
            </a:r>
            <a:endParaRPr b="0" lang="fr-FR" sz="1050" spc="-1" strike="noStrike">
              <a:solidFill>
                <a:srgbClr val="000000"/>
              </a:solidFill>
              <a:latin typeface="Arial"/>
            </a:endParaRPr>
          </a:p>
          <a:p>
            <a:pPr defTabSz="914400">
              <a:lnSpc>
                <a:spcPct val="100000"/>
              </a:lnSpc>
              <a:tabLst>
                <a:tab algn="l" pos="0"/>
              </a:tabLst>
            </a:pPr>
            <a:r>
              <a:rPr b="0" i="1" lang="en-US" sz="1050" spc="-1" strike="noStrike">
                <a:solidFill>
                  <a:srgbClr val="444748"/>
                </a:solidFill>
                <a:latin typeface="Calibri"/>
                <a:ea typeface="Calibri"/>
              </a:rPr>
              <a:t>conversations, fichiers</a:t>
            </a:r>
            <a:endParaRPr b="0" lang="fr-FR" sz="1050" spc="-1" strike="noStrike">
              <a:solidFill>
                <a:srgbClr val="000000"/>
              </a:solidFill>
              <a:latin typeface="Arial"/>
            </a:endParaRPr>
          </a:p>
        </p:txBody>
      </p:sp>
      <p:sp>
        <p:nvSpPr>
          <p:cNvPr id="126" name="Text 20"/>
          <p:cNvSpPr/>
          <p:nvPr/>
        </p:nvSpPr>
        <p:spPr>
          <a:xfrm>
            <a:off x="7831800" y="3520440"/>
            <a:ext cx="310716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050" spc="-1" strike="noStrike">
                <a:solidFill>
                  <a:srgbClr val="444748"/>
                </a:solidFill>
                <a:latin typeface="Calibri"/>
                <a:ea typeface="Calibri"/>
              </a:rPr>
              <a:t>WebSocket / STOMP — messages temps réel,</a:t>
            </a:r>
            <a:endParaRPr b="0" lang="fr-FR" sz="1050" spc="-1" strike="noStrike">
              <a:solidFill>
                <a:srgbClr val="000000"/>
              </a:solidFill>
              <a:latin typeface="Arial"/>
            </a:endParaRPr>
          </a:p>
          <a:p>
            <a:pPr defTabSz="914400">
              <a:lnSpc>
                <a:spcPct val="100000"/>
              </a:lnSpc>
              <a:tabLst>
                <a:tab algn="l" pos="0"/>
              </a:tabLst>
            </a:pPr>
            <a:r>
              <a:rPr b="0" i="1" lang="en-US" sz="1050" spc="-1" strike="noStrike">
                <a:solidFill>
                  <a:srgbClr val="444748"/>
                </a:solidFill>
                <a:latin typeface="Calibri"/>
                <a:ea typeface="Calibri"/>
              </a:rPr>
              <a:t>présence, notifications</a:t>
            </a:r>
            <a:endParaRPr b="0" lang="fr-FR" sz="1050" spc="-1" strike="noStrike">
              <a:solidFill>
                <a:srgbClr val="000000"/>
              </a:solidFill>
              <a:latin typeface="Arial"/>
            </a:endParaRPr>
          </a:p>
        </p:txBody>
      </p:sp>
      <p:sp>
        <p:nvSpPr>
          <p:cNvPr id="127" name="Text 21"/>
          <p:cNvSpPr/>
          <p:nvPr/>
        </p:nvSpPr>
        <p:spPr>
          <a:xfrm>
            <a:off x="7831800" y="4709160"/>
            <a:ext cx="310716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050" spc="-1" strike="noStrike">
                <a:solidFill>
                  <a:srgbClr val="444748"/>
                </a:solidFill>
                <a:latin typeface="Calibri"/>
                <a:ea typeface="Calibri"/>
              </a:rPr>
              <a:t>Utilisateurs, messages,</a:t>
            </a:r>
            <a:endParaRPr b="0" lang="fr-FR" sz="1050" spc="-1" strike="noStrike">
              <a:solidFill>
                <a:srgbClr val="000000"/>
              </a:solidFill>
              <a:latin typeface="Arial"/>
            </a:endParaRPr>
          </a:p>
          <a:p>
            <a:pPr defTabSz="914400">
              <a:lnSpc>
                <a:spcPct val="100000"/>
              </a:lnSpc>
              <a:tabLst>
                <a:tab algn="l" pos="0"/>
              </a:tabLst>
            </a:pPr>
            <a:r>
              <a:rPr b="0" i="1" lang="en-US" sz="1050" spc="-1" strike="noStrike">
                <a:solidFill>
                  <a:srgbClr val="444748"/>
                </a:solidFill>
                <a:latin typeface="Calibri"/>
                <a:ea typeface="Calibri"/>
              </a:rPr>
              <a:t>conversations, notifications</a:t>
            </a:r>
            <a:endParaRPr b="0" lang="fr-FR" sz="1050" spc="-1" strike="noStrike">
              <a:solidFill>
                <a:srgbClr val="000000"/>
              </a:solidFill>
              <a:latin typeface="Arial"/>
            </a:endParaRPr>
          </a:p>
        </p:txBody>
      </p:sp>
      <p:sp>
        <p:nvSpPr>
          <p:cNvPr id="128" name="Shape 22"/>
          <p:cNvSpPr/>
          <p:nvPr/>
        </p:nvSpPr>
        <p:spPr>
          <a:xfrm>
            <a:off x="548640" y="1816200"/>
            <a:ext cx="2331000" cy="3619440"/>
          </a:xfrm>
          <a:prstGeom prst="roundRect">
            <a:avLst>
              <a:gd name="adj" fmla="val 2963"/>
            </a:avLst>
          </a:prstGeom>
          <a:solidFill>
            <a:srgbClr val="e3f2fd"/>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29" name="Text 23"/>
          <p:cNvSpPr/>
          <p:nvPr/>
        </p:nvSpPr>
        <p:spPr>
          <a:xfrm>
            <a:off x="548640" y="2147760"/>
            <a:ext cx="2467080" cy="36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000" spc="-1" strike="noStrike">
                <a:solidFill>
                  <a:srgbClr val="1a237e"/>
                </a:solidFill>
                <a:latin typeface="Cambria"/>
                <a:ea typeface="Cambria"/>
              </a:rPr>
              <a:t>3 couches</a:t>
            </a:r>
            <a:endParaRPr b="0" lang="fr-FR" sz="2000" spc="-1" strike="noStrike">
              <a:solidFill>
                <a:srgbClr val="000000"/>
              </a:solidFill>
              <a:latin typeface="Arial"/>
            </a:endParaRPr>
          </a:p>
        </p:txBody>
      </p:sp>
      <p:sp>
        <p:nvSpPr>
          <p:cNvPr id="130" name="Text 24"/>
          <p:cNvSpPr/>
          <p:nvPr/>
        </p:nvSpPr>
        <p:spPr>
          <a:xfrm>
            <a:off x="777240" y="2240280"/>
            <a:ext cx="2009880" cy="356436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1" lang="en-US" sz="1250" spc="-1" strike="noStrike">
                <a:solidFill>
                  <a:srgbClr val="000000"/>
                </a:solidFill>
                <a:latin typeface="Calibri"/>
                <a:ea typeface="Calibri"/>
              </a:rPr>
              <a:t>Présentation</a:t>
            </a:r>
            <a:endParaRPr b="0" lang="fr-FR" sz="1250" spc="-1" strike="noStrike">
              <a:solidFill>
                <a:srgbClr val="000000"/>
              </a:solidFill>
              <a:latin typeface="Arial"/>
            </a:endParaRPr>
          </a:p>
          <a:p>
            <a:pPr>
              <a:lnSpc>
                <a:spcPct val="100000"/>
              </a:lnSpc>
            </a:pPr>
            <a:r>
              <a:rPr b="0" lang="en-US" sz="1100" spc="-1" strike="noStrike">
                <a:solidFill>
                  <a:srgbClr val="444748"/>
                </a:solidFill>
                <a:latin typeface="Calibri"/>
                <a:ea typeface="Calibri"/>
              </a:rPr>
              <a:t>Application Flutter côté client</a:t>
            </a:r>
            <a:endParaRPr b="0" lang="fr-FR" sz="1100" spc="-1" strike="noStrike">
              <a:solidFill>
                <a:srgbClr val="000000"/>
              </a:solidFill>
              <a:latin typeface="Arial"/>
            </a:endParaRPr>
          </a:p>
          <a:p>
            <a:pPr>
              <a:lnSpc>
                <a:spcPct val="100000"/>
              </a:lnSpc>
            </a:pPr>
            <a:endParaRPr b="0" lang="fr-FR" sz="1100" spc="-1" strike="noStrike">
              <a:solidFill>
                <a:srgbClr val="000000"/>
              </a:solidFill>
              <a:latin typeface="Arial"/>
            </a:endParaRPr>
          </a:p>
          <a:p>
            <a:pPr>
              <a:lnSpc>
                <a:spcPct val="100000"/>
              </a:lnSpc>
            </a:pPr>
            <a:r>
              <a:rPr b="1" lang="en-US" sz="1250" spc="-1" strike="noStrike">
                <a:solidFill>
                  <a:srgbClr val="000000"/>
                </a:solidFill>
                <a:latin typeface="Calibri"/>
                <a:ea typeface="Calibri"/>
              </a:rPr>
              <a:t>Métier &amp; API</a:t>
            </a:r>
            <a:endParaRPr b="0" lang="fr-FR" sz="1250" spc="-1" strike="noStrike">
              <a:solidFill>
                <a:srgbClr val="000000"/>
              </a:solidFill>
              <a:latin typeface="Arial"/>
            </a:endParaRPr>
          </a:p>
          <a:p>
            <a:pPr>
              <a:lnSpc>
                <a:spcPct val="100000"/>
              </a:lnSpc>
            </a:pPr>
            <a:r>
              <a:rPr b="0" lang="en-US" sz="1100" spc="-1" strike="noStrike">
                <a:solidFill>
                  <a:srgbClr val="444748"/>
                </a:solidFill>
                <a:latin typeface="Calibri"/>
                <a:ea typeface="Calibri"/>
              </a:rPr>
              <a:t>Spring Boot : REST + WebSocket</a:t>
            </a:r>
            <a:endParaRPr b="0" lang="fr-FR" sz="1100" spc="-1" strike="noStrike">
              <a:solidFill>
                <a:srgbClr val="000000"/>
              </a:solidFill>
              <a:latin typeface="Arial"/>
            </a:endParaRPr>
          </a:p>
          <a:p>
            <a:pPr>
              <a:lnSpc>
                <a:spcPct val="100000"/>
              </a:lnSpc>
            </a:pPr>
            <a:endParaRPr b="0" lang="fr-FR" sz="1100" spc="-1" strike="noStrike">
              <a:solidFill>
                <a:srgbClr val="000000"/>
              </a:solidFill>
              <a:latin typeface="Arial"/>
            </a:endParaRPr>
          </a:p>
          <a:p>
            <a:pPr>
              <a:lnSpc>
                <a:spcPct val="100000"/>
              </a:lnSpc>
            </a:pPr>
            <a:r>
              <a:rPr b="1" lang="en-US" sz="1250" spc="-1" strike="noStrike">
                <a:solidFill>
                  <a:srgbClr val="000000"/>
                </a:solidFill>
                <a:latin typeface="Calibri"/>
                <a:ea typeface="Calibri"/>
              </a:rPr>
              <a:t>Données</a:t>
            </a:r>
            <a:endParaRPr b="0" lang="fr-FR" sz="1250" spc="-1" strike="noStrike">
              <a:solidFill>
                <a:srgbClr val="000000"/>
              </a:solidFill>
              <a:latin typeface="Arial"/>
            </a:endParaRPr>
          </a:p>
          <a:p>
            <a:pPr defTabSz="914400">
              <a:lnSpc>
                <a:spcPct val="120000"/>
              </a:lnSpc>
              <a:tabLst>
                <a:tab algn="l" pos="0"/>
              </a:tabLst>
            </a:pPr>
            <a:r>
              <a:rPr b="0" lang="en-US" sz="1100" spc="-1" strike="noStrike">
                <a:solidFill>
                  <a:srgbClr val="444748"/>
                </a:solidFill>
                <a:latin typeface="Calibri"/>
                <a:ea typeface="Calibri"/>
              </a:rPr>
              <a:t>PostgreSQL &amp; Storage (Supabase)</a:t>
            </a:r>
            <a:endParaRPr b="0" lang="fr-F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1" name="Text 0"/>
          <p:cNvSpPr/>
          <p:nvPr/>
        </p:nvSpPr>
        <p:spPr>
          <a:xfrm>
            <a:off x="548640" y="384120"/>
            <a:ext cx="731340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86" strike="noStrike">
                <a:solidFill>
                  <a:srgbClr val="1a237e"/>
                </a:solidFill>
                <a:latin typeface="Calibri"/>
                <a:ea typeface="Calibri"/>
              </a:rPr>
              <a:t>ORGANISATION DU CODE</a:t>
            </a:r>
            <a:endParaRPr b="0" lang="fr-FR" sz="1200" spc="-1" strike="noStrike">
              <a:solidFill>
                <a:srgbClr val="000000"/>
              </a:solidFill>
              <a:latin typeface="Arial"/>
            </a:endParaRPr>
          </a:p>
        </p:txBody>
      </p:sp>
      <p:sp>
        <p:nvSpPr>
          <p:cNvPr id="132" name="Text 1"/>
          <p:cNvSpPr/>
          <p:nvPr/>
        </p:nvSpPr>
        <p:spPr>
          <a:xfrm>
            <a:off x="548640" y="658440"/>
            <a:ext cx="10513800" cy="72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000000"/>
                </a:solidFill>
                <a:latin typeface="Cambria"/>
                <a:ea typeface="Cambria"/>
              </a:rPr>
              <a:t>Architecture du frontend Flutter</a:t>
            </a:r>
            <a:endParaRPr b="0" lang="fr-FR" sz="3200" spc="-1" strike="noStrike">
              <a:solidFill>
                <a:srgbClr val="000000"/>
              </a:solidFill>
              <a:latin typeface="Arial"/>
            </a:endParaRPr>
          </a:p>
        </p:txBody>
      </p:sp>
      <p:sp>
        <p:nvSpPr>
          <p:cNvPr id="133" name="Text 2"/>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747878"/>
                </a:solidFill>
                <a:latin typeface="Calibri"/>
                <a:ea typeface="Calibri"/>
              </a:rPr>
              <a:t>7</a:t>
            </a:r>
            <a:endParaRPr b="0" lang="fr-FR" sz="1000" spc="-1" strike="noStrike">
              <a:solidFill>
                <a:srgbClr val="000000"/>
              </a:solidFill>
              <a:latin typeface="Arial"/>
            </a:endParaRPr>
          </a:p>
        </p:txBody>
      </p:sp>
      <p:sp>
        <p:nvSpPr>
          <p:cNvPr id="134" name="Shape 4"/>
          <p:cNvSpPr/>
          <p:nvPr/>
        </p:nvSpPr>
        <p:spPr>
          <a:xfrm>
            <a:off x="548640" y="1691640"/>
            <a:ext cx="5118840" cy="4968000"/>
          </a:xfrm>
          <a:prstGeom prst="roundRect">
            <a:avLst>
              <a:gd name="adj" fmla="val 1702"/>
            </a:avLst>
          </a:prstGeom>
          <a:solidFill>
            <a:srgbClr val="1e1e1e"/>
          </a:solidFill>
          <a:ln w="0">
            <a:noFill/>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35" name="Text 5"/>
          <p:cNvSpPr/>
          <p:nvPr/>
        </p:nvSpPr>
        <p:spPr>
          <a:xfrm>
            <a:off x="868680" y="1920240"/>
            <a:ext cx="4570200" cy="3838680"/>
          </a:xfrm>
          <a:prstGeom prst="rect">
            <a:avLst/>
          </a:prstGeom>
          <a:noFill/>
          <a:ln w="0">
            <a:noFill/>
          </a:ln>
        </p:spPr>
        <p:style>
          <a:lnRef idx="0"/>
          <a:fillRef idx="0"/>
          <a:effectRef idx="0"/>
          <a:fontRef idx="minor"/>
        </p:style>
        <p:txBody>
          <a:bodyPr lIns="0" rIns="0" tIns="0" bIns="0" anchor="ctr">
            <a:noAutofit/>
          </a:bodyPr>
          <a:p>
            <a:pPr defTabSz="914400">
              <a:lnSpc>
                <a:spcPct val="125000"/>
              </a:lnSpc>
              <a:tabLst>
                <a:tab algn="l" pos="0"/>
              </a:tabLst>
            </a:pPr>
            <a:r>
              <a:rPr b="0" lang="en-US" sz="1450" spc="-1" strike="noStrike">
                <a:solidFill>
                  <a:srgbClr val="d4d4d4"/>
                </a:solidFill>
                <a:latin typeface="Consolas"/>
                <a:ea typeface="Consolas"/>
              </a:rPr>
              <a:t>lib/</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 </a:t>
            </a:r>
            <a:r>
              <a:rPr b="0" lang="en-US" sz="1450" spc="-1" strike="noStrike">
                <a:solidFill>
                  <a:srgbClr val="d4d4d4"/>
                </a:solidFill>
                <a:latin typeface="Consolas"/>
                <a:ea typeface="Consolas"/>
              </a:rPr>
              <a:t>core/</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   ├─ </a:t>
            </a:r>
            <a:r>
              <a:rPr b="0" lang="en-US" sz="1450" spc="-1" strike="noStrike">
                <a:solidFill>
                  <a:srgbClr val="d4d4d4"/>
                </a:solidFill>
                <a:latin typeface="Consolas"/>
                <a:ea typeface="Consolas"/>
              </a:rPr>
              <a:t>config/        </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   └─ </a:t>
            </a:r>
            <a:r>
              <a:rPr b="0" lang="en-US" sz="1450" spc="-1" strike="noStrike">
                <a:solidFill>
                  <a:srgbClr val="d4d4d4"/>
                </a:solidFill>
                <a:latin typeface="Consolas"/>
                <a:ea typeface="Consolas"/>
              </a:rPr>
              <a:t>models/ </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a:t>
            </a:r>
            <a:r>
              <a:rPr b="0" lang="en-US" sz="1450" spc="-1" strike="noStrike">
                <a:solidFill>
                  <a:srgbClr val="d4d4d4"/>
                </a:solidFill>
                <a:latin typeface="Consolas"/>
                <a:ea typeface="Consolas"/>
              </a:rPr>
              <a:t>|   └─ network/     </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a:t>
            </a:r>
            <a:r>
              <a:rPr b="0" lang="en-US" sz="1450" spc="-1" strike="noStrike">
                <a:solidFill>
                  <a:srgbClr val="d4d4d4"/>
                </a:solidFill>
                <a:latin typeface="Consolas"/>
                <a:ea typeface="Consolas"/>
              </a:rPr>
              <a:t>|   └─ theme/</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a:t>
            </a:r>
            <a:r>
              <a:rPr b="0" lang="en-US" sz="1450" spc="-1" strike="noStrike">
                <a:solidFill>
                  <a:srgbClr val="d4d4d4"/>
                </a:solidFill>
                <a:latin typeface="Consolas"/>
                <a:ea typeface="Consolas"/>
              </a:rPr>
              <a:t>|   └─ utils/</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 </a:t>
            </a:r>
            <a:r>
              <a:rPr b="0" lang="en-US" sz="1450" spc="-1" strike="noStrike">
                <a:solidFill>
                  <a:srgbClr val="d4d4d4"/>
                </a:solidFill>
                <a:latin typeface="Consolas"/>
                <a:ea typeface="Consolas"/>
              </a:rPr>
              <a:t>features/</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   ├─ </a:t>
            </a:r>
            <a:r>
              <a:rPr b="0" lang="en-US" sz="1450" spc="-1" strike="noStrike">
                <a:solidFill>
                  <a:srgbClr val="d4d4d4"/>
                </a:solidFill>
                <a:latin typeface="Consolas"/>
                <a:ea typeface="Consolas"/>
              </a:rPr>
              <a:t>auth/</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   ├─ </a:t>
            </a:r>
            <a:r>
              <a:rPr b="0" lang="en-US" sz="1450" spc="-1" strike="noStrike">
                <a:solidFill>
                  <a:srgbClr val="d4d4d4"/>
                </a:solidFill>
                <a:latin typeface="Consolas"/>
                <a:ea typeface="Consolas"/>
              </a:rPr>
              <a:t>bot/</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   └─ </a:t>
            </a:r>
            <a:r>
              <a:rPr b="0" lang="en-US" sz="1450" spc="-1" strike="noStrike">
                <a:solidFill>
                  <a:srgbClr val="d4d4d4"/>
                </a:solidFill>
                <a:latin typeface="Consolas"/>
                <a:ea typeface="Consolas"/>
              </a:rPr>
              <a:t>messagerie/</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 </a:t>
            </a:r>
            <a:r>
              <a:rPr b="0" lang="en-US" sz="1450" spc="-1" strike="noStrike">
                <a:solidFill>
                  <a:srgbClr val="d4d4d4"/>
                </a:solidFill>
                <a:latin typeface="Consolas"/>
                <a:ea typeface="Consolas"/>
              </a:rPr>
              <a:t>shared/</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   ├─ </a:t>
            </a:r>
            <a:r>
              <a:rPr b="0" lang="en-US" sz="1450" spc="-1" strike="noStrike">
                <a:solidFill>
                  <a:srgbClr val="d4d4d4"/>
                </a:solidFill>
                <a:latin typeface="Consolas"/>
                <a:ea typeface="Consolas"/>
              </a:rPr>
              <a:t>utils/</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   └─ </a:t>
            </a:r>
            <a:r>
              <a:rPr b="0" lang="en-US" sz="1450" spc="-1" strike="noStrike">
                <a:solidFill>
                  <a:srgbClr val="d4d4d4"/>
                </a:solidFill>
                <a:latin typeface="Consolas"/>
                <a:ea typeface="Consolas"/>
              </a:rPr>
              <a:t>widgets/</a:t>
            </a:r>
            <a:endParaRPr b="0" lang="fr-FR" sz="1450" spc="-1" strike="noStrike">
              <a:solidFill>
                <a:srgbClr val="000000"/>
              </a:solidFill>
              <a:latin typeface="Arial"/>
            </a:endParaRPr>
          </a:p>
          <a:p>
            <a:pPr defTabSz="914400">
              <a:lnSpc>
                <a:spcPct val="125000"/>
              </a:lnSpc>
              <a:tabLst>
                <a:tab algn="l" pos="0"/>
              </a:tabLst>
            </a:pPr>
            <a:r>
              <a:rPr b="0" lang="en-US" sz="1450" spc="-1" strike="noStrike">
                <a:solidFill>
                  <a:srgbClr val="d4d4d4"/>
                </a:solidFill>
                <a:latin typeface="Consolas"/>
                <a:ea typeface="Consolas"/>
              </a:rPr>
              <a:t> └─ </a:t>
            </a:r>
            <a:r>
              <a:rPr b="0" lang="en-US" sz="1450" spc="-1" strike="noStrike">
                <a:solidFill>
                  <a:srgbClr val="d4d4d4"/>
                </a:solidFill>
                <a:latin typeface="Consolas"/>
                <a:ea typeface="Consolas"/>
              </a:rPr>
              <a:t>main.dart</a:t>
            </a:r>
            <a:endParaRPr b="0" lang="fr-FR" sz="1450" spc="-1" strike="noStrike">
              <a:solidFill>
                <a:srgbClr val="000000"/>
              </a:solidFill>
              <a:latin typeface="Arial"/>
            </a:endParaRPr>
          </a:p>
        </p:txBody>
      </p:sp>
      <p:sp>
        <p:nvSpPr>
          <p:cNvPr id="136" name="Shape 6"/>
          <p:cNvSpPr/>
          <p:nvPr/>
        </p:nvSpPr>
        <p:spPr>
          <a:xfrm>
            <a:off x="5989320" y="1801440"/>
            <a:ext cx="382320" cy="38232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37" name="Text 7"/>
          <p:cNvSpPr/>
          <p:nvPr/>
        </p:nvSpPr>
        <p:spPr>
          <a:xfrm>
            <a:off x="5989320" y="1783080"/>
            <a:ext cx="382320" cy="38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138" name="Text 8"/>
          <p:cNvSpPr/>
          <p:nvPr/>
        </p:nvSpPr>
        <p:spPr>
          <a:xfrm>
            <a:off x="6537960" y="1763640"/>
            <a:ext cx="1201680" cy="29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50" spc="-1" strike="noStrike">
                <a:solidFill>
                  <a:srgbClr val="000000"/>
                </a:solidFill>
                <a:latin typeface="Cambria"/>
                <a:ea typeface="Cambria"/>
              </a:rPr>
              <a:t>core</a:t>
            </a:r>
            <a:endParaRPr b="0" lang="fr-FR" sz="1450" spc="-1" strike="noStrike">
              <a:solidFill>
                <a:srgbClr val="000000"/>
              </a:solidFill>
              <a:latin typeface="Arial"/>
            </a:endParaRPr>
          </a:p>
        </p:txBody>
      </p:sp>
      <p:sp>
        <p:nvSpPr>
          <p:cNvPr id="139" name="Text 9"/>
          <p:cNvSpPr/>
          <p:nvPr/>
        </p:nvSpPr>
        <p:spPr>
          <a:xfrm>
            <a:off x="6537960" y="2002680"/>
            <a:ext cx="4935960" cy="59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150" spc="-1" strike="noStrike">
                <a:solidFill>
                  <a:srgbClr val="444748"/>
                </a:solidFill>
                <a:latin typeface="Calibri"/>
                <a:ea typeface="Calibri"/>
              </a:rPr>
              <a:t>Configuration, modèles de données et couche réseau (client HTTP, WebSocket).</a:t>
            </a:r>
            <a:endParaRPr b="0" lang="fr-FR" sz="1150" spc="-1" strike="noStrike">
              <a:solidFill>
                <a:srgbClr val="000000"/>
              </a:solidFill>
              <a:latin typeface="Arial"/>
            </a:endParaRPr>
          </a:p>
        </p:txBody>
      </p:sp>
      <p:sp>
        <p:nvSpPr>
          <p:cNvPr id="140" name="Shape 10"/>
          <p:cNvSpPr/>
          <p:nvPr/>
        </p:nvSpPr>
        <p:spPr>
          <a:xfrm>
            <a:off x="5989320" y="2898720"/>
            <a:ext cx="382320" cy="38232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41" name="Text 11"/>
          <p:cNvSpPr/>
          <p:nvPr/>
        </p:nvSpPr>
        <p:spPr>
          <a:xfrm>
            <a:off x="5989320" y="2880360"/>
            <a:ext cx="382320" cy="38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142" name="Text 12"/>
          <p:cNvSpPr/>
          <p:nvPr/>
        </p:nvSpPr>
        <p:spPr>
          <a:xfrm>
            <a:off x="6537960" y="2860920"/>
            <a:ext cx="1381680" cy="29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50" spc="-1" strike="noStrike">
                <a:solidFill>
                  <a:srgbClr val="000000"/>
                </a:solidFill>
                <a:latin typeface="Cambria"/>
                <a:ea typeface="Cambria"/>
              </a:rPr>
              <a:t>features</a:t>
            </a:r>
            <a:endParaRPr b="0" lang="fr-FR" sz="1450" spc="-1" strike="noStrike">
              <a:solidFill>
                <a:srgbClr val="000000"/>
              </a:solidFill>
              <a:latin typeface="Arial"/>
            </a:endParaRPr>
          </a:p>
        </p:txBody>
      </p:sp>
      <p:sp>
        <p:nvSpPr>
          <p:cNvPr id="143" name="Text 13"/>
          <p:cNvSpPr/>
          <p:nvPr/>
        </p:nvSpPr>
        <p:spPr>
          <a:xfrm>
            <a:off x="6537960" y="3099960"/>
            <a:ext cx="4935960" cy="59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150" spc="-1" strike="noStrike">
                <a:solidFill>
                  <a:srgbClr val="444748"/>
                </a:solidFill>
                <a:latin typeface="Calibri"/>
                <a:ea typeface="Calibri"/>
              </a:rPr>
              <a:t>Fonctionnalités principales : authentification, bot conversationnel, messagerie — chacune avec providers et écrans.</a:t>
            </a:r>
            <a:endParaRPr b="0" lang="fr-FR" sz="1150" spc="-1" strike="noStrike">
              <a:solidFill>
                <a:srgbClr val="000000"/>
              </a:solidFill>
              <a:latin typeface="Arial"/>
            </a:endParaRPr>
          </a:p>
        </p:txBody>
      </p:sp>
      <p:sp>
        <p:nvSpPr>
          <p:cNvPr id="144" name="Shape 14"/>
          <p:cNvSpPr/>
          <p:nvPr/>
        </p:nvSpPr>
        <p:spPr>
          <a:xfrm>
            <a:off x="5989320" y="3996000"/>
            <a:ext cx="382320" cy="38232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45" name="Text 15"/>
          <p:cNvSpPr/>
          <p:nvPr/>
        </p:nvSpPr>
        <p:spPr>
          <a:xfrm>
            <a:off x="5989320" y="3977640"/>
            <a:ext cx="382320" cy="38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146" name="Text 16"/>
          <p:cNvSpPr/>
          <p:nvPr/>
        </p:nvSpPr>
        <p:spPr>
          <a:xfrm>
            <a:off x="6537960" y="3994200"/>
            <a:ext cx="1021680" cy="29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50" spc="-1" strike="noStrike">
                <a:solidFill>
                  <a:srgbClr val="000000"/>
                </a:solidFill>
                <a:latin typeface="Cambria"/>
                <a:ea typeface="Cambria"/>
              </a:rPr>
              <a:t>shared</a:t>
            </a:r>
            <a:endParaRPr b="0" lang="fr-FR" sz="1450" spc="-1" strike="noStrike">
              <a:solidFill>
                <a:srgbClr val="000000"/>
              </a:solidFill>
              <a:latin typeface="Arial"/>
            </a:endParaRPr>
          </a:p>
        </p:txBody>
      </p:sp>
      <p:sp>
        <p:nvSpPr>
          <p:cNvPr id="147" name="Text 17"/>
          <p:cNvSpPr/>
          <p:nvPr/>
        </p:nvSpPr>
        <p:spPr>
          <a:xfrm>
            <a:off x="6537960" y="4197240"/>
            <a:ext cx="4935960" cy="59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150" spc="-1" strike="noStrike">
                <a:solidFill>
                  <a:srgbClr val="444748"/>
                </a:solidFill>
                <a:latin typeface="Calibri"/>
                <a:ea typeface="Calibri"/>
              </a:rPr>
              <a:t>Widgets et utilitaires réutilisables dans toute l'application.</a:t>
            </a:r>
            <a:endParaRPr b="0" lang="fr-FR" sz="1150" spc="-1" strike="noStrike">
              <a:solidFill>
                <a:srgbClr val="000000"/>
              </a:solidFill>
              <a:latin typeface="Arial"/>
            </a:endParaRPr>
          </a:p>
        </p:txBody>
      </p:sp>
      <p:sp>
        <p:nvSpPr>
          <p:cNvPr id="148" name="Shape 18"/>
          <p:cNvSpPr/>
          <p:nvPr/>
        </p:nvSpPr>
        <p:spPr>
          <a:xfrm>
            <a:off x="5989320" y="5093280"/>
            <a:ext cx="382320" cy="38232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49" name="Text 19"/>
          <p:cNvSpPr/>
          <p:nvPr/>
        </p:nvSpPr>
        <p:spPr>
          <a:xfrm>
            <a:off x="5989320" y="5074920"/>
            <a:ext cx="382320" cy="38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150" name="Text 20"/>
          <p:cNvSpPr/>
          <p:nvPr/>
        </p:nvSpPr>
        <p:spPr>
          <a:xfrm>
            <a:off x="6537960" y="5091480"/>
            <a:ext cx="1561680" cy="29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50" spc="-1" strike="noStrike">
                <a:solidFill>
                  <a:srgbClr val="000000"/>
                </a:solidFill>
                <a:latin typeface="Cambria"/>
                <a:ea typeface="Cambria"/>
              </a:rPr>
              <a:t>Riverpod</a:t>
            </a:r>
            <a:endParaRPr b="0" lang="fr-FR" sz="1450" spc="-1" strike="noStrike">
              <a:solidFill>
                <a:srgbClr val="000000"/>
              </a:solidFill>
              <a:latin typeface="Arial"/>
            </a:endParaRPr>
          </a:p>
        </p:txBody>
      </p:sp>
      <p:sp>
        <p:nvSpPr>
          <p:cNvPr id="151" name="Text 21"/>
          <p:cNvSpPr/>
          <p:nvPr/>
        </p:nvSpPr>
        <p:spPr>
          <a:xfrm>
            <a:off x="6537960" y="5294520"/>
            <a:ext cx="4935960" cy="59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150" spc="-1" strike="noStrike">
                <a:solidFill>
                  <a:srgbClr val="444748"/>
                </a:solidFill>
                <a:latin typeface="Calibri"/>
                <a:ea typeface="Calibri"/>
              </a:rPr>
              <a:t>Gère l'état des conversations, du chat et du bot via des providers.</a:t>
            </a:r>
            <a:endParaRPr b="0" lang="fr-FR"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 name="Text 0"/>
          <p:cNvSpPr/>
          <p:nvPr/>
        </p:nvSpPr>
        <p:spPr>
          <a:xfrm>
            <a:off x="548640" y="384120"/>
            <a:ext cx="931356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fr-FR" sz="1200" spc="86" strike="noStrike">
                <a:solidFill>
                  <a:srgbClr val="1a237e"/>
                </a:solidFill>
                <a:latin typeface="Calibri"/>
                <a:ea typeface="Calibri"/>
              </a:rPr>
              <a:t>ORGANISATION DU CODE — DÉTAIL</a:t>
            </a:r>
            <a:endParaRPr b="0" lang="fr-FR" sz="1200" spc="-1" strike="noStrike">
              <a:solidFill>
                <a:srgbClr val="000000"/>
              </a:solidFill>
              <a:latin typeface="Arial"/>
            </a:endParaRPr>
          </a:p>
        </p:txBody>
      </p:sp>
      <p:sp>
        <p:nvSpPr>
          <p:cNvPr id="153" name="Text 1"/>
          <p:cNvSpPr/>
          <p:nvPr/>
        </p:nvSpPr>
        <p:spPr>
          <a:xfrm>
            <a:off x="548640" y="658440"/>
            <a:ext cx="11094120" cy="618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fr-FR" sz="2600" spc="-1" strike="noStrike">
                <a:solidFill>
                  <a:srgbClr val="000000"/>
                </a:solidFill>
                <a:latin typeface="Cambria"/>
                <a:ea typeface="Cambria"/>
              </a:rPr>
              <a:t>Architecture complète du frontend Flutter</a:t>
            </a:r>
            <a:endParaRPr b="0" lang="fr-FR" sz="2600" spc="-1" strike="noStrike">
              <a:solidFill>
                <a:srgbClr val="000000"/>
              </a:solidFill>
              <a:latin typeface="Arial"/>
            </a:endParaRPr>
          </a:p>
        </p:txBody>
      </p:sp>
      <p:sp>
        <p:nvSpPr>
          <p:cNvPr id="154" name="PageNum"/>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r>
              <a:rPr b="0" lang="fr-FR" sz="1000" spc="-1" strike="noStrike">
                <a:solidFill>
                  <a:srgbClr val="747878"/>
                </a:solidFill>
                <a:latin typeface="Calibri"/>
                <a:ea typeface="Calibri"/>
              </a:rPr>
              <a:t>7A</a:t>
            </a:r>
            <a:endParaRPr b="0" lang="fr-FR" sz="1000" spc="-1" strike="noStrike">
              <a:solidFill>
                <a:srgbClr val="000000"/>
              </a:solidFill>
              <a:latin typeface="Arial"/>
            </a:endParaRPr>
          </a:p>
        </p:txBody>
      </p:sp>
      <p:sp>
        <p:nvSpPr>
          <p:cNvPr id="155" name="Rect"/>
          <p:cNvSpPr/>
          <p:nvPr/>
        </p:nvSpPr>
        <p:spPr>
          <a:xfrm>
            <a:off x="548640" y="1500120"/>
            <a:ext cx="11094120" cy="1089000"/>
          </a:xfrm>
          <a:prstGeom prst="roundRect">
            <a:avLst>
              <a:gd name="adj" fmla="val 6000"/>
            </a:avLst>
          </a:prstGeom>
          <a:solidFill>
            <a:srgbClr val="e3f2fd"/>
          </a:solidFill>
          <a:ln w="9525">
            <a:solidFill>
              <a:srgbClr val="1a237e"/>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156" name="Circle"/>
          <p:cNvSpPr/>
          <p:nvPr/>
        </p:nvSpPr>
        <p:spPr>
          <a:xfrm>
            <a:off x="588600" y="1794960"/>
            <a:ext cx="498960" cy="498960"/>
          </a:xfrm>
          <a:prstGeom prst="ellipse">
            <a:avLst/>
          </a:prstGeom>
          <a:solidFill>
            <a:srgbClr val="1a237e"/>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157" name="Txt"/>
          <p:cNvSpPr/>
          <p:nvPr/>
        </p:nvSpPr>
        <p:spPr>
          <a:xfrm>
            <a:off x="588600" y="1794960"/>
            <a:ext cx="498960" cy="498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300" spc="-1" strike="noStrike">
                <a:solidFill>
                  <a:srgbClr val="ffffff"/>
                </a:solidFill>
                <a:latin typeface="Calibri"/>
                <a:ea typeface="Calibri"/>
              </a:rPr>
              <a:t>1</a:t>
            </a:r>
            <a:endParaRPr b="0" lang="fr-FR" sz="1300" spc="-1" strike="noStrike">
              <a:solidFill>
                <a:srgbClr val="000000"/>
              </a:solidFill>
              <a:latin typeface="Arial"/>
            </a:endParaRPr>
          </a:p>
        </p:txBody>
      </p:sp>
      <p:sp>
        <p:nvSpPr>
          <p:cNvPr id="158" name="Txt"/>
          <p:cNvSpPr/>
          <p:nvPr/>
        </p:nvSpPr>
        <p:spPr>
          <a:xfrm>
            <a:off x="1188720" y="1590120"/>
            <a:ext cx="10394280" cy="90900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159"/>
              </a:spcAft>
            </a:pPr>
            <a:r>
              <a:rPr b="1" lang="fr-FR" sz="1500" spc="-1" strike="noStrike">
                <a:solidFill>
                  <a:srgbClr val="1a237e"/>
                </a:solidFill>
                <a:latin typeface="Calibri"/>
                <a:ea typeface="Calibri"/>
              </a:rPr>
              <a:t>Présentation — Écrans &amp; Widgets</a:t>
            </a:r>
            <a:endParaRPr b="0" lang="fr-FR" sz="1500" spc="-1" strike="noStrike">
              <a:solidFill>
                <a:srgbClr val="000000"/>
              </a:solidFill>
              <a:latin typeface="Arial"/>
            </a:endParaRPr>
          </a:p>
          <a:p>
            <a:pPr defTabSz="914400">
              <a:lnSpc>
                <a:spcPct val="100000"/>
              </a:lnSpc>
              <a:spcAft>
                <a:spcPts val="139"/>
              </a:spcAft>
            </a:pPr>
            <a:r>
              <a:rPr b="0" lang="fr-FR" sz="1050" spc="-1" strike="noStrike">
                <a:solidFill>
                  <a:srgbClr val="1565c0"/>
                </a:solidFill>
                <a:latin typeface="Consolas"/>
                <a:ea typeface="Consolas"/>
              </a:rPr>
              <a:t>features/auth · features/messagerie · features/bot · shared/widgets</a:t>
            </a:r>
            <a:endParaRPr b="0" lang="fr-FR" sz="1050" spc="-1" strike="noStrike">
              <a:solidFill>
                <a:srgbClr val="000000"/>
              </a:solidFill>
              <a:latin typeface="Arial"/>
            </a:endParaRPr>
          </a:p>
          <a:p>
            <a:pPr defTabSz="914400">
              <a:lnSpc>
                <a:spcPct val="100000"/>
              </a:lnSpc>
            </a:pPr>
            <a:r>
              <a:rPr b="0" lang="fr-FR" sz="1000" spc="-1" strike="noStrike">
                <a:solidFill>
                  <a:srgbClr val="444748"/>
                </a:solidFill>
                <a:latin typeface="Calibri"/>
                <a:ea typeface="Calibri"/>
              </a:rPr>
              <a:t>Écrans (connexion, conversations, chat, profil...) et composants réutilisables (bulles de message, avatars, badges non-lus).</a:t>
            </a:r>
            <a:endParaRPr b="0" lang="fr-FR" sz="1000" spc="-1" strike="noStrike">
              <a:solidFill>
                <a:srgbClr val="000000"/>
              </a:solidFill>
              <a:latin typeface="Arial"/>
            </a:endParaRPr>
          </a:p>
        </p:txBody>
      </p:sp>
      <p:cxnSp>
        <p:nvCxnSpPr>
          <p:cNvPr id="159" name="ArrowV"/>
          <p:cNvCxnSpPr/>
          <p:nvPr/>
        </p:nvCxnSpPr>
        <p:spPr>
          <a:xfrm>
            <a:off x="6096240" y="2610000"/>
            <a:ext cx="1080" cy="100800"/>
          </a:xfrm>
          <a:prstGeom prst="straightConnector1">
            <a:avLst/>
          </a:prstGeom>
          <a:ln w="28575">
            <a:solidFill>
              <a:srgbClr val="1565c0"/>
            </a:solidFill>
            <a:round/>
            <a:tailEnd len="med" type="triangle" w="med"/>
          </a:ln>
        </p:spPr>
      </p:cxnSp>
      <p:sp>
        <p:nvSpPr>
          <p:cNvPr id="160" name="Rect"/>
          <p:cNvSpPr/>
          <p:nvPr/>
        </p:nvSpPr>
        <p:spPr>
          <a:xfrm>
            <a:off x="548640" y="2729880"/>
            <a:ext cx="11094120" cy="1089000"/>
          </a:xfrm>
          <a:prstGeom prst="roundRect">
            <a:avLst>
              <a:gd name="adj" fmla="val 6000"/>
            </a:avLst>
          </a:prstGeom>
          <a:solidFill>
            <a:srgbClr val="e3f2fd"/>
          </a:solidFill>
          <a:ln w="9525">
            <a:solidFill>
              <a:srgbClr val="1a237e"/>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161" name="Circle"/>
          <p:cNvSpPr/>
          <p:nvPr/>
        </p:nvSpPr>
        <p:spPr>
          <a:xfrm>
            <a:off x="588600" y="3025080"/>
            <a:ext cx="498960" cy="498960"/>
          </a:xfrm>
          <a:prstGeom prst="ellipse">
            <a:avLst/>
          </a:prstGeom>
          <a:solidFill>
            <a:srgbClr val="1a237e"/>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162" name="Txt"/>
          <p:cNvSpPr/>
          <p:nvPr/>
        </p:nvSpPr>
        <p:spPr>
          <a:xfrm>
            <a:off x="588600" y="3025080"/>
            <a:ext cx="498960" cy="498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300" spc="-1" strike="noStrike">
                <a:solidFill>
                  <a:srgbClr val="ffffff"/>
                </a:solidFill>
                <a:latin typeface="Calibri"/>
                <a:ea typeface="Calibri"/>
              </a:rPr>
              <a:t>2</a:t>
            </a:r>
            <a:endParaRPr b="0" lang="fr-FR" sz="1300" spc="-1" strike="noStrike">
              <a:solidFill>
                <a:srgbClr val="000000"/>
              </a:solidFill>
              <a:latin typeface="Arial"/>
            </a:endParaRPr>
          </a:p>
        </p:txBody>
      </p:sp>
      <p:sp>
        <p:nvSpPr>
          <p:cNvPr id="163" name="Txt"/>
          <p:cNvSpPr/>
          <p:nvPr/>
        </p:nvSpPr>
        <p:spPr>
          <a:xfrm>
            <a:off x="1188720" y="2819880"/>
            <a:ext cx="10394280" cy="90900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159"/>
              </a:spcAft>
            </a:pPr>
            <a:r>
              <a:rPr b="1" lang="fr-FR" sz="1500" spc="-1" strike="noStrike">
                <a:solidFill>
                  <a:srgbClr val="1a237e"/>
                </a:solidFill>
                <a:latin typeface="Calibri"/>
                <a:ea typeface="Calibri"/>
              </a:rPr>
              <a:t>État applicatif — Riverpod</a:t>
            </a:r>
            <a:endParaRPr b="0" lang="fr-FR" sz="1500" spc="-1" strike="noStrike">
              <a:solidFill>
                <a:srgbClr val="000000"/>
              </a:solidFill>
              <a:latin typeface="Arial"/>
            </a:endParaRPr>
          </a:p>
          <a:p>
            <a:pPr defTabSz="914400">
              <a:lnSpc>
                <a:spcPct val="100000"/>
              </a:lnSpc>
              <a:spcAft>
                <a:spcPts val="139"/>
              </a:spcAft>
            </a:pPr>
            <a:r>
              <a:rPr b="0" lang="fr-FR" sz="1050" spc="-1" strike="noStrike">
                <a:solidFill>
                  <a:srgbClr val="1565c0"/>
                </a:solidFill>
                <a:latin typeface="Consolas"/>
                <a:ea typeface="Consolas"/>
              </a:rPr>
              <a:t>conversation_providers.dart · bot_providers.dart</a:t>
            </a:r>
            <a:endParaRPr b="0" lang="fr-FR" sz="1050" spc="-1" strike="noStrike">
              <a:solidFill>
                <a:srgbClr val="000000"/>
              </a:solidFill>
              <a:latin typeface="Arial"/>
            </a:endParaRPr>
          </a:p>
          <a:p>
            <a:pPr defTabSz="914400">
              <a:lnSpc>
                <a:spcPct val="100000"/>
              </a:lnSpc>
            </a:pPr>
            <a:r>
              <a:rPr b="0" lang="fr-FR" sz="1000" spc="-1" strike="noStrike">
                <a:solidFill>
                  <a:srgbClr val="444748"/>
                </a:solidFill>
                <a:latin typeface="Calibri"/>
                <a:ea typeface="Calibri"/>
              </a:rPr>
              <a:t>Expose l'état des conversations, du chat et du bot aux écrans ; se met à jour dès qu'un flux WebSocket émet un événement.</a:t>
            </a:r>
            <a:endParaRPr b="0" lang="fr-FR" sz="1000" spc="-1" strike="noStrike">
              <a:solidFill>
                <a:srgbClr val="000000"/>
              </a:solidFill>
              <a:latin typeface="Arial"/>
            </a:endParaRPr>
          </a:p>
        </p:txBody>
      </p:sp>
      <p:cxnSp>
        <p:nvCxnSpPr>
          <p:cNvPr id="164" name="ArrowV"/>
          <p:cNvCxnSpPr/>
          <p:nvPr/>
        </p:nvCxnSpPr>
        <p:spPr>
          <a:xfrm>
            <a:off x="6096240" y="3839760"/>
            <a:ext cx="1080" cy="101160"/>
          </a:xfrm>
          <a:prstGeom prst="straightConnector1">
            <a:avLst/>
          </a:prstGeom>
          <a:ln w="28575">
            <a:solidFill>
              <a:srgbClr val="1565c0"/>
            </a:solidFill>
            <a:round/>
            <a:tailEnd len="med" type="triangle" w="med"/>
          </a:ln>
        </p:spPr>
      </p:cxnSp>
      <p:sp>
        <p:nvSpPr>
          <p:cNvPr id="165" name="Rect"/>
          <p:cNvSpPr/>
          <p:nvPr/>
        </p:nvSpPr>
        <p:spPr>
          <a:xfrm>
            <a:off x="548640" y="3960000"/>
            <a:ext cx="11094120" cy="1089000"/>
          </a:xfrm>
          <a:prstGeom prst="roundRect">
            <a:avLst>
              <a:gd name="adj" fmla="val 6000"/>
            </a:avLst>
          </a:prstGeom>
          <a:solidFill>
            <a:srgbClr val="e3f2fd"/>
          </a:solidFill>
          <a:ln w="9525">
            <a:solidFill>
              <a:srgbClr val="1a237e"/>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166" name="Circle"/>
          <p:cNvSpPr/>
          <p:nvPr/>
        </p:nvSpPr>
        <p:spPr>
          <a:xfrm>
            <a:off x="588600" y="4254840"/>
            <a:ext cx="498960" cy="498960"/>
          </a:xfrm>
          <a:prstGeom prst="ellipse">
            <a:avLst/>
          </a:prstGeom>
          <a:solidFill>
            <a:srgbClr val="1a237e"/>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167" name="Txt"/>
          <p:cNvSpPr/>
          <p:nvPr/>
        </p:nvSpPr>
        <p:spPr>
          <a:xfrm>
            <a:off x="588600" y="4254840"/>
            <a:ext cx="498960" cy="498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300" spc="-1" strike="noStrike">
                <a:solidFill>
                  <a:srgbClr val="ffffff"/>
                </a:solidFill>
                <a:latin typeface="Calibri"/>
                <a:ea typeface="Calibri"/>
              </a:rPr>
              <a:t>3</a:t>
            </a:r>
            <a:endParaRPr b="0" lang="fr-FR" sz="1300" spc="-1" strike="noStrike">
              <a:solidFill>
                <a:srgbClr val="000000"/>
              </a:solidFill>
              <a:latin typeface="Arial"/>
            </a:endParaRPr>
          </a:p>
        </p:txBody>
      </p:sp>
      <p:sp>
        <p:nvSpPr>
          <p:cNvPr id="168" name="Txt"/>
          <p:cNvSpPr/>
          <p:nvPr/>
        </p:nvSpPr>
        <p:spPr>
          <a:xfrm>
            <a:off x="1188720" y="4050000"/>
            <a:ext cx="10394280" cy="90900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159"/>
              </a:spcAft>
            </a:pPr>
            <a:r>
              <a:rPr b="1" lang="fr-FR" sz="1500" spc="-1" strike="noStrike">
                <a:solidFill>
                  <a:srgbClr val="1a237e"/>
                </a:solidFill>
                <a:latin typeface="Calibri"/>
                <a:ea typeface="Calibri"/>
              </a:rPr>
              <a:t>Réseau &amp; modèles — core/network, core/models</a:t>
            </a:r>
            <a:endParaRPr b="0" lang="fr-FR" sz="1500" spc="-1" strike="noStrike">
              <a:solidFill>
                <a:srgbClr val="000000"/>
              </a:solidFill>
              <a:latin typeface="Arial"/>
            </a:endParaRPr>
          </a:p>
          <a:p>
            <a:pPr defTabSz="914400">
              <a:lnSpc>
                <a:spcPct val="100000"/>
              </a:lnSpc>
              <a:spcAft>
                <a:spcPts val="139"/>
              </a:spcAft>
            </a:pPr>
            <a:r>
              <a:rPr b="0" lang="fr-FR" sz="1050" spc="-1" strike="noStrike">
                <a:solidFill>
                  <a:srgbClr val="1565c0"/>
                </a:solidFill>
                <a:latin typeface="Consolas"/>
                <a:ea typeface="Consolas"/>
              </a:rPr>
              <a:t>api_client.dart · websocket_service.dart · auth_repository.dart · file_upload_service.dart</a:t>
            </a:r>
            <a:endParaRPr b="0" lang="fr-FR" sz="1050" spc="-1" strike="noStrike">
              <a:solidFill>
                <a:srgbClr val="000000"/>
              </a:solidFill>
              <a:latin typeface="Arial"/>
            </a:endParaRPr>
          </a:p>
          <a:p>
            <a:pPr defTabSz="914400">
              <a:lnSpc>
                <a:spcPct val="100000"/>
              </a:lnSpc>
            </a:pPr>
            <a:r>
              <a:rPr b="0" lang="fr-FR" sz="1000" spc="-1" strike="noStrike">
                <a:solidFill>
                  <a:srgbClr val="444748"/>
                </a:solidFill>
                <a:latin typeface="Calibri"/>
                <a:ea typeface="Calibri"/>
              </a:rPr>
              <a:t>Dio pour les appels REST (auth, profils, fichiers) ; stomp_dart_client pour le temps réel ; jeton JWT lu via flutter_secure_storage.</a:t>
            </a:r>
            <a:endParaRPr b="0" lang="fr-FR" sz="1000" spc="-1" strike="noStrike">
              <a:solidFill>
                <a:srgbClr val="000000"/>
              </a:solidFill>
              <a:latin typeface="Arial"/>
            </a:endParaRPr>
          </a:p>
        </p:txBody>
      </p:sp>
      <p:cxnSp>
        <p:nvCxnSpPr>
          <p:cNvPr id="169" name="ArrowV"/>
          <p:cNvCxnSpPr/>
          <p:nvPr/>
        </p:nvCxnSpPr>
        <p:spPr>
          <a:xfrm>
            <a:off x="6096240" y="5069880"/>
            <a:ext cx="1080" cy="101160"/>
          </a:xfrm>
          <a:prstGeom prst="straightConnector1">
            <a:avLst/>
          </a:prstGeom>
          <a:ln w="28575">
            <a:solidFill>
              <a:srgbClr val="1565c0"/>
            </a:solidFill>
            <a:round/>
            <a:tailEnd len="med" type="triangle" w="med"/>
          </a:ln>
        </p:spPr>
      </p:cxnSp>
      <p:sp>
        <p:nvSpPr>
          <p:cNvPr id="170" name="Rect"/>
          <p:cNvSpPr/>
          <p:nvPr/>
        </p:nvSpPr>
        <p:spPr>
          <a:xfrm>
            <a:off x="548640" y="5190120"/>
            <a:ext cx="11094120" cy="1089000"/>
          </a:xfrm>
          <a:prstGeom prst="roundRect">
            <a:avLst>
              <a:gd name="adj" fmla="val 6000"/>
            </a:avLst>
          </a:prstGeom>
          <a:solidFill>
            <a:srgbClr val="1a237e"/>
          </a:solidFill>
          <a:ln w="0">
            <a:noFill/>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171" name="Circle"/>
          <p:cNvSpPr/>
          <p:nvPr/>
        </p:nvSpPr>
        <p:spPr>
          <a:xfrm>
            <a:off x="588600" y="5484960"/>
            <a:ext cx="498960" cy="498960"/>
          </a:xfrm>
          <a:prstGeom prst="ellipse">
            <a:avLst/>
          </a:prstGeom>
          <a:solidFill>
            <a:srgbClr val="ffffff"/>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172" name="Txt"/>
          <p:cNvSpPr/>
          <p:nvPr/>
        </p:nvSpPr>
        <p:spPr>
          <a:xfrm>
            <a:off x="588600" y="5484960"/>
            <a:ext cx="498960" cy="498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300" spc="-1" strike="noStrike">
                <a:solidFill>
                  <a:srgbClr val="1a237e"/>
                </a:solidFill>
                <a:latin typeface="Calibri"/>
                <a:ea typeface="Calibri"/>
              </a:rPr>
              <a:t>4</a:t>
            </a:r>
            <a:endParaRPr b="0" lang="fr-FR" sz="1300" spc="-1" strike="noStrike">
              <a:solidFill>
                <a:srgbClr val="000000"/>
              </a:solidFill>
              <a:latin typeface="Arial"/>
            </a:endParaRPr>
          </a:p>
        </p:txBody>
      </p:sp>
      <p:sp>
        <p:nvSpPr>
          <p:cNvPr id="173" name="Txt"/>
          <p:cNvSpPr/>
          <p:nvPr/>
        </p:nvSpPr>
        <p:spPr>
          <a:xfrm>
            <a:off x="1188720" y="5280120"/>
            <a:ext cx="10394280" cy="90900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159"/>
              </a:spcAft>
            </a:pPr>
            <a:r>
              <a:rPr b="1" lang="fr-FR" sz="1500" spc="-1" strike="noStrike">
                <a:solidFill>
                  <a:srgbClr val="ffffff"/>
                </a:solidFill>
                <a:latin typeface="Calibri"/>
                <a:ea typeface="Calibri"/>
              </a:rPr>
              <a:t>Backend Spring Boot</a:t>
            </a:r>
            <a:endParaRPr b="0" lang="fr-FR" sz="1500" spc="-1" strike="noStrike">
              <a:solidFill>
                <a:srgbClr val="000000"/>
              </a:solidFill>
              <a:latin typeface="Arial"/>
            </a:endParaRPr>
          </a:p>
          <a:p>
            <a:pPr defTabSz="914400">
              <a:lnSpc>
                <a:spcPct val="100000"/>
              </a:lnSpc>
              <a:spcAft>
                <a:spcPts val="139"/>
              </a:spcAft>
            </a:pPr>
            <a:r>
              <a:rPr b="0" lang="fr-FR" sz="1050" spc="-1" strike="noStrike">
                <a:solidFill>
                  <a:srgbClr val="9fb3f0"/>
                </a:solidFill>
                <a:latin typeface="Consolas"/>
                <a:ea typeface="Consolas"/>
              </a:rPr>
              <a:t>REST API (HTTPS)  ·  WebSocket / STOMP (ws)</a:t>
            </a:r>
            <a:endParaRPr b="0" lang="fr-FR" sz="1050" spc="-1" strike="noStrike">
              <a:solidFill>
                <a:srgbClr val="000000"/>
              </a:solidFill>
              <a:latin typeface="Arial"/>
            </a:endParaRPr>
          </a:p>
          <a:p>
            <a:pPr defTabSz="914400">
              <a:lnSpc>
                <a:spcPct val="100000"/>
              </a:lnSpc>
            </a:pPr>
            <a:r>
              <a:rPr b="0" lang="fr-FR" sz="1000" spc="-1" strike="noStrike">
                <a:solidFill>
                  <a:srgbClr val="cad4f5"/>
                </a:solidFill>
                <a:latin typeface="Calibri"/>
                <a:ea typeface="Calibri"/>
              </a:rPr>
              <a:t>Authentification, profils, conversations, messages, notifications, planning universitaire.</a:t>
            </a:r>
            <a:endParaRPr b="0" lang="fr-FR"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4" name="Text 0"/>
          <p:cNvSpPr/>
          <p:nvPr/>
        </p:nvSpPr>
        <p:spPr>
          <a:xfrm>
            <a:off x="548640" y="384120"/>
            <a:ext cx="731340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86" strike="noStrike">
                <a:solidFill>
                  <a:srgbClr val="1a237e"/>
                </a:solidFill>
                <a:latin typeface="Calibri"/>
                <a:ea typeface="Calibri"/>
              </a:rPr>
              <a:t>ORGANISATION EN COUCHES</a:t>
            </a:r>
            <a:endParaRPr b="0" lang="fr-FR" sz="1200" spc="-1" strike="noStrike">
              <a:solidFill>
                <a:srgbClr val="000000"/>
              </a:solidFill>
              <a:latin typeface="Arial"/>
            </a:endParaRPr>
          </a:p>
        </p:txBody>
      </p:sp>
      <p:sp>
        <p:nvSpPr>
          <p:cNvPr id="175" name="Text 1"/>
          <p:cNvSpPr/>
          <p:nvPr/>
        </p:nvSpPr>
        <p:spPr>
          <a:xfrm>
            <a:off x="548640" y="658440"/>
            <a:ext cx="10513800" cy="72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000000"/>
                </a:solidFill>
                <a:latin typeface="Cambria"/>
                <a:ea typeface="Cambria"/>
              </a:rPr>
              <a:t>Architecture du backend Spring Boot MVC</a:t>
            </a:r>
            <a:endParaRPr b="0" lang="fr-FR" sz="3200" spc="-1" strike="noStrike">
              <a:solidFill>
                <a:srgbClr val="000000"/>
              </a:solidFill>
              <a:latin typeface="Arial"/>
            </a:endParaRPr>
          </a:p>
        </p:txBody>
      </p:sp>
      <p:sp>
        <p:nvSpPr>
          <p:cNvPr id="176" name="Text 2"/>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747878"/>
                </a:solidFill>
                <a:latin typeface="Calibri"/>
                <a:ea typeface="Calibri"/>
              </a:rPr>
              <a:t>8</a:t>
            </a:r>
            <a:endParaRPr b="0" lang="fr-FR" sz="1000" spc="-1" strike="noStrike">
              <a:solidFill>
                <a:srgbClr val="000000"/>
              </a:solidFill>
              <a:latin typeface="Arial"/>
            </a:endParaRPr>
          </a:p>
        </p:txBody>
      </p:sp>
      <p:sp>
        <p:nvSpPr>
          <p:cNvPr id="177" name="Shape 4"/>
          <p:cNvSpPr/>
          <p:nvPr/>
        </p:nvSpPr>
        <p:spPr>
          <a:xfrm>
            <a:off x="548640" y="1691640"/>
            <a:ext cx="2604240" cy="1324080"/>
          </a:xfrm>
          <a:prstGeom prst="roundRect">
            <a:avLst>
              <a:gd name="adj" fmla="val 5517"/>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78" name="Shape 5"/>
          <p:cNvSpPr/>
          <p:nvPr/>
        </p:nvSpPr>
        <p:spPr>
          <a:xfrm>
            <a:off x="777240" y="1892880"/>
            <a:ext cx="418680" cy="41868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79" name="Text 6"/>
          <p:cNvSpPr/>
          <p:nvPr/>
        </p:nvSpPr>
        <p:spPr>
          <a:xfrm>
            <a:off x="777240" y="1874520"/>
            <a:ext cx="418680" cy="41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 }</a:t>
            </a:r>
            <a:endParaRPr b="0" lang="fr-FR" sz="1400" spc="-1" strike="noStrike">
              <a:solidFill>
                <a:srgbClr val="000000"/>
              </a:solidFill>
              <a:latin typeface="Arial"/>
            </a:endParaRPr>
          </a:p>
        </p:txBody>
      </p:sp>
      <p:sp>
        <p:nvSpPr>
          <p:cNvPr id="180" name="Text 7"/>
          <p:cNvSpPr/>
          <p:nvPr/>
        </p:nvSpPr>
        <p:spPr>
          <a:xfrm>
            <a:off x="777240" y="2404800"/>
            <a:ext cx="214704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a237e"/>
                </a:solidFill>
                <a:latin typeface="Consolas"/>
                <a:ea typeface="Consolas"/>
              </a:rPr>
              <a:t>controller</a:t>
            </a:r>
            <a:endParaRPr b="0" lang="fr-FR" sz="1350" spc="-1" strike="noStrike">
              <a:solidFill>
                <a:srgbClr val="000000"/>
              </a:solidFill>
              <a:latin typeface="Arial"/>
            </a:endParaRPr>
          </a:p>
        </p:txBody>
      </p:sp>
      <p:sp>
        <p:nvSpPr>
          <p:cNvPr id="181" name="Text 8"/>
          <p:cNvSpPr/>
          <p:nvPr/>
        </p:nvSpPr>
        <p:spPr>
          <a:xfrm>
            <a:off x="777240" y="2660760"/>
            <a:ext cx="2147040" cy="31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0" lang="en-US" sz="950" spc="-1" strike="noStrike">
                <a:solidFill>
                  <a:srgbClr val="444748"/>
                </a:solidFill>
                <a:latin typeface="Calibri"/>
                <a:ea typeface="Calibri"/>
              </a:rPr>
              <a:t>Expose les routes REST et WebSocket.</a:t>
            </a:r>
            <a:endParaRPr b="0" lang="fr-FR" sz="950" spc="-1" strike="noStrike">
              <a:solidFill>
                <a:srgbClr val="000000"/>
              </a:solidFill>
              <a:latin typeface="Arial"/>
            </a:endParaRPr>
          </a:p>
        </p:txBody>
      </p:sp>
      <p:sp>
        <p:nvSpPr>
          <p:cNvPr id="182" name="Shape 9"/>
          <p:cNvSpPr/>
          <p:nvPr/>
        </p:nvSpPr>
        <p:spPr>
          <a:xfrm>
            <a:off x="3337560" y="1691640"/>
            <a:ext cx="2604240" cy="1324080"/>
          </a:xfrm>
          <a:prstGeom prst="roundRect">
            <a:avLst>
              <a:gd name="adj" fmla="val 5517"/>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83" name="Shape 10"/>
          <p:cNvSpPr/>
          <p:nvPr/>
        </p:nvSpPr>
        <p:spPr>
          <a:xfrm>
            <a:off x="3566160" y="1892880"/>
            <a:ext cx="418680" cy="41868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84" name="Text 11"/>
          <p:cNvSpPr/>
          <p:nvPr/>
        </p:nvSpPr>
        <p:spPr>
          <a:xfrm>
            <a:off x="3566160" y="1874520"/>
            <a:ext cx="418680" cy="41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 }</a:t>
            </a:r>
            <a:endParaRPr b="0" lang="fr-FR" sz="1400" spc="-1" strike="noStrike">
              <a:solidFill>
                <a:srgbClr val="000000"/>
              </a:solidFill>
              <a:latin typeface="Arial"/>
            </a:endParaRPr>
          </a:p>
        </p:txBody>
      </p:sp>
      <p:sp>
        <p:nvSpPr>
          <p:cNvPr id="185" name="Text 12"/>
          <p:cNvSpPr/>
          <p:nvPr/>
        </p:nvSpPr>
        <p:spPr>
          <a:xfrm>
            <a:off x="3566160" y="2404800"/>
            <a:ext cx="214704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a237e"/>
                </a:solidFill>
                <a:latin typeface="Consolas"/>
                <a:ea typeface="Consolas"/>
              </a:rPr>
              <a:t>service</a:t>
            </a:r>
            <a:endParaRPr b="0" lang="fr-FR" sz="1350" spc="-1" strike="noStrike">
              <a:solidFill>
                <a:srgbClr val="000000"/>
              </a:solidFill>
              <a:latin typeface="Arial"/>
            </a:endParaRPr>
          </a:p>
        </p:txBody>
      </p:sp>
      <p:sp>
        <p:nvSpPr>
          <p:cNvPr id="186" name="Text 13"/>
          <p:cNvSpPr/>
          <p:nvPr/>
        </p:nvSpPr>
        <p:spPr>
          <a:xfrm>
            <a:off x="3566160" y="2660760"/>
            <a:ext cx="2147040" cy="31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0" lang="en-US" sz="950" spc="-1" strike="noStrike">
                <a:solidFill>
                  <a:srgbClr val="444748"/>
                </a:solidFill>
                <a:latin typeface="Calibri"/>
                <a:ea typeface="Calibri"/>
              </a:rPr>
              <a:t>Contient la logique métier de l'application.</a:t>
            </a:r>
            <a:endParaRPr b="0" lang="fr-FR" sz="950" spc="-1" strike="noStrike">
              <a:solidFill>
                <a:srgbClr val="000000"/>
              </a:solidFill>
              <a:latin typeface="Arial"/>
            </a:endParaRPr>
          </a:p>
        </p:txBody>
      </p:sp>
      <p:sp>
        <p:nvSpPr>
          <p:cNvPr id="187" name="Shape 14"/>
          <p:cNvSpPr/>
          <p:nvPr/>
        </p:nvSpPr>
        <p:spPr>
          <a:xfrm>
            <a:off x="6126480" y="1691640"/>
            <a:ext cx="2604240" cy="1324080"/>
          </a:xfrm>
          <a:prstGeom prst="roundRect">
            <a:avLst>
              <a:gd name="adj" fmla="val 5517"/>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88" name="Shape 15"/>
          <p:cNvSpPr/>
          <p:nvPr/>
        </p:nvSpPr>
        <p:spPr>
          <a:xfrm>
            <a:off x="6355080" y="1892880"/>
            <a:ext cx="418680" cy="41868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89" name="Text 16"/>
          <p:cNvSpPr/>
          <p:nvPr/>
        </p:nvSpPr>
        <p:spPr>
          <a:xfrm>
            <a:off x="6355080" y="1874520"/>
            <a:ext cx="418680" cy="41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 }</a:t>
            </a:r>
            <a:endParaRPr b="0" lang="fr-FR" sz="1400" spc="-1" strike="noStrike">
              <a:solidFill>
                <a:srgbClr val="000000"/>
              </a:solidFill>
              <a:latin typeface="Arial"/>
            </a:endParaRPr>
          </a:p>
        </p:txBody>
      </p:sp>
      <p:sp>
        <p:nvSpPr>
          <p:cNvPr id="190" name="Text 17"/>
          <p:cNvSpPr/>
          <p:nvPr/>
        </p:nvSpPr>
        <p:spPr>
          <a:xfrm>
            <a:off x="6355080" y="2404800"/>
            <a:ext cx="214704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a237e"/>
                </a:solidFill>
                <a:latin typeface="Consolas"/>
                <a:ea typeface="Consolas"/>
              </a:rPr>
              <a:t>entity</a:t>
            </a:r>
            <a:endParaRPr b="0" lang="fr-FR" sz="1350" spc="-1" strike="noStrike">
              <a:solidFill>
                <a:srgbClr val="000000"/>
              </a:solidFill>
              <a:latin typeface="Arial"/>
            </a:endParaRPr>
          </a:p>
        </p:txBody>
      </p:sp>
      <p:sp>
        <p:nvSpPr>
          <p:cNvPr id="191" name="Text 18"/>
          <p:cNvSpPr/>
          <p:nvPr/>
        </p:nvSpPr>
        <p:spPr>
          <a:xfrm>
            <a:off x="6355080" y="2660760"/>
            <a:ext cx="2147040" cy="31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0" lang="en-US" sz="950" spc="-1" strike="noStrike">
                <a:solidFill>
                  <a:srgbClr val="444748"/>
                </a:solidFill>
                <a:latin typeface="Calibri"/>
                <a:ea typeface="Calibri"/>
              </a:rPr>
              <a:t>Représente les tables de la base de données.</a:t>
            </a:r>
            <a:endParaRPr b="0" lang="fr-FR" sz="950" spc="-1" strike="noStrike">
              <a:solidFill>
                <a:srgbClr val="000000"/>
              </a:solidFill>
              <a:latin typeface="Arial"/>
            </a:endParaRPr>
          </a:p>
        </p:txBody>
      </p:sp>
      <p:sp>
        <p:nvSpPr>
          <p:cNvPr id="192" name="Shape 19"/>
          <p:cNvSpPr/>
          <p:nvPr/>
        </p:nvSpPr>
        <p:spPr>
          <a:xfrm>
            <a:off x="8915400" y="1691640"/>
            <a:ext cx="2604240" cy="1324080"/>
          </a:xfrm>
          <a:prstGeom prst="roundRect">
            <a:avLst>
              <a:gd name="adj" fmla="val 5517"/>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93" name="Shape 20"/>
          <p:cNvSpPr/>
          <p:nvPr/>
        </p:nvSpPr>
        <p:spPr>
          <a:xfrm>
            <a:off x="9144000" y="1892880"/>
            <a:ext cx="418680" cy="41868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94" name="Text 21"/>
          <p:cNvSpPr/>
          <p:nvPr/>
        </p:nvSpPr>
        <p:spPr>
          <a:xfrm>
            <a:off x="9144000" y="1874520"/>
            <a:ext cx="418680" cy="41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 }</a:t>
            </a:r>
            <a:endParaRPr b="0" lang="fr-FR" sz="1400" spc="-1" strike="noStrike">
              <a:solidFill>
                <a:srgbClr val="000000"/>
              </a:solidFill>
              <a:latin typeface="Arial"/>
            </a:endParaRPr>
          </a:p>
        </p:txBody>
      </p:sp>
      <p:sp>
        <p:nvSpPr>
          <p:cNvPr id="195" name="Text 22"/>
          <p:cNvSpPr/>
          <p:nvPr/>
        </p:nvSpPr>
        <p:spPr>
          <a:xfrm>
            <a:off x="9144000" y="2404800"/>
            <a:ext cx="214704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a237e"/>
                </a:solidFill>
                <a:latin typeface="Consolas"/>
                <a:ea typeface="Consolas"/>
              </a:rPr>
              <a:t>repository</a:t>
            </a:r>
            <a:endParaRPr b="0" lang="fr-FR" sz="1350" spc="-1" strike="noStrike">
              <a:solidFill>
                <a:srgbClr val="000000"/>
              </a:solidFill>
              <a:latin typeface="Arial"/>
            </a:endParaRPr>
          </a:p>
        </p:txBody>
      </p:sp>
      <p:sp>
        <p:nvSpPr>
          <p:cNvPr id="196" name="Text 23"/>
          <p:cNvSpPr/>
          <p:nvPr/>
        </p:nvSpPr>
        <p:spPr>
          <a:xfrm>
            <a:off x="9144000" y="2660760"/>
            <a:ext cx="2147040" cy="31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0" lang="en-US" sz="950" spc="-1" strike="noStrike">
                <a:solidFill>
                  <a:srgbClr val="444748"/>
                </a:solidFill>
                <a:latin typeface="Calibri"/>
                <a:ea typeface="Calibri"/>
              </a:rPr>
              <a:t>Accès aux données avec Spring Data JPA.</a:t>
            </a:r>
            <a:endParaRPr b="0" lang="fr-FR" sz="950" spc="-1" strike="noStrike">
              <a:solidFill>
                <a:srgbClr val="000000"/>
              </a:solidFill>
              <a:latin typeface="Arial"/>
            </a:endParaRPr>
          </a:p>
        </p:txBody>
      </p:sp>
      <p:sp>
        <p:nvSpPr>
          <p:cNvPr id="197" name="Shape 24"/>
          <p:cNvSpPr/>
          <p:nvPr/>
        </p:nvSpPr>
        <p:spPr>
          <a:xfrm>
            <a:off x="548640" y="3200400"/>
            <a:ext cx="2604240" cy="1324080"/>
          </a:xfrm>
          <a:prstGeom prst="roundRect">
            <a:avLst>
              <a:gd name="adj" fmla="val 5517"/>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98" name="Shape 25"/>
          <p:cNvSpPr/>
          <p:nvPr/>
        </p:nvSpPr>
        <p:spPr>
          <a:xfrm>
            <a:off x="777240" y="3401640"/>
            <a:ext cx="418680" cy="41868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99" name="Text 26"/>
          <p:cNvSpPr/>
          <p:nvPr/>
        </p:nvSpPr>
        <p:spPr>
          <a:xfrm>
            <a:off x="777240" y="3383280"/>
            <a:ext cx="418680" cy="41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 }</a:t>
            </a:r>
            <a:endParaRPr b="0" lang="fr-FR" sz="1400" spc="-1" strike="noStrike">
              <a:solidFill>
                <a:srgbClr val="000000"/>
              </a:solidFill>
              <a:latin typeface="Arial"/>
            </a:endParaRPr>
          </a:p>
        </p:txBody>
      </p:sp>
      <p:sp>
        <p:nvSpPr>
          <p:cNvPr id="200" name="Text 27"/>
          <p:cNvSpPr/>
          <p:nvPr/>
        </p:nvSpPr>
        <p:spPr>
          <a:xfrm>
            <a:off x="777240" y="3913560"/>
            <a:ext cx="214704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a237e"/>
                </a:solidFill>
                <a:latin typeface="Consolas"/>
                <a:ea typeface="Consolas"/>
              </a:rPr>
              <a:t>dto</a:t>
            </a:r>
            <a:endParaRPr b="0" lang="fr-FR" sz="1350" spc="-1" strike="noStrike">
              <a:solidFill>
                <a:srgbClr val="000000"/>
              </a:solidFill>
              <a:latin typeface="Arial"/>
            </a:endParaRPr>
          </a:p>
        </p:txBody>
      </p:sp>
      <p:sp>
        <p:nvSpPr>
          <p:cNvPr id="201" name="Text 28"/>
          <p:cNvSpPr/>
          <p:nvPr/>
        </p:nvSpPr>
        <p:spPr>
          <a:xfrm>
            <a:off x="777240" y="4169520"/>
            <a:ext cx="2147040" cy="31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0" lang="en-US" sz="950" spc="-1" strike="noStrike">
                <a:solidFill>
                  <a:srgbClr val="444748"/>
                </a:solidFill>
                <a:latin typeface="Calibri"/>
                <a:ea typeface="Calibri"/>
              </a:rPr>
              <a:t>Objets d'échange entre frontend et backend.</a:t>
            </a:r>
            <a:endParaRPr b="0" lang="fr-FR" sz="950" spc="-1" strike="noStrike">
              <a:solidFill>
                <a:srgbClr val="000000"/>
              </a:solidFill>
              <a:latin typeface="Arial"/>
            </a:endParaRPr>
          </a:p>
        </p:txBody>
      </p:sp>
      <p:sp>
        <p:nvSpPr>
          <p:cNvPr id="202" name="Shape 29"/>
          <p:cNvSpPr/>
          <p:nvPr/>
        </p:nvSpPr>
        <p:spPr>
          <a:xfrm>
            <a:off x="3337560" y="3200400"/>
            <a:ext cx="2604240" cy="1324080"/>
          </a:xfrm>
          <a:prstGeom prst="roundRect">
            <a:avLst>
              <a:gd name="adj" fmla="val 5517"/>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203" name="Shape 30"/>
          <p:cNvSpPr/>
          <p:nvPr/>
        </p:nvSpPr>
        <p:spPr>
          <a:xfrm>
            <a:off x="3566160" y="3401640"/>
            <a:ext cx="418680" cy="41868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204" name="Text 31"/>
          <p:cNvSpPr/>
          <p:nvPr/>
        </p:nvSpPr>
        <p:spPr>
          <a:xfrm>
            <a:off x="3566160" y="3383280"/>
            <a:ext cx="418680" cy="41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 }</a:t>
            </a:r>
            <a:endParaRPr b="0" lang="fr-FR" sz="1400" spc="-1" strike="noStrike">
              <a:solidFill>
                <a:srgbClr val="000000"/>
              </a:solidFill>
              <a:latin typeface="Arial"/>
            </a:endParaRPr>
          </a:p>
        </p:txBody>
      </p:sp>
      <p:sp>
        <p:nvSpPr>
          <p:cNvPr id="205" name="Text 32"/>
          <p:cNvSpPr/>
          <p:nvPr/>
        </p:nvSpPr>
        <p:spPr>
          <a:xfrm>
            <a:off x="3566160" y="3913560"/>
            <a:ext cx="214704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a237e"/>
                </a:solidFill>
                <a:latin typeface="Consolas"/>
                <a:ea typeface="Consolas"/>
              </a:rPr>
              <a:t>security</a:t>
            </a:r>
            <a:endParaRPr b="0" lang="fr-FR" sz="1350" spc="-1" strike="noStrike">
              <a:solidFill>
                <a:srgbClr val="000000"/>
              </a:solidFill>
              <a:latin typeface="Arial"/>
            </a:endParaRPr>
          </a:p>
        </p:txBody>
      </p:sp>
      <p:sp>
        <p:nvSpPr>
          <p:cNvPr id="206" name="Text 33"/>
          <p:cNvSpPr/>
          <p:nvPr/>
        </p:nvSpPr>
        <p:spPr>
          <a:xfrm>
            <a:off x="3566160" y="4169520"/>
            <a:ext cx="2147040" cy="31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0" lang="en-US" sz="950" spc="-1" strike="noStrike">
                <a:solidFill>
                  <a:srgbClr val="444748"/>
                </a:solidFill>
                <a:latin typeface="Calibri"/>
                <a:ea typeface="Calibri"/>
              </a:rPr>
              <a:t>Authentification JWT et protection WebSocket.</a:t>
            </a:r>
            <a:endParaRPr b="0" lang="fr-FR" sz="950" spc="-1" strike="noStrike">
              <a:solidFill>
                <a:srgbClr val="000000"/>
              </a:solidFill>
              <a:latin typeface="Arial"/>
            </a:endParaRPr>
          </a:p>
        </p:txBody>
      </p:sp>
      <p:sp>
        <p:nvSpPr>
          <p:cNvPr id="207" name="Shape 34"/>
          <p:cNvSpPr/>
          <p:nvPr/>
        </p:nvSpPr>
        <p:spPr>
          <a:xfrm>
            <a:off x="6126480" y="3200400"/>
            <a:ext cx="2604240" cy="1324080"/>
          </a:xfrm>
          <a:prstGeom prst="roundRect">
            <a:avLst>
              <a:gd name="adj" fmla="val 5517"/>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208" name="Shape 35"/>
          <p:cNvSpPr/>
          <p:nvPr/>
        </p:nvSpPr>
        <p:spPr>
          <a:xfrm>
            <a:off x="6355080" y="3401640"/>
            <a:ext cx="418680" cy="41868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209" name="Text 36"/>
          <p:cNvSpPr/>
          <p:nvPr/>
        </p:nvSpPr>
        <p:spPr>
          <a:xfrm>
            <a:off x="6355080" y="3383280"/>
            <a:ext cx="418680" cy="41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 }</a:t>
            </a:r>
            <a:endParaRPr b="0" lang="fr-FR" sz="1400" spc="-1" strike="noStrike">
              <a:solidFill>
                <a:srgbClr val="000000"/>
              </a:solidFill>
              <a:latin typeface="Arial"/>
            </a:endParaRPr>
          </a:p>
        </p:txBody>
      </p:sp>
      <p:sp>
        <p:nvSpPr>
          <p:cNvPr id="210" name="Text 37"/>
          <p:cNvSpPr/>
          <p:nvPr/>
        </p:nvSpPr>
        <p:spPr>
          <a:xfrm>
            <a:off x="6355080" y="3913560"/>
            <a:ext cx="214704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a237e"/>
                </a:solidFill>
                <a:latin typeface="Consolas"/>
                <a:ea typeface="Consolas"/>
              </a:rPr>
              <a:t>config</a:t>
            </a:r>
            <a:endParaRPr b="0" lang="fr-FR" sz="1350" spc="-1" strike="noStrike">
              <a:solidFill>
                <a:srgbClr val="000000"/>
              </a:solidFill>
              <a:latin typeface="Arial"/>
            </a:endParaRPr>
          </a:p>
        </p:txBody>
      </p:sp>
      <p:sp>
        <p:nvSpPr>
          <p:cNvPr id="211" name="Text 38"/>
          <p:cNvSpPr/>
          <p:nvPr/>
        </p:nvSpPr>
        <p:spPr>
          <a:xfrm>
            <a:off x="6355080" y="4169520"/>
            <a:ext cx="2147040" cy="31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0" lang="en-US" sz="950" spc="-1" strike="noStrike">
                <a:solidFill>
                  <a:srgbClr val="444748"/>
                </a:solidFill>
                <a:latin typeface="Calibri"/>
                <a:ea typeface="Calibri"/>
              </a:rPr>
              <a:t>Configuration générale de Spring Boot.</a:t>
            </a:r>
            <a:endParaRPr b="0" lang="fr-FR" sz="950" spc="-1" strike="noStrike">
              <a:solidFill>
                <a:srgbClr val="000000"/>
              </a:solidFill>
              <a:latin typeface="Arial"/>
            </a:endParaRPr>
          </a:p>
        </p:txBody>
      </p:sp>
      <p:sp>
        <p:nvSpPr>
          <p:cNvPr id="212" name="Shape 39"/>
          <p:cNvSpPr/>
          <p:nvPr/>
        </p:nvSpPr>
        <p:spPr>
          <a:xfrm>
            <a:off x="8915400" y="3200400"/>
            <a:ext cx="2604240" cy="1324080"/>
          </a:xfrm>
          <a:prstGeom prst="roundRect">
            <a:avLst>
              <a:gd name="adj" fmla="val 5517"/>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213" name="Shape 40"/>
          <p:cNvSpPr/>
          <p:nvPr/>
        </p:nvSpPr>
        <p:spPr>
          <a:xfrm>
            <a:off x="9144000" y="3401640"/>
            <a:ext cx="418680" cy="41868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214" name="Text 41"/>
          <p:cNvSpPr/>
          <p:nvPr/>
        </p:nvSpPr>
        <p:spPr>
          <a:xfrm>
            <a:off x="9144000" y="3383280"/>
            <a:ext cx="418680" cy="41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 }</a:t>
            </a:r>
            <a:endParaRPr b="0" lang="fr-FR" sz="1400" spc="-1" strike="noStrike">
              <a:solidFill>
                <a:srgbClr val="000000"/>
              </a:solidFill>
              <a:latin typeface="Arial"/>
            </a:endParaRPr>
          </a:p>
        </p:txBody>
      </p:sp>
      <p:sp>
        <p:nvSpPr>
          <p:cNvPr id="215" name="Text 42"/>
          <p:cNvSpPr/>
          <p:nvPr/>
        </p:nvSpPr>
        <p:spPr>
          <a:xfrm>
            <a:off x="9144000" y="3913560"/>
            <a:ext cx="214704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1a237e"/>
                </a:solidFill>
                <a:latin typeface="Consolas"/>
                <a:ea typeface="Consolas"/>
              </a:rPr>
              <a:t>exception</a:t>
            </a:r>
            <a:endParaRPr b="0" lang="fr-FR" sz="1350" spc="-1" strike="noStrike">
              <a:solidFill>
                <a:srgbClr val="000000"/>
              </a:solidFill>
              <a:latin typeface="Arial"/>
            </a:endParaRPr>
          </a:p>
        </p:txBody>
      </p:sp>
      <p:sp>
        <p:nvSpPr>
          <p:cNvPr id="216" name="Text 43"/>
          <p:cNvSpPr/>
          <p:nvPr/>
        </p:nvSpPr>
        <p:spPr>
          <a:xfrm>
            <a:off x="9144000" y="4169520"/>
            <a:ext cx="2147040" cy="31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0" lang="en-US" sz="950" spc="-1" strike="noStrike">
                <a:solidFill>
                  <a:srgbClr val="444748"/>
                </a:solidFill>
                <a:latin typeface="Calibri"/>
                <a:ea typeface="Calibri"/>
              </a:rPr>
              <a:t>Gestion globale des erreurs de l'API.</a:t>
            </a:r>
            <a:endParaRPr b="0" lang="fr-FR" sz="950" spc="-1" strike="noStrike">
              <a:solidFill>
                <a:srgbClr val="000000"/>
              </a:solidFill>
              <a:latin typeface="Arial"/>
            </a:endParaRPr>
          </a:p>
        </p:txBody>
      </p:sp>
      <p:sp>
        <p:nvSpPr>
          <p:cNvPr id="217" name="Shape 44"/>
          <p:cNvSpPr/>
          <p:nvPr/>
        </p:nvSpPr>
        <p:spPr>
          <a:xfrm>
            <a:off x="548640" y="4709160"/>
            <a:ext cx="11062440" cy="1232640"/>
          </a:xfrm>
          <a:prstGeom prst="roundRect">
            <a:avLst>
              <a:gd name="adj" fmla="val 5926"/>
            </a:avLst>
          </a:prstGeom>
          <a:solidFill>
            <a:srgbClr val="e3f2fd"/>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218" name="Text 45"/>
          <p:cNvSpPr/>
          <p:nvPr/>
        </p:nvSpPr>
        <p:spPr>
          <a:xfrm>
            <a:off x="868680" y="4709160"/>
            <a:ext cx="10422360" cy="1232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350" spc="-1" strike="noStrike">
                <a:solidFill>
                  <a:srgbClr val="000000"/>
                </a:solidFill>
                <a:latin typeface="Calibri"/>
                <a:ea typeface="Calibri"/>
              </a:rPr>
              <a:t>Le backend sépare clairement la présentation (controller), la logique métier (service) et l'accès aux données (repository / entity), pour un code plus maintenable et plus facile à tester.</a:t>
            </a:r>
            <a:endParaRPr b="0" lang="fr-FR"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9" name="Text 0"/>
          <p:cNvSpPr/>
          <p:nvPr/>
        </p:nvSpPr>
        <p:spPr>
          <a:xfrm>
            <a:off x="548640" y="384120"/>
            <a:ext cx="931356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fr-FR" sz="1200" spc="86" strike="noStrike">
                <a:solidFill>
                  <a:srgbClr val="1a237e"/>
                </a:solidFill>
                <a:latin typeface="Calibri"/>
                <a:ea typeface="Calibri"/>
              </a:rPr>
              <a:t>ORGANISATION EN COUCHES — DÉTAIL</a:t>
            </a:r>
            <a:endParaRPr b="0" lang="fr-FR" sz="1200" spc="-1" strike="noStrike">
              <a:solidFill>
                <a:srgbClr val="000000"/>
              </a:solidFill>
              <a:latin typeface="Arial"/>
            </a:endParaRPr>
          </a:p>
        </p:txBody>
      </p:sp>
      <p:sp>
        <p:nvSpPr>
          <p:cNvPr id="220" name="Text 1"/>
          <p:cNvSpPr/>
          <p:nvPr/>
        </p:nvSpPr>
        <p:spPr>
          <a:xfrm>
            <a:off x="548640" y="658440"/>
            <a:ext cx="11094120" cy="618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fr-FR" sz="2400" spc="-1" strike="noStrike">
                <a:solidFill>
                  <a:srgbClr val="000000"/>
                </a:solidFill>
                <a:latin typeface="Cambria"/>
                <a:ea typeface="Cambria"/>
              </a:rPr>
              <a:t>Flux d'une requête dans le backend Spring Boot</a:t>
            </a:r>
            <a:endParaRPr b="0" lang="fr-FR" sz="2400" spc="-1" strike="noStrike">
              <a:solidFill>
                <a:srgbClr val="000000"/>
              </a:solidFill>
              <a:latin typeface="Arial"/>
            </a:endParaRPr>
          </a:p>
        </p:txBody>
      </p:sp>
      <p:sp>
        <p:nvSpPr>
          <p:cNvPr id="221" name="PageNum"/>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r>
              <a:rPr b="0" lang="fr-FR" sz="1000" spc="-1" strike="noStrike">
                <a:solidFill>
                  <a:srgbClr val="747878"/>
                </a:solidFill>
                <a:latin typeface="Calibri"/>
                <a:ea typeface="Calibri"/>
              </a:rPr>
              <a:t>8A</a:t>
            </a:r>
            <a:endParaRPr b="0" lang="fr-FR" sz="1000" spc="-1" strike="noStrike">
              <a:solidFill>
                <a:srgbClr val="000000"/>
              </a:solidFill>
              <a:latin typeface="Arial"/>
            </a:endParaRPr>
          </a:p>
        </p:txBody>
      </p:sp>
      <p:sp>
        <p:nvSpPr>
          <p:cNvPr id="222" name="Rect"/>
          <p:cNvSpPr/>
          <p:nvPr/>
        </p:nvSpPr>
        <p:spPr>
          <a:xfrm>
            <a:off x="548640" y="1649880"/>
            <a:ext cx="2081880" cy="1949040"/>
          </a:xfrm>
          <a:prstGeom prst="roundRect">
            <a:avLst>
              <a:gd name="adj" fmla="val 6000"/>
            </a:avLst>
          </a:prstGeom>
          <a:solidFill>
            <a:srgbClr val="e4e4e4"/>
          </a:solidFill>
          <a:ln w="9525">
            <a:solidFill>
              <a:srgbClr val="d4d4d4"/>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23" name="Circle"/>
          <p:cNvSpPr/>
          <p:nvPr/>
        </p:nvSpPr>
        <p:spPr>
          <a:xfrm>
            <a:off x="1330200" y="1730160"/>
            <a:ext cx="518760" cy="518760"/>
          </a:xfrm>
          <a:prstGeom prst="ellipse">
            <a:avLst/>
          </a:prstGeom>
          <a:solidFill>
            <a:srgbClr val="1565c0"/>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24" name="Txt"/>
          <p:cNvSpPr/>
          <p:nvPr/>
        </p:nvSpPr>
        <p:spPr>
          <a:xfrm>
            <a:off x="1330200" y="1730160"/>
            <a:ext cx="518760" cy="518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300" spc="-1" strike="noStrike">
                <a:solidFill>
                  <a:srgbClr val="ffffff"/>
                </a:solidFill>
                <a:latin typeface="Calibri"/>
                <a:ea typeface="Calibri"/>
              </a:rPr>
              <a:t>1</a:t>
            </a:r>
            <a:endParaRPr b="0" lang="fr-FR" sz="1300" spc="-1" strike="noStrike">
              <a:solidFill>
                <a:srgbClr val="000000"/>
              </a:solidFill>
              <a:latin typeface="Arial"/>
            </a:endParaRPr>
          </a:p>
        </p:txBody>
      </p:sp>
      <p:sp>
        <p:nvSpPr>
          <p:cNvPr id="225" name="Txt"/>
          <p:cNvSpPr/>
          <p:nvPr/>
        </p:nvSpPr>
        <p:spPr>
          <a:xfrm>
            <a:off x="638640" y="2350080"/>
            <a:ext cx="1901880" cy="11689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spcAft>
                <a:spcPts val="159"/>
              </a:spcAft>
            </a:pPr>
            <a:r>
              <a:rPr b="1" lang="fr-FR" sz="1300" spc="-1" strike="noStrike">
                <a:solidFill>
                  <a:srgbClr val="000000"/>
                </a:solidFill>
                <a:latin typeface="Calibri"/>
                <a:ea typeface="Calibri"/>
              </a:rPr>
              <a:t>Client Flutter</a:t>
            </a:r>
            <a:endParaRPr b="0" lang="fr-FR" sz="1300" spc="-1" strike="noStrike">
              <a:solidFill>
                <a:srgbClr val="000000"/>
              </a:solidFill>
              <a:latin typeface="Arial"/>
            </a:endParaRPr>
          </a:p>
          <a:p>
            <a:pPr algn="ctr" defTabSz="914400">
              <a:lnSpc>
                <a:spcPct val="100000"/>
              </a:lnSpc>
              <a:spcAft>
                <a:spcPts val="60"/>
              </a:spcAft>
            </a:pPr>
            <a:r>
              <a:rPr b="0" lang="fr-FR" sz="1000" spc="-1" strike="noStrike">
                <a:solidFill>
                  <a:srgbClr val="444748"/>
                </a:solidFill>
                <a:latin typeface="Calibri"/>
                <a:ea typeface="Calibri"/>
              </a:rPr>
              <a:t>Dio (REST)</a:t>
            </a:r>
            <a:endParaRPr b="0" lang="fr-FR" sz="1000" spc="-1" strike="noStrike">
              <a:solidFill>
                <a:srgbClr val="000000"/>
              </a:solidFill>
              <a:latin typeface="Arial"/>
            </a:endParaRPr>
          </a:p>
          <a:p>
            <a:pPr algn="ctr" defTabSz="914400">
              <a:lnSpc>
                <a:spcPct val="100000"/>
              </a:lnSpc>
              <a:spcAft>
                <a:spcPts val="60"/>
              </a:spcAft>
            </a:pPr>
            <a:r>
              <a:rPr b="0" lang="fr-FR" sz="1000" spc="-1" strike="noStrike">
                <a:solidFill>
                  <a:srgbClr val="444748"/>
                </a:solidFill>
                <a:latin typeface="Calibri"/>
                <a:ea typeface="Calibri"/>
              </a:rPr>
              <a:t>ou STOMP (WS)</a:t>
            </a:r>
            <a:endParaRPr b="0" lang="fr-FR" sz="1000" spc="-1" strike="noStrike">
              <a:solidFill>
                <a:srgbClr val="000000"/>
              </a:solidFill>
              <a:latin typeface="Arial"/>
            </a:endParaRPr>
          </a:p>
        </p:txBody>
      </p:sp>
      <p:cxnSp>
        <p:nvCxnSpPr>
          <p:cNvPr id="226" name="ArrowH"/>
          <p:cNvCxnSpPr/>
          <p:nvPr/>
        </p:nvCxnSpPr>
        <p:spPr>
          <a:xfrm>
            <a:off x="2631600" y="2624760"/>
            <a:ext cx="171000" cy="1080"/>
          </a:xfrm>
          <a:prstGeom prst="straightConnector1">
            <a:avLst/>
          </a:prstGeom>
          <a:ln w="28575">
            <a:solidFill>
              <a:srgbClr val="1565c0"/>
            </a:solidFill>
            <a:round/>
            <a:tailEnd len="med" type="triangle" w="med"/>
          </a:ln>
        </p:spPr>
      </p:cxnSp>
      <p:sp>
        <p:nvSpPr>
          <p:cNvPr id="227" name="Rect"/>
          <p:cNvSpPr/>
          <p:nvPr/>
        </p:nvSpPr>
        <p:spPr>
          <a:xfrm>
            <a:off x="2801520" y="1649880"/>
            <a:ext cx="2081880" cy="1949040"/>
          </a:xfrm>
          <a:prstGeom prst="roundRect">
            <a:avLst>
              <a:gd name="adj" fmla="val 6000"/>
            </a:avLst>
          </a:prstGeom>
          <a:solidFill>
            <a:srgbClr val="e3f2fd"/>
          </a:solidFill>
          <a:ln w="9525">
            <a:solidFill>
              <a:srgbClr val="d4d4d4"/>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28" name="Circle"/>
          <p:cNvSpPr/>
          <p:nvPr/>
        </p:nvSpPr>
        <p:spPr>
          <a:xfrm>
            <a:off x="3583080" y="1730160"/>
            <a:ext cx="518760" cy="518760"/>
          </a:xfrm>
          <a:prstGeom prst="ellipse">
            <a:avLst/>
          </a:prstGeom>
          <a:solidFill>
            <a:srgbClr val="1565c0"/>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29" name="Txt"/>
          <p:cNvSpPr/>
          <p:nvPr/>
        </p:nvSpPr>
        <p:spPr>
          <a:xfrm>
            <a:off x="3583080" y="1730160"/>
            <a:ext cx="518760" cy="518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300" spc="-1" strike="noStrike">
                <a:solidFill>
                  <a:srgbClr val="ffffff"/>
                </a:solidFill>
                <a:latin typeface="Calibri"/>
                <a:ea typeface="Calibri"/>
              </a:rPr>
              <a:t>2</a:t>
            </a:r>
            <a:endParaRPr b="0" lang="fr-FR" sz="1300" spc="-1" strike="noStrike">
              <a:solidFill>
                <a:srgbClr val="000000"/>
              </a:solidFill>
              <a:latin typeface="Arial"/>
            </a:endParaRPr>
          </a:p>
        </p:txBody>
      </p:sp>
      <p:sp>
        <p:nvSpPr>
          <p:cNvPr id="230" name="Txt"/>
          <p:cNvSpPr/>
          <p:nvPr/>
        </p:nvSpPr>
        <p:spPr>
          <a:xfrm>
            <a:off x="2891520" y="2350080"/>
            <a:ext cx="1901880" cy="11689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spcAft>
                <a:spcPts val="159"/>
              </a:spcAft>
            </a:pPr>
            <a:r>
              <a:rPr b="1" lang="fr-FR" sz="1300" spc="-1" strike="noStrike">
                <a:solidFill>
                  <a:srgbClr val="1a237e"/>
                </a:solidFill>
                <a:latin typeface="Calibri"/>
                <a:ea typeface="Calibri"/>
              </a:rPr>
              <a:t>Sécurité</a:t>
            </a:r>
            <a:endParaRPr b="0" lang="fr-FR" sz="1300" spc="-1" strike="noStrike">
              <a:solidFill>
                <a:srgbClr val="000000"/>
              </a:solidFill>
              <a:latin typeface="Arial"/>
            </a:endParaRPr>
          </a:p>
          <a:p>
            <a:pPr algn="ctr" defTabSz="914400">
              <a:lnSpc>
                <a:spcPct val="100000"/>
              </a:lnSpc>
              <a:spcAft>
                <a:spcPts val="60"/>
              </a:spcAft>
            </a:pPr>
            <a:r>
              <a:rPr b="0" lang="fr-FR" sz="1000" spc="-1" strike="noStrike">
                <a:solidFill>
                  <a:srgbClr val="444748"/>
                </a:solidFill>
                <a:latin typeface="Calibri"/>
                <a:ea typeface="Calibri"/>
              </a:rPr>
              <a:t>JwtAuthFilter</a:t>
            </a:r>
            <a:endParaRPr b="0" lang="fr-FR" sz="1000" spc="-1" strike="noStrike">
              <a:solidFill>
                <a:srgbClr val="000000"/>
              </a:solidFill>
              <a:latin typeface="Arial"/>
            </a:endParaRPr>
          </a:p>
          <a:p>
            <a:pPr algn="ctr" defTabSz="914400">
              <a:lnSpc>
                <a:spcPct val="100000"/>
              </a:lnSpc>
              <a:spcAft>
                <a:spcPts val="60"/>
              </a:spcAft>
            </a:pPr>
            <a:r>
              <a:rPr b="0" lang="fr-FR" sz="1000" spc="-1" strike="noStrike">
                <a:solidFill>
                  <a:srgbClr val="444748"/>
                </a:solidFill>
                <a:latin typeface="Calibri"/>
                <a:ea typeface="Calibri"/>
              </a:rPr>
              <a:t>JwtChannelInterceptor</a:t>
            </a:r>
            <a:endParaRPr b="0" lang="fr-FR" sz="1000" spc="-1" strike="noStrike">
              <a:solidFill>
                <a:srgbClr val="000000"/>
              </a:solidFill>
              <a:latin typeface="Arial"/>
            </a:endParaRPr>
          </a:p>
        </p:txBody>
      </p:sp>
      <p:cxnSp>
        <p:nvCxnSpPr>
          <p:cNvPr id="231" name="ArrowH"/>
          <p:cNvCxnSpPr/>
          <p:nvPr/>
        </p:nvCxnSpPr>
        <p:spPr>
          <a:xfrm>
            <a:off x="4884480" y="2624760"/>
            <a:ext cx="171000" cy="1080"/>
          </a:xfrm>
          <a:prstGeom prst="straightConnector1">
            <a:avLst/>
          </a:prstGeom>
          <a:ln w="28575">
            <a:solidFill>
              <a:srgbClr val="1565c0"/>
            </a:solidFill>
            <a:round/>
            <a:tailEnd len="med" type="triangle" w="med"/>
          </a:ln>
        </p:spPr>
      </p:cxnSp>
      <p:sp>
        <p:nvSpPr>
          <p:cNvPr id="232" name="Rect"/>
          <p:cNvSpPr/>
          <p:nvPr/>
        </p:nvSpPr>
        <p:spPr>
          <a:xfrm>
            <a:off x="5054760" y="1649880"/>
            <a:ext cx="2081880" cy="1949040"/>
          </a:xfrm>
          <a:prstGeom prst="roundRect">
            <a:avLst>
              <a:gd name="adj" fmla="val 6000"/>
            </a:avLst>
          </a:prstGeom>
          <a:solidFill>
            <a:srgbClr val="e3f2fd"/>
          </a:solidFill>
          <a:ln w="9525">
            <a:solidFill>
              <a:srgbClr val="d4d4d4"/>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33" name="Circle"/>
          <p:cNvSpPr/>
          <p:nvPr/>
        </p:nvSpPr>
        <p:spPr>
          <a:xfrm>
            <a:off x="5836320" y="1730160"/>
            <a:ext cx="518760" cy="518760"/>
          </a:xfrm>
          <a:prstGeom prst="ellipse">
            <a:avLst/>
          </a:prstGeom>
          <a:solidFill>
            <a:srgbClr val="1565c0"/>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34" name="Txt"/>
          <p:cNvSpPr/>
          <p:nvPr/>
        </p:nvSpPr>
        <p:spPr>
          <a:xfrm>
            <a:off x="5836320" y="1730160"/>
            <a:ext cx="518760" cy="518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300" spc="-1" strike="noStrike">
                <a:solidFill>
                  <a:srgbClr val="ffffff"/>
                </a:solidFill>
                <a:latin typeface="Calibri"/>
                <a:ea typeface="Calibri"/>
              </a:rPr>
              <a:t>3</a:t>
            </a:r>
            <a:endParaRPr b="0" lang="fr-FR" sz="1300" spc="-1" strike="noStrike">
              <a:solidFill>
                <a:srgbClr val="000000"/>
              </a:solidFill>
              <a:latin typeface="Arial"/>
            </a:endParaRPr>
          </a:p>
        </p:txBody>
      </p:sp>
      <p:sp>
        <p:nvSpPr>
          <p:cNvPr id="235" name="Txt"/>
          <p:cNvSpPr/>
          <p:nvPr/>
        </p:nvSpPr>
        <p:spPr>
          <a:xfrm>
            <a:off x="5144760" y="2350080"/>
            <a:ext cx="1901880" cy="11689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spcAft>
                <a:spcPts val="159"/>
              </a:spcAft>
            </a:pPr>
            <a:r>
              <a:rPr b="1" lang="fr-FR" sz="1300" spc="-1" strike="noStrike">
                <a:solidFill>
                  <a:srgbClr val="1a237e"/>
                </a:solidFill>
                <a:latin typeface="Calibri"/>
                <a:ea typeface="Calibri"/>
              </a:rPr>
              <a:t>Controller</a:t>
            </a:r>
            <a:endParaRPr b="0" lang="fr-FR" sz="1300" spc="-1" strike="noStrike">
              <a:solidFill>
                <a:srgbClr val="000000"/>
              </a:solidFill>
              <a:latin typeface="Arial"/>
            </a:endParaRPr>
          </a:p>
          <a:p>
            <a:pPr algn="ctr" defTabSz="914400">
              <a:lnSpc>
                <a:spcPct val="100000"/>
              </a:lnSpc>
              <a:spcAft>
                <a:spcPts val="60"/>
              </a:spcAft>
            </a:pPr>
            <a:r>
              <a:rPr b="0" lang="fr-FR" sz="1000" spc="-1" strike="noStrike">
                <a:solidFill>
                  <a:srgbClr val="444748"/>
                </a:solidFill>
                <a:latin typeface="Calibri"/>
                <a:ea typeface="Calibri"/>
              </a:rPr>
              <a:t>@RestController</a:t>
            </a:r>
            <a:endParaRPr b="0" lang="fr-FR" sz="1000" spc="-1" strike="noStrike">
              <a:solidFill>
                <a:srgbClr val="000000"/>
              </a:solidFill>
              <a:latin typeface="Arial"/>
            </a:endParaRPr>
          </a:p>
          <a:p>
            <a:pPr algn="ctr" defTabSz="914400">
              <a:lnSpc>
                <a:spcPct val="100000"/>
              </a:lnSpc>
              <a:spcAft>
                <a:spcPts val="60"/>
              </a:spcAft>
            </a:pPr>
            <a:r>
              <a:rPr b="0" lang="fr-FR" sz="1000" spc="-1" strike="noStrike">
                <a:solidFill>
                  <a:srgbClr val="444748"/>
                </a:solidFill>
                <a:latin typeface="Calibri"/>
                <a:ea typeface="Calibri"/>
              </a:rPr>
              <a:t>@Controller (WS)</a:t>
            </a:r>
            <a:endParaRPr b="0" lang="fr-FR" sz="1000" spc="-1" strike="noStrike">
              <a:solidFill>
                <a:srgbClr val="000000"/>
              </a:solidFill>
              <a:latin typeface="Arial"/>
            </a:endParaRPr>
          </a:p>
        </p:txBody>
      </p:sp>
      <p:cxnSp>
        <p:nvCxnSpPr>
          <p:cNvPr id="236" name="ArrowH"/>
          <p:cNvCxnSpPr/>
          <p:nvPr/>
        </p:nvCxnSpPr>
        <p:spPr>
          <a:xfrm>
            <a:off x="7137720" y="2624760"/>
            <a:ext cx="171000" cy="1080"/>
          </a:xfrm>
          <a:prstGeom prst="straightConnector1">
            <a:avLst/>
          </a:prstGeom>
          <a:ln w="28575">
            <a:solidFill>
              <a:srgbClr val="1565c0"/>
            </a:solidFill>
            <a:round/>
            <a:tailEnd len="med" type="triangle" w="med"/>
          </a:ln>
        </p:spPr>
      </p:cxnSp>
      <p:sp>
        <p:nvSpPr>
          <p:cNvPr id="237" name="Rect"/>
          <p:cNvSpPr/>
          <p:nvPr/>
        </p:nvSpPr>
        <p:spPr>
          <a:xfrm>
            <a:off x="7307640" y="1649880"/>
            <a:ext cx="2081880" cy="1949040"/>
          </a:xfrm>
          <a:prstGeom prst="roundRect">
            <a:avLst>
              <a:gd name="adj" fmla="val 6000"/>
            </a:avLst>
          </a:prstGeom>
          <a:solidFill>
            <a:srgbClr val="e3f2fd"/>
          </a:solidFill>
          <a:ln w="9525">
            <a:solidFill>
              <a:srgbClr val="d4d4d4"/>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38" name="Circle"/>
          <p:cNvSpPr/>
          <p:nvPr/>
        </p:nvSpPr>
        <p:spPr>
          <a:xfrm>
            <a:off x="8089200" y="1730160"/>
            <a:ext cx="518760" cy="518760"/>
          </a:xfrm>
          <a:prstGeom prst="ellipse">
            <a:avLst/>
          </a:prstGeom>
          <a:solidFill>
            <a:srgbClr val="1565c0"/>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39" name="Txt"/>
          <p:cNvSpPr/>
          <p:nvPr/>
        </p:nvSpPr>
        <p:spPr>
          <a:xfrm>
            <a:off x="8089200" y="1730160"/>
            <a:ext cx="518760" cy="518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300" spc="-1" strike="noStrike">
                <a:solidFill>
                  <a:srgbClr val="ffffff"/>
                </a:solidFill>
                <a:latin typeface="Calibri"/>
                <a:ea typeface="Calibri"/>
              </a:rPr>
              <a:t>4</a:t>
            </a:r>
            <a:endParaRPr b="0" lang="fr-FR" sz="1300" spc="-1" strike="noStrike">
              <a:solidFill>
                <a:srgbClr val="000000"/>
              </a:solidFill>
              <a:latin typeface="Arial"/>
            </a:endParaRPr>
          </a:p>
        </p:txBody>
      </p:sp>
      <p:sp>
        <p:nvSpPr>
          <p:cNvPr id="240" name="Txt"/>
          <p:cNvSpPr/>
          <p:nvPr/>
        </p:nvSpPr>
        <p:spPr>
          <a:xfrm>
            <a:off x="7397640" y="2350080"/>
            <a:ext cx="1901880" cy="11689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spcAft>
                <a:spcPts val="159"/>
              </a:spcAft>
            </a:pPr>
            <a:r>
              <a:rPr b="1" lang="fr-FR" sz="1300" spc="-1" strike="noStrike">
                <a:solidFill>
                  <a:srgbClr val="1a237e"/>
                </a:solidFill>
                <a:latin typeface="Calibri"/>
                <a:ea typeface="Calibri"/>
              </a:rPr>
              <a:t>Service</a:t>
            </a:r>
            <a:endParaRPr b="0" lang="fr-FR" sz="1300" spc="-1" strike="noStrike">
              <a:solidFill>
                <a:srgbClr val="000000"/>
              </a:solidFill>
              <a:latin typeface="Arial"/>
            </a:endParaRPr>
          </a:p>
          <a:p>
            <a:pPr algn="ctr" defTabSz="914400">
              <a:lnSpc>
                <a:spcPct val="100000"/>
              </a:lnSpc>
              <a:spcAft>
                <a:spcPts val="60"/>
              </a:spcAft>
            </a:pPr>
            <a:r>
              <a:rPr b="0" lang="fr-FR" sz="1000" spc="-1" strike="noStrike">
                <a:solidFill>
                  <a:srgbClr val="444748"/>
                </a:solidFill>
                <a:latin typeface="Calibri"/>
                <a:ea typeface="Calibri"/>
              </a:rPr>
              <a:t>Logique métier</a:t>
            </a:r>
            <a:endParaRPr b="0" lang="fr-FR" sz="1000" spc="-1" strike="noStrike">
              <a:solidFill>
                <a:srgbClr val="000000"/>
              </a:solidFill>
              <a:latin typeface="Arial"/>
            </a:endParaRPr>
          </a:p>
          <a:p>
            <a:pPr algn="ctr" defTabSz="914400">
              <a:lnSpc>
                <a:spcPct val="100000"/>
              </a:lnSpc>
              <a:spcAft>
                <a:spcPts val="60"/>
              </a:spcAft>
            </a:pPr>
            <a:r>
              <a:rPr b="0" lang="fr-FR" sz="1000" spc="-1" strike="noStrike">
                <a:solidFill>
                  <a:srgbClr val="444748"/>
                </a:solidFill>
                <a:latin typeface="Calibri"/>
                <a:ea typeface="Calibri"/>
              </a:rPr>
              <a:t>(vérifications, règles)</a:t>
            </a:r>
            <a:endParaRPr b="0" lang="fr-FR" sz="1000" spc="-1" strike="noStrike">
              <a:solidFill>
                <a:srgbClr val="000000"/>
              </a:solidFill>
              <a:latin typeface="Arial"/>
            </a:endParaRPr>
          </a:p>
        </p:txBody>
      </p:sp>
      <p:cxnSp>
        <p:nvCxnSpPr>
          <p:cNvPr id="241" name="ArrowH"/>
          <p:cNvCxnSpPr/>
          <p:nvPr/>
        </p:nvCxnSpPr>
        <p:spPr>
          <a:xfrm>
            <a:off x="9390600" y="2624760"/>
            <a:ext cx="171000" cy="1080"/>
          </a:xfrm>
          <a:prstGeom prst="straightConnector1">
            <a:avLst/>
          </a:prstGeom>
          <a:ln w="28575">
            <a:solidFill>
              <a:srgbClr val="1565c0"/>
            </a:solidFill>
            <a:round/>
            <a:tailEnd len="med" type="triangle" w="med"/>
          </a:ln>
        </p:spPr>
      </p:cxnSp>
      <p:sp>
        <p:nvSpPr>
          <p:cNvPr id="242" name="Rect"/>
          <p:cNvSpPr/>
          <p:nvPr/>
        </p:nvSpPr>
        <p:spPr>
          <a:xfrm>
            <a:off x="9560880" y="1649880"/>
            <a:ext cx="2081880" cy="1949040"/>
          </a:xfrm>
          <a:prstGeom prst="roundRect">
            <a:avLst>
              <a:gd name="adj" fmla="val 6000"/>
            </a:avLst>
          </a:prstGeom>
          <a:solidFill>
            <a:srgbClr val="1a237e"/>
          </a:solidFill>
          <a:ln w="0">
            <a:noFill/>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43" name="Circle"/>
          <p:cNvSpPr/>
          <p:nvPr/>
        </p:nvSpPr>
        <p:spPr>
          <a:xfrm>
            <a:off x="10342440" y="1730160"/>
            <a:ext cx="518760" cy="518760"/>
          </a:xfrm>
          <a:prstGeom prst="ellipse">
            <a:avLst/>
          </a:prstGeom>
          <a:solidFill>
            <a:srgbClr val="ffffff"/>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44" name="Txt"/>
          <p:cNvSpPr/>
          <p:nvPr/>
        </p:nvSpPr>
        <p:spPr>
          <a:xfrm>
            <a:off x="10342440" y="1730160"/>
            <a:ext cx="518760" cy="518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300" spc="-1" strike="noStrike">
                <a:solidFill>
                  <a:srgbClr val="1a237e"/>
                </a:solidFill>
                <a:latin typeface="Calibri"/>
                <a:ea typeface="Calibri"/>
              </a:rPr>
              <a:t>5</a:t>
            </a:r>
            <a:endParaRPr b="0" lang="fr-FR" sz="1300" spc="-1" strike="noStrike">
              <a:solidFill>
                <a:srgbClr val="000000"/>
              </a:solidFill>
              <a:latin typeface="Arial"/>
            </a:endParaRPr>
          </a:p>
        </p:txBody>
      </p:sp>
      <p:sp>
        <p:nvSpPr>
          <p:cNvPr id="245" name="Txt"/>
          <p:cNvSpPr/>
          <p:nvPr/>
        </p:nvSpPr>
        <p:spPr>
          <a:xfrm>
            <a:off x="9650880" y="2350080"/>
            <a:ext cx="1901880" cy="11689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spcAft>
                <a:spcPts val="159"/>
              </a:spcAft>
            </a:pPr>
            <a:r>
              <a:rPr b="1" lang="fr-FR" sz="1300" spc="-1" strike="noStrike">
                <a:solidFill>
                  <a:srgbClr val="ffffff"/>
                </a:solidFill>
                <a:latin typeface="Calibri"/>
                <a:ea typeface="Calibri"/>
              </a:rPr>
              <a:t>Repository → DB</a:t>
            </a:r>
            <a:endParaRPr b="0" lang="fr-FR" sz="1300" spc="-1" strike="noStrike">
              <a:solidFill>
                <a:srgbClr val="000000"/>
              </a:solidFill>
              <a:latin typeface="Arial"/>
            </a:endParaRPr>
          </a:p>
          <a:p>
            <a:pPr algn="ctr" defTabSz="914400">
              <a:lnSpc>
                <a:spcPct val="100000"/>
              </a:lnSpc>
              <a:spcAft>
                <a:spcPts val="60"/>
              </a:spcAft>
            </a:pPr>
            <a:r>
              <a:rPr b="0" lang="fr-FR" sz="1000" spc="-1" strike="noStrike">
                <a:solidFill>
                  <a:srgbClr val="cad4f5"/>
                </a:solidFill>
                <a:latin typeface="Calibri"/>
                <a:ea typeface="Calibri"/>
              </a:rPr>
              <a:t>Spring Data JPA</a:t>
            </a:r>
            <a:endParaRPr b="0" lang="fr-FR" sz="1000" spc="-1" strike="noStrike">
              <a:solidFill>
                <a:srgbClr val="000000"/>
              </a:solidFill>
              <a:latin typeface="Arial"/>
            </a:endParaRPr>
          </a:p>
          <a:p>
            <a:pPr algn="ctr" defTabSz="914400">
              <a:lnSpc>
                <a:spcPct val="100000"/>
              </a:lnSpc>
              <a:spcAft>
                <a:spcPts val="60"/>
              </a:spcAft>
            </a:pPr>
            <a:r>
              <a:rPr b="0" lang="fr-FR" sz="1000" spc="-1" strike="noStrike">
                <a:solidFill>
                  <a:srgbClr val="cad4f5"/>
                </a:solidFill>
                <a:latin typeface="Calibri"/>
                <a:ea typeface="Calibri"/>
              </a:rPr>
              <a:t>PostgreSQL (Supabase)</a:t>
            </a:r>
            <a:endParaRPr b="0" lang="fr-FR" sz="1000" spc="-1" strike="noStrike">
              <a:solidFill>
                <a:srgbClr val="000000"/>
              </a:solidFill>
              <a:latin typeface="Arial"/>
            </a:endParaRPr>
          </a:p>
        </p:txBody>
      </p:sp>
      <p:sp>
        <p:nvSpPr>
          <p:cNvPr id="246" name="Rect"/>
          <p:cNvSpPr/>
          <p:nvPr/>
        </p:nvSpPr>
        <p:spPr>
          <a:xfrm>
            <a:off x="548640" y="4020120"/>
            <a:ext cx="5436360" cy="1148760"/>
          </a:xfrm>
          <a:prstGeom prst="roundRect">
            <a:avLst>
              <a:gd name="adj" fmla="val 6000"/>
            </a:avLst>
          </a:prstGeom>
          <a:solidFill>
            <a:srgbClr val="ffffff"/>
          </a:solidFill>
          <a:ln w="9525">
            <a:solidFill>
              <a:srgbClr val="d4d4d4"/>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47" name="Txt"/>
          <p:cNvSpPr/>
          <p:nvPr/>
        </p:nvSpPr>
        <p:spPr>
          <a:xfrm>
            <a:off x="668520" y="4140000"/>
            <a:ext cx="5196600" cy="90900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201"/>
              </a:spcAft>
            </a:pPr>
            <a:r>
              <a:rPr b="1" lang="fr-FR" sz="1300" spc="-1" strike="noStrike">
                <a:solidFill>
                  <a:srgbClr val="1a237e"/>
                </a:solidFill>
                <a:latin typeface="Calibri"/>
                <a:ea typeface="Calibri"/>
              </a:rPr>
              <a:t>DTO — objets d'échange</a:t>
            </a:r>
            <a:endParaRPr b="0" lang="fr-FR" sz="1300" spc="-1" strike="noStrike">
              <a:solidFill>
                <a:srgbClr val="000000"/>
              </a:solidFill>
              <a:latin typeface="Arial"/>
            </a:endParaRPr>
          </a:p>
          <a:p>
            <a:pPr defTabSz="914400">
              <a:lnSpc>
                <a:spcPct val="100000"/>
              </a:lnSpc>
              <a:spcAft>
                <a:spcPts val="99"/>
              </a:spcAft>
            </a:pPr>
            <a:r>
              <a:rPr b="0" lang="fr-FR" sz="1000" spc="-1" strike="noStrike">
                <a:solidFill>
                  <a:srgbClr val="444748"/>
                </a:solidFill>
                <a:latin typeface="Calibri"/>
                <a:ea typeface="Calibri"/>
              </a:rPr>
              <a:t>AuthResponseDto, MessageResponseDto, ConversationResponseDto...</a:t>
            </a:r>
            <a:endParaRPr b="0" lang="fr-FR" sz="1000" spc="-1" strike="noStrike">
              <a:solidFill>
                <a:srgbClr val="000000"/>
              </a:solidFill>
              <a:latin typeface="Arial"/>
            </a:endParaRPr>
          </a:p>
          <a:p>
            <a:pPr defTabSz="914400">
              <a:lnSpc>
                <a:spcPct val="100000"/>
              </a:lnSpc>
              <a:spcAft>
                <a:spcPts val="99"/>
              </a:spcAft>
            </a:pPr>
            <a:r>
              <a:rPr b="0" lang="fr-FR" sz="1000" spc="-1" strike="noStrike">
                <a:solidFill>
                  <a:srgbClr val="444748"/>
                </a:solidFill>
                <a:latin typeface="Calibri"/>
                <a:ea typeface="Calibri"/>
              </a:rPr>
              <a:t>Le controller et le service n'exposent jamais directement les entités JPA au frontend.</a:t>
            </a:r>
            <a:endParaRPr b="0" lang="fr-FR" sz="1000" spc="-1" strike="noStrike">
              <a:solidFill>
                <a:srgbClr val="000000"/>
              </a:solidFill>
              <a:latin typeface="Arial"/>
            </a:endParaRPr>
          </a:p>
        </p:txBody>
      </p:sp>
      <p:sp>
        <p:nvSpPr>
          <p:cNvPr id="248" name="Rect"/>
          <p:cNvSpPr/>
          <p:nvPr/>
        </p:nvSpPr>
        <p:spPr>
          <a:xfrm>
            <a:off x="6206400" y="4020120"/>
            <a:ext cx="5436360" cy="1148760"/>
          </a:xfrm>
          <a:prstGeom prst="roundRect">
            <a:avLst>
              <a:gd name="adj" fmla="val 6000"/>
            </a:avLst>
          </a:prstGeom>
          <a:solidFill>
            <a:srgbClr val="ffffff"/>
          </a:solidFill>
          <a:ln w="9525">
            <a:solidFill>
              <a:srgbClr val="d4d4d4"/>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49" name="Txt"/>
          <p:cNvSpPr/>
          <p:nvPr/>
        </p:nvSpPr>
        <p:spPr>
          <a:xfrm>
            <a:off x="6326280" y="4140000"/>
            <a:ext cx="5196600" cy="90900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201"/>
              </a:spcAft>
            </a:pPr>
            <a:r>
              <a:rPr b="1" lang="fr-FR" sz="1300" spc="-1" strike="noStrike">
                <a:solidFill>
                  <a:srgbClr val="1a237e"/>
                </a:solidFill>
                <a:latin typeface="Calibri"/>
                <a:ea typeface="Calibri"/>
              </a:rPr>
              <a:t>config / exception — transversal</a:t>
            </a:r>
            <a:endParaRPr b="0" lang="fr-FR" sz="1300" spc="-1" strike="noStrike">
              <a:solidFill>
                <a:srgbClr val="000000"/>
              </a:solidFill>
              <a:latin typeface="Arial"/>
            </a:endParaRPr>
          </a:p>
          <a:p>
            <a:pPr defTabSz="914400">
              <a:lnSpc>
                <a:spcPct val="100000"/>
              </a:lnSpc>
              <a:spcAft>
                <a:spcPts val="99"/>
              </a:spcAft>
            </a:pPr>
            <a:r>
              <a:rPr b="0" lang="fr-FR" sz="1000" spc="-1" strike="noStrike">
                <a:solidFill>
                  <a:srgbClr val="444748"/>
                </a:solidFill>
                <a:latin typeface="Calibri"/>
                <a:ea typeface="Calibri"/>
              </a:rPr>
              <a:t>WebSocketConfig, SecurityConfig, CorsConfig, GlobalExceptionHandler.</a:t>
            </a:r>
            <a:endParaRPr b="0" lang="fr-FR" sz="1000" spc="-1" strike="noStrike">
              <a:solidFill>
                <a:srgbClr val="000000"/>
              </a:solidFill>
              <a:latin typeface="Arial"/>
            </a:endParaRPr>
          </a:p>
          <a:p>
            <a:pPr defTabSz="914400">
              <a:lnSpc>
                <a:spcPct val="100000"/>
              </a:lnSpc>
              <a:spcAft>
                <a:spcPts val="99"/>
              </a:spcAft>
            </a:pPr>
            <a:r>
              <a:rPr b="0" lang="fr-FR" sz="1000" spc="-1" strike="noStrike">
                <a:solidFill>
                  <a:srgbClr val="444748"/>
                </a:solidFill>
                <a:latin typeface="Calibri"/>
                <a:ea typeface="Calibri"/>
              </a:rPr>
              <a:t>Configuration générale et gestion centralisée des erreurs de l'API.</a:t>
            </a:r>
            <a:endParaRPr b="0" lang="fr-FR"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0" name="Text 0"/>
          <p:cNvSpPr/>
          <p:nvPr/>
        </p:nvSpPr>
        <p:spPr>
          <a:xfrm>
            <a:off x="548640" y="384120"/>
            <a:ext cx="931356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fr-FR" sz="1200" spc="86" strike="noStrike">
                <a:solidFill>
                  <a:srgbClr val="1a237e"/>
                </a:solidFill>
                <a:latin typeface="Calibri"/>
                <a:ea typeface="Calibri"/>
              </a:rPr>
              <a:t>FONCTIONNEMENT EN TEMPS RÉEL — DÉTAIL</a:t>
            </a:r>
            <a:endParaRPr b="0" lang="fr-FR" sz="1200" spc="-1" strike="noStrike">
              <a:solidFill>
                <a:srgbClr val="000000"/>
              </a:solidFill>
              <a:latin typeface="Arial"/>
            </a:endParaRPr>
          </a:p>
        </p:txBody>
      </p:sp>
      <p:sp>
        <p:nvSpPr>
          <p:cNvPr id="251" name="Text 1"/>
          <p:cNvSpPr/>
          <p:nvPr/>
        </p:nvSpPr>
        <p:spPr>
          <a:xfrm>
            <a:off x="548640" y="658440"/>
            <a:ext cx="11094120" cy="618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2400" spc="-1" strike="noStrike">
                <a:solidFill>
                  <a:srgbClr val="000000"/>
                </a:solidFill>
                <a:latin typeface="Cambria"/>
                <a:ea typeface="Cambria"/>
              </a:rPr>
              <a:t>Fonctionnement</a:t>
            </a:r>
            <a:r>
              <a:rPr b="1" lang="fr-FR" sz="2400" spc="-1" strike="noStrike">
                <a:solidFill>
                  <a:srgbClr val="000000"/>
                </a:solidFill>
                <a:latin typeface="Cambria"/>
                <a:ea typeface="Cambria"/>
              </a:rPr>
              <a:t> complète d'envoi d'un message</a:t>
            </a:r>
            <a:endParaRPr b="0" lang="fr-FR" sz="2400" spc="-1" strike="noStrike">
              <a:solidFill>
                <a:srgbClr val="000000"/>
              </a:solidFill>
              <a:latin typeface="Arial"/>
            </a:endParaRPr>
          </a:p>
        </p:txBody>
      </p:sp>
      <p:sp>
        <p:nvSpPr>
          <p:cNvPr id="252" name="PageNum"/>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pPr>
            <a:r>
              <a:rPr b="0" lang="fr-FR" sz="1000" spc="-1" strike="noStrike">
                <a:solidFill>
                  <a:srgbClr val="747878"/>
                </a:solidFill>
                <a:latin typeface="Calibri"/>
                <a:ea typeface="Calibri"/>
              </a:rPr>
              <a:t>9A</a:t>
            </a:r>
            <a:endParaRPr b="0" lang="fr-FR" sz="1000" spc="-1" strike="noStrike">
              <a:solidFill>
                <a:srgbClr val="000000"/>
              </a:solidFill>
              <a:latin typeface="Arial"/>
            </a:endParaRPr>
          </a:p>
        </p:txBody>
      </p:sp>
      <p:sp>
        <p:nvSpPr>
          <p:cNvPr id="253" name="Rect"/>
          <p:cNvSpPr/>
          <p:nvPr/>
        </p:nvSpPr>
        <p:spPr>
          <a:xfrm>
            <a:off x="548640" y="1479960"/>
            <a:ext cx="2660400" cy="1499040"/>
          </a:xfrm>
          <a:prstGeom prst="roundRect">
            <a:avLst>
              <a:gd name="adj" fmla="val 6000"/>
            </a:avLst>
          </a:prstGeom>
          <a:solidFill>
            <a:srgbClr val="e3f2fd"/>
          </a:solidFill>
          <a:ln w="9525">
            <a:solidFill>
              <a:srgbClr val="1a237e"/>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54" name="Circle"/>
          <p:cNvSpPr/>
          <p:nvPr/>
        </p:nvSpPr>
        <p:spPr>
          <a:xfrm>
            <a:off x="618480" y="1550160"/>
            <a:ext cx="438840" cy="438840"/>
          </a:xfrm>
          <a:prstGeom prst="ellipse">
            <a:avLst/>
          </a:prstGeom>
          <a:solidFill>
            <a:srgbClr val="1a237e"/>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55" name="Txt"/>
          <p:cNvSpPr/>
          <p:nvPr/>
        </p:nvSpPr>
        <p:spPr>
          <a:xfrm>
            <a:off x="618480" y="1550160"/>
            <a:ext cx="438840" cy="438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100" spc="-1" strike="noStrike">
                <a:solidFill>
                  <a:srgbClr val="ffffff"/>
                </a:solidFill>
                <a:latin typeface="Calibri"/>
                <a:ea typeface="Calibri"/>
              </a:rPr>
              <a:t>1</a:t>
            </a:r>
            <a:endParaRPr b="0" lang="fr-FR" sz="1100" spc="-1" strike="noStrike">
              <a:solidFill>
                <a:srgbClr val="000000"/>
              </a:solidFill>
              <a:latin typeface="Arial"/>
            </a:endParaRPr>
          </a:p>
        </p:txBody>
      </p:sp>
      <p:sp>
        <p:nvSpPr>
          <p:cNvPr id="256" name="Txt"/>
          <p:cNvSpPr/>
          <p:nvPr/>
        </p:nvSpPr>
        <p:spPr>
          <a:xfrm>
            <a:off x="638640" y="2040120"/>
            <a:ext cx="2480400" cy="87876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139"/>
              </a:spcAft>
            </a:pPr>
            <a:r>
              <a:rPr b="1" lang="fr-FR" sz="1400" spc="-1" strike="noStrike">
                <a:solidFill>
                  <a:srgbClr val="1a237e"/>
                </a:solidFill>
                <a:latin typeface="Calibri"/>
                <a:ea typeface="Calibri"/>
              </a:rPr>
              <a:t>chat_screen.dart</a:t>
            </a:r>
            <a:endParaRPr b="0" lang="fr-FR" sz="1400" spc="-1" strike="noStrike">
              <a:solidFill>
                <a:srgbClr val="000000"/>
              </a:solidFill>
              <a:latin typeface="Arial"/>
            </a:endParaRPr>
          </a:p>
          <a:p>
            <a:pPr defTabSz="914400">
              <a:lnSpc>
                <a:spcPct val="100000"/>
              </a:lnSpc>
            </a:pPr>
            <a:r>
              <a:rPr b="0" lang="en-US" sz="1200" spc="-1" strike="noStrike">
                <a:solidFill>
                  <a:srgbClr val="000000"/>
                </a:solidFill>
                <a:latin typeface="Calibri"/>
                <a:ea typeface="Calibri"/>
              </a:rPr>
              <a:t>L'utilisateur écrit un message dans l'application</a:t>
            </a:r>
            <a:r>
              <a:rPr b="0" lang="fr-FR" sz="1200" spc="-1" strike="noStrike">
                <a:solidFill>
                  <a:srgbClr val="444748"/>
                </a:solidFill>
                <a:latin typeface="Calibri"/>
                <a:ea typeface="Calibri"/>
              </a:rPr>
              <a:t> </a:t>
            </a:r>
            <a:r>
              <a:rPr b="1" lang="fr-FR" sz="1200" spc="-1" strike="noStrike">
                <a:solidFill>
                  <a:srgbClr val="444748"/>
                </a:solidFill>
                <a:latin typeface="Calibri"/>
                <a:ea typeface="Calibri"/>
              </a:rPr>
              <a:t>et appuie sur envoyer.</a:t>
            </a:r>
            <a:endParaRPr b="0" lang="fr-FR" sz="1200" spc="-1" strike="noStrike">
              <a:solidFill>
                <a:srgbClr val="000000"/>
              </a:solidFill>
              <a:latin typeface="Arial"/>
            </a:endParaRPr>
          </a:p>
        </p:txBody>
      </p:sp>
      <p:cxnSp>
        <p:nvCxnSpPr>
          <p:cNvPr id="257" name="ArrowH"/>
          <p:cNvCxnSpPr/>
          <p:nvPr/>
        </p:nvCxnSpPr>
        <p:spPr>
          <a:xfrm>
            <a:off x="3209760" y="2229840"/>
            <a:ext cx="151200" cy="1080"/>
          </a:xfrm>
          <a:prstGeom prst="straightConnector1">
            <a:avLst/>
          </a:prstGeom>
          <a:ln w="28575">
            <a:solidFill>
              <a:srgbClr val="1565c0"/>
            </a:solidFill>
            <a:round/>
            <a:tailEnd len="med" type="triangle" w="med"/>
          </a:ln>
        </p:spPr>
      </p:cxnSp>
      <p:sp>
        <p:nvSpPr>
          <p:cNvPr id="258" name="Rect"/>
          <p:cNvSpPr/>
          <p:nvPr/>
        </p:nvSpPr>
        <p:spPr>
          <a:xfrm>
            <a:off x="3359880" y="1479960"/>
            <a:ext cx="2660400" cy="1499040"/>
          </a:xfrm>
          <a:prstGeom prst="roundRect">
            <a:avLst>
              <a:gd name="adj" fmla="val 6000"/>
            </a:avLst>
          </a:prstGeom>
          <a:solidFill>
            <a:srgbClr val="e3f2fd"/>
          </a:solidFill>
          <a:ln w="9525">
            <a:solidFill>
              <a:srgbClr val="1a237e"/>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59" name="Circle"/>
          <p:cNvSpPr/>
          <p:nvPr/>
        </p:nvSpPr>
        <p:spPr>
          <a:xfrm>
            <a:off x="3430080" y="1550160"/>
            <a:ext cx="438840" cy="438840"/>
          </a:xfrm>
          <a:prstGeom prst="ellipse">
            <a:avLst/>
          </a:prstGeom>
          <a:solidFill>
            <a:srgbClr val="1a237e"/>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60" name="Txt"/>
          <p:cNvSpPr/>
          <p:nvPr/>
        </p:nvSpPr>
        <p:spPr>
          <a:xfrm>
            <a:off x="3430080" y="1550160"/>
            <a:ext cx="438840" cy="438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100" spc="-1" strike="noStrike">
                <a:solidFill>
                  <a:srgbClr val="ffffff"/>
                </a:solidFill>
                <a:latin typeface="Calibri"/>
                <a:ea typeface="Calibri"/>
              </a:rPr>
              <a:t>2</a:t>
            </a:r>
            <a:endParaRPr b="0" lang="fr-FR" sz="1100" spc="-1" strike="noStrike">
              <a:solidFill>
                <a:srgbClr val="000000"/>
              </a:solidFill>
              <a:latin typeface="Arial"/>
            </a:endParaRPr>
          </a:p>
        </p:txBody>
      </p:sp>
      <p:sp>
        <p:nvSpPr>
          <p:cNvPr id="261" name="Txt"/>
          <p:cNvSpPr/>
          <p:nvPr/>
        </p:nvSpPr>
        <p:spPr>
          <a:xfrm>
            <a:off x="3449880" y="2040120"/>
            <a:ext cx="2480400" cy="87876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139"/>
              </a:spcAft>
            </a:pPr>
            <a:r>
              <a:rPr b="1" lang="fr-FR" sz="1400" spc="-1" strike="noStrike">
                <a:solidFill>
                  <a:srgbClr val="1a237e"/>
                </a:solidFill>
                <a:latin typeface="Calibri"/>
                <a:ea typeface="Calibri"/>
              </a:rPr>
              <a:t>WebSocketService (STOMP)</a:t>
            </a:r>
            <a:endParaRPr b="0" lang="fr-FR" sz="1400" spc="-1" strike="noStrike">
              <a:solidFill>
                <a:srgbClr val="000000"/>
              </a:solidFill>
              <a:latin typeface="Arial"/>
            </a:endParaRPr>
          </a:p>
          <a:p>
            <a:pPr defTabSz="914400">
              <a:lnSpc>
                <a:spcPct val="100000"/>
              </a:lnSpc>
            </a:pPr>
            <a:r>
              <a:rPr b="0" lang="en-US" sz="1350" spc="-1" strike="noStrike">
                <a:solidFill>
                  <a:srgbClr val="000000"/>
                </a:solidFill>
                <a:latin typeface="Calibri"/>
                <a:ea typeface="Calibri"/>
              </a:rPr>
              <a:t>Flutter envoie le message par WebSocket / STOMP </a:t>
            </a:r>
            <a:r>
              <a:rPr b="0" lang="fr-FR" sz="900" spc="-1" strike="noStrike">
                <a:solidFill>
                  <a:srgbClr val="444748"/>
                </a:solidFill>
                <a:latin typeface="Calibri"/>
                <a:ea typeface="Calibri"/>
              </a:rPr>
              <a:t>Publie sur /app/chat.send, JWT transmis dans les en-têtes STOMP.</a:t>
            </a:r>
            <a:endParaRPr b="0" lang="fr-FR" sz="900" spc="-1" strike="noStrike">
              <a:solidFill>
                <a:srgbClr val="000000"/>
              </a:solidFill>
              <a:latin typeface="Arial"/>
            </a:endParaRPr>
          </a:p>
        </p:txBody>
      </p:sp>
      <p:cxnSp>
        <p:nvCxnSpPr>
          <p:cNvPr id="262" name="ArrowH"/>
          <p:cNvCxnSpPr/>
          <p:nvPr/>
        </p:nvCxnSpPr>
        <p:spPr>
          <a:xfrm>
            <a:off x="6021000" y="2229840"/>
            <a:ext cx="151200" cy="1080"/>
          </a:xfrm>
          <a:prstGeom prst="straightConnector1">
            <a:avLst/>
          </a:prstGeom>
          <a:ln w="28575">
            <a:solidFill>
              <a:srgbClr val="1565c0"/>
            </a:solidFill>
            <a:round/>
            <a:tailEnd len="med" type="triangle" w="med"/>
          </a:ln>
        </p:spPr>
      </p:cxnSp>
      <p:sp>
        <p:nvSpPr>
          <p:cNvPr id="263" name="Rect"/>
          <p:cNvSpPr/>
          <p:nvPr/>
        </p:nvSpPr>
        <p:spPr>
          <a:xfrm>
            <a:off x="6171120" y="1479960"/>
            <a:ext cx="2660400" cy="1499040"/>
          </a:xfrm>
          <a:prstGeom prst="roundRect">
            <a:avLst>
              <a:gd name="adj" fmla="val 6000"/>
            </a:avLst>
          </a:prstGeom>
          <a:solidFill>
            <a:srgbClr val="e3f2fd"/>
          </a:solidFill>
          <a:ln w="9525">
            <a:solidFill>
              <a:srgbClr val="1a237e"/>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64" name="Circle"/>
          <p:cNvSpPr/>
          <p:nvPr/>
        </p:nvSpPr>
        <p:spPr>
          <a:xfrm>
            <a:off x="6241320" y="1550160"/>
            <a:ext cx="438840" cy="438840"/>
          </a:xfrm>
          <a:prstGeom prst="ellipse">
            <a:avLst/>
          </a:prstGeom>
          <a:solidFill>
            <a:srgbClr val="1a237e"/>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65" name="Txt"/>
          <p:cNvSpPr/>
          <p:nvPr/>
        </p:nvSpPr>
        <p:spPr>
          <a:xfrm>
            <a:off x="6241320" y="1550160"/>
            <a:ext cx="438840" cy="438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100" spc="-1" strike="noStrike">
                <a:solidFill>
                  <a:srgbClr val="ffffff"/>
                </a:solidFill>
                <a:latin typeface="Calibri"/>
                <a:ea typeface="Calibri"/>
              </a:rPr>
              <a:t>3</a:t>
            </a:r>
            <a:endParaRPr b="0" lang="fr-FR" sz="1100" spc="-1" strike="noStrike">
              <a:solidFill>
                <a:srgbClr val="000000"/>
              </a:solidFill>
              <a:latin typeface="Arial"/>
            </a:endParaRPr>
          </a:p>
        </p:txBody>
      </p:sp>
      <p:sp>
        <p:nvSpPr>
          <p:cNvPr id="266" name="Txt"/>
          <p:cNvSpPr/>
          <p:nvPr/>
        </p:nvSpPr>
        <p:spPr>
          <a:xfrm>
            <a:off x="6261120" y="2040120"/>
            <a:ext cx="2480400" cy="87876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139"/>
              </a:spcAft>
            </a:pPr>
            <a:r>
              <a:rPr b="1" lang="fr-FR" sz="1200" spc="-1" strike="noStrike">
                <a:solidFill>
                  <a:srgbClr val="1a237e"/>
                </a:solidFill>
                <a:latin typeface="Calibri"/>
                <a:ea typeface="Calibri"/>
              </a:rPr>
              <a:t>ChatWebSocketController</a:t>
            </a:r>
            <a:endParaRPr b="0" lang="fr-FR" sz="1200" spc="-1" strike="noStrike">
              <a:solidFill>
                <a:srgbClr val="000000"/>
              </a:solidFill>
              <a:latin typeface="Arial"/>
            </a:endParaRPr>
          </a:p>
          <a:p>
            <a:pPr defTabSz="914400">
              <a:lnSpc>
                <a:spcPct val="100000"/>
              </a:lnSpc>
            </a:pPr>
            <a:r>
              <a:rPr b="0" lang="fr-FR" sz="900" spc="-1" strike="noStrike">
                <a:solidFill>
                  <a:srgbClr val="444748"/>
                </a:solidFill>
                <a:latin typeface="Calibri"/>
                <a:ea typeface="Calibri"/>
              </a:rPr>
              <a:t>@MessageMapping("/chat.send") reçoit la requête et identifie l'expéditeur</a:t>
            </a:r>
            <a:endParaRPr b="0" lang="fr-FR" sz="900" spc="-1" strike="noStrike">
              <a:solidFill>
                <a:srgbClr val="000000"/>
              </a:solidFill>
              <a:latin typeface="Arial"/>
            </a:endParaRPr>
          </a:p>
          <a:p>
            <a:pPr defTabSz="914400">
              <a:lnSpc>
                <a:spcPct val="100000"/>
              </a:lnSpc>
            </a:pPr>
            <a:r>
              <a:rPr b="0" lang="en-US" sz="1350" spc="-1" strike="noStrike">
                <a:solidFill>
                  <a:srgbClr val="000000"/>
                </a:solidFill>
                <a:latin typeface="Calibri"/>
                <a:ea typeface="Calibri"/>
              </a:rPr>
              <a:t>Spring Boot reçoit le message via le contrôleur WebSocket</a:t>
            </a:r>
            <a:r>
              <a:rPr b="0" lang="fr-FR" sz="900" spc="-1" strike="noStrike">
                <a:solidFill>
                  <a:srgbClr val="444748"/>
                </a:solidFill>
                <a:latin typeface="Calibri"/>
                <a:ea typeface="Calibri"/>
              </a:rPr>
              <a:t>.</a:t>
            </a:r>
            <a:endParaRPr b="0" lang="fr-FR" sz="900" spc="-1" strike="noStrike">
              <a:solidFill>
                <a:srgbClr val="000000"/>
              </a:solidFill>
              <a:latin typeface="Arial"/>
            </a:endParaRPr>
          </a:p>
        </p:txBody>
      </p:sp>
      <p:cxnSp>
        <p:nvCxnSpPr>
          <p:cNvPr id="267" name="ArrowH"/>
          <p:cNvCxnSpPr/>
          <p:nvPr/>
        </p:nvCxnSpPr>
        <p:spPr>
          <a:xfrm>
            <a:off x="8832240" y="2229840"/>
            <a:ext cx="151200" cy="1080"/>
          </a:xfrm>
          <a:prstGeom prst="straightConnector1">
            <a:avLst/>
          </a:prstGeom>
          <a:ln w="28575">
            <a:solidFill>
              <a:srgbClr val="1565c0"/>
            </a:solidFill>
            <a:round/>
            <a:tailEnd len="med" type="triangle" w="med"/>
          </a:ln>
        </p:spPr>
      </p:cxnSp>
      <p:sp>
        <p:nvSpPr>
          <p:cNvPr id="268" name="Rect"/>
          <p:cNvSpPr/>
          <p:nvPr/>
        </p:nvSpPr>
        <p:spPr>
          <a:xfrm>
            <a:off x="8982720" y="1479960"/>
            <a:ext cx="2660400" cy="1499040"/>
          </a:xfrm>
          <a:prstGeom prst="roundRect">
            <a:avLst>
              <a:gd name="adj" fmla="val 6000"/>
            </a:avLst>
          </a:prstGeom>
          <a:solidFill>
            <a:srgbClr val="e3f2fd"/>
          </a:solidFill>
          <a:ln w="9525">
            <a:solidFill>
              <a:srgbClr val="1a237e"/>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69" name="Circle"/>
          <p:cNvSpPr/>
          <p:nvPr/>
        </p:nvSpPr>
        <p:spPr>
          <a:xfrm>
            <a:off x="9052560" y="1550160"/>
            <a:ext cx="438840" cy="438840"/>
          </a:xfrm>
          <a:prstGeom prst="ellipse">
            <a:avLst/>
          </a:prstGeom>
          <a:solidFill>
            <a:srgbClr val="1a237e"/>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70" name="Txt"/>
          <p:cNvSpPr/>
          <p:nvPr/>
        </p:nvSpPr>
        <p:spPr>
          <a:xfrm>
            <a:off x="9052560" y="1550160"/>
            <a:ext cx="438840" cy="438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100" spc="-1" strike="noStrike">
                <a:solidFill>
                  <a:srgbClr val="ffffff"/>
                </a:solidFill>
                <a:latin typeface="Calibri"/>
                <a:ea typeface="Calibri"/>
              </a:rPr>
              <a:t>4</a:t>
            </a:r>
            <a:endParaRPr b="0" lang="fr-FR" sz="1100" spc="-1" strike="noStrike">
              <a:solidFill>
                <a:srgbClr val="000000"/>
              </a:solidFill>
              <a:latin typeface="Arial"/>
            </a:endParaRPr>
          </a:p>
        </p:txBody>
      </p:sp>
      <p:sp>
        <p:nvSpPr>
          <p:cNvPr id="271" name="Txt"/>
          <p:cNvSpPr/>
          <p:nvPr/>
        </p:nvSpPr>
        <p:spPr>
          <a:xfrm>
            <a:off x="9072720" y="2040120"/>
            <a:ext cx="2480400" cy="87876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139"/>
              </a:spcAft>
            </a:pPr>
            <a:r>
              <a:rPr b="1" lang="fr-FR" sz="1200" spc="-1" strike="noStrike">
                <a:solidFill>
                  <a:srgbClr val="1a237e"/>
                </a:solidFill>
                <a:latin typeface="Calibri"/>
                <a:ea typeface="Calibri"/>
              </a:rPr>
              <a:t>MessageService</a:t>
            </a:r>
            <a:endParaRPr b="0" lang="fr-FR" sz="1200" spc="-1" strike="noStrike">
              <a:solidFill>
                <a:srgbClr val="000000"/>
              </a:solidFill>
              <a:latin typeface="Arial"/>
            </a:endParaRPr>
          </a:p>
          <a:p>
            <a:pPr defTabSz="914400">
              <a:lnSpc>
                <a:spcPct val="100000"/>
              </a:lnSpc>
            </a:pPr>
            <a:r>
              <a:rPr b="0" lang="fr-FR" sz="900" spc="-1" strike="noStrike">
                <a:solidFill>
                  <a:srgbClr val="444748"/>
                </a:solidFill>
                <a:latin typeface="Calibri"/>
                <a:ea typeface="Calibri"/>
              </a:rPr>
              <a:t>Vérifie les droits sur la conversation puis enregistre le message (table message).</a:t>
            </a:r>
            <a:endParaRPr b="0" lang="fr-FR" sz="900" spc="-1" strike="noStrike">
              <a:solidFill>
                <a:srgbClr val="000000"/>
              </a:solidFill>
              <a:latin typeface="Arial"/>
            </a:endParaRPr>
          </a:p>
        </p:txBody>
      </p:sp>
      <p:sp>
        <p:nvSpPr>
          <p:cNvPr id="272" name="Txt"/>
          <p:cNvSpPr/>
          <p:nvPr/>
        </p:nvSpPr>
        <p:spPr>
          <a:xfrm>
            <a:off x="548640" y="3164040"/>
            <a:ext cx="11094120" cy="22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pc="-1" strike="noStrike">
                <a:solidFill>
                  <a:srgbClr val="000000"/>
                </a:solidFill>
                <a:latin typeface="Calibri"/>
                <a:ea typeface="Calibri"/>
              </a:rPr>
              <a:t>                                                                                                       </a:t>
            </a:r>
            <a:r>
              <a:rPr b="0" lang="en-US" sz="1350" spc="-1" strike="noStrike">
                <a:solidFill>
                  <a:srgbClr val="000000"/>
                </a:solidFill>
                <a:latin typeface="Calibri"/>
                <a:ea typeface="Calibri"/>
              </a:rPr>
              <a:t>Le message est transmis en temps réel au destinataire</a:t>
            </a:r>
            <a:endParaRPr b="0" lang="fr-FR" sz="1350" spc="-1" strike="noStrike">
              <a:solidFill>
                <a:srgbClr val="000000"/>
              </a:solidFill>
              <a:latin typeface="Arial"/>
            </a:endParaRPr>
          </a:p>
        </p:txBody>
      </p:sp>
      <p:cxnSp>
        <p:nvCxnSpPr>
          <p:cNvPr id="273" name="LineV"/>
          <p:cNvCxnSpPr/>
          <p:nvPr/>
        </p:nvCxnSpPr>
        <p:spPr>
          <a:xfrm>
            <a:off x="10312920" y="2979720"/>
            <a:ext cx="1080" cy="461160"/>
          </a:xfrm>
          <a:prstGeom prst="straightConnector1">
            <a:avLst/>
          </a:prstGeom>
          <a:ln w="19050">
            <a:solidFill>
              <a:srgbClr val="1565c0"/>
            </a:solidFill>
            <a:round/>
          </a:ln>
        </p:spPr>
      </p:cxnSp>
      <p:cxnSp>
        <p:nvCxnSpPr>
          <p:cNvPr id="274" name="LineH"/>
          <p:cNvCxnSpPr/>
          <p:nvPr/>
        </p:nvCxnSpPr>
        <p:spPr>
          <a:xfrm>
            <a:off x="3261600" y="3694320"/>
            <a:ext cx="7056360" cy="9360"/>
          </a:xfrm>
          <a:prstGeom prst="straightConnector1">
            <a:avLst/>
          </a:prstGeom>
          <a:ln w="19050">
            <a:solidFill>
              <a:srgbClr val="1565c0"/>
            </a:solidFill>
            <a:round/>
          </a:ln>
        </p:spPr>
      </p:cxnSp>
      <p:cxnSp>
        <p:nvCxnSpPr>
          <p:cNvPr id="275" name="ArrowV"/>
          <p:cNvCxnSpPr>
            <a:endCxn id="276" idx="0"/>
          </p:cNvCxnSpPr>
          <p:nvPr/>
        </p:nvCxnSpPr>
        <p:spPr>
          <a:xfrm flipH="1">
            <a:off x="3256920" y="3694320"/>
            <a:ext cx="5400" cy="403920"/>
          </a:xfrm>
          <a:prstGeom prst="straightConnector1">
            <a:avLst/>
          </a:prstGeom>
          <a:ln w="19050">
            <a:solidFill>
              <a:srgbClr val="1565c0"/>
            </a:solidFill>
            <a:round/>
            <a:tailEnd len="med" type="triangle" w="med"/>
          </a:ln>
        </p:spPr>
      </p:cxnSp>
      <p:cxnSp>
        <p:nvCxnSpPr>
          <p:cNvPr id="277" name="ArrowV"/>
          <p:cNvCxnSpPr>
            <a:stCxn id="273" idx="1"/>
          </p:cNvCxnSpPr>
          <p:nvPr/>
        </p:nvCxnSpPr>
        <p:spPr>
          <a:xfrm>
            <a:off x="10313640" y="3440520"/>
            <a:ext cx="8640" cy="526320"/>
          </a:xfrm>
          <a:prstGeom prst="straightConnector1">
            <a:avLst/>
          </a:prstGeom>
          <a:ln w="19050">
            <a:solidFill>
              <a:srgbClr val="1565c0"/>
            </a:solidFill>
            <a:round/>
            <a:tailEnd len="med" type="triangle" w="med"/>
          </a:ln>
        </p:spPr>
      </p:cxnSp>
      <p:sp>
        <p:nvSpPr>
          <p:cNvPr id="276" name="Rect"/>
          <p:cNvSpPr/>
          <p:nvPr/>
        </p:nvSpPr>
        <p:spPr>
          <a:xfrm>
            <a:off x="548640" y="4097880"/>
            <a:ext cx="5416560" cy="1598760"/>
          </a:xfrm>
          <a:prstGeom prst="roundRect">
            <a:avLst>
              <a:gd name="adj" fmla="val 6000"/>
            </a:avLst>
          </a:prstGeom>
          <a:solidFill>
            <a:srgbClr val="ffffff"/>
          </a:solidFill>
          <a:ln w="9525">
            <a:solidFill>
              <a:srgbClr val="d4d4d4"/>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78" name="Circle"/>
          <p:cNvSpPr/>
          <p:nvPr/>
        </p:nvSpPr>
        <p:spPr>
          <a:xfrm>
            <a:off x="618480" y="4132080"/>
            <a:ext cx="438840" cy="438840"/>
          </a:xfrm>
          <a:prstGeom prst="ellipse">
            <a:avLst/>
          </a:prstGeom>
          <a:solidFill>
            <a:srgbClr val="1565c0"/>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79" name="Txt"/>
          <p:cNvSpPr/>
          <p:nvPr/>
        </p:nvSpPr>
        <p:spPr>
          <a:xfrm>
            <a:off x="618480" y="4132080"/>
            <a:ext cx="438840" cy="438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100" spc="-1" strike="noStrike">
                <a:solidFill>
                  <a:srgbClr val="ffffff"/>
                </a:solidFill>
                <a:latin typeface="Calibri"/>
                <a:ea typeface="Calibri"/>
              </a:rPr>
              <a:t>6</a:t>
            </a:r>
            <a:endParaRPr b="0" lang="fr-FR" sz="1100" spc="-1" strike="noStrike">
              <a:solidFill>
                <a:srgbClr val="000000"/>
              </a:solidFill>
              <a:latin typeface="Arial"/>
            </a:endParaRPr>
          </a:p>
        </p:txBody>
      </p:sp>
      <p:sp>
        <p:nvSpPr>
          <p:cNvPr id="280" name="Txt"/>
          <p:cNvSpPr/>
          <p:nvPr/>
        </p:nvSpPr>
        <p:spPr>
          <a:xfrm>
            <a:off x="638640" y="4668120"/>
            <a:ext cx="5236560" cy="97884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139"/>
              </a:spcAft>
            </a:pPr>
            <a:r>
              <a:rPr b="1" lang="fr-FR" sz="1200" spc="-1" strike="noStrike">
                <a:solidFill>
                  <a:srgbClr val="1565c0"/>
                </a:solidFill>
                <a:latin typeface="Consolas"/>
                <a:ea typeface="Consolas"/>
              </a:rPr>
              <a:t>/topic/conversation.{id}</a:t>
            </a:r>
            <a:endParaRPr b="0" lang="fr-FR" sz="1200" spc="-1" strike="noStrike">
              <a:solidFill>
                <a:srgbClr val="000000"/>
              </a:solidFill>
              <a:latin typeface="Arial"/>
            </a:endParaRPr>
          </a:p>
          <a:p>
            <a:pPr defTabSz="914400">
              <a:lnSpc>
                <a:spcPct val="100000"/>
              </a:lnSpc>
            </a:pPr>
            <a:r>
              <a:rPr b="0" lang="fr-FR" sz="950" spc="-1" strike="noStrike">
                <a:solidFill>
                  <a:srgbClr val="444748"/>
                </a:solidFill>
                <a:latin typeface="Calibri"/>
                <a:ea typeface="Calibri"/>
              </a:rPr>
              <a:t>convertAndSend() : tous les abonnés à la conversation reçoivent le message aussitôt (messageStream côté Flutter).</a:t>
            </a:r>
            <a:endParaRPr b="0" lang="fr-FR" sz="950" spc="-1" strike="noStrike">
              <a:solidFill>
                <a:srgbClr val="000000"/>
              </a:solidFill>
              <a:latin typeface="Arial"/>
            </a:endParaRPr>
          </a:p>
          <a:p>
            <a:pPr defTabSz="914400">
              <a:lnSpc>
                <a:spcPct val="100000"/>
              </a:lnSpc>
              <a:tabLst>
                <a:tab algn="l" pos="0"/>
              </a:tabLst>
            </a:pPr>
            <a:r>
              <a:rPr b="0" lang="en-US" sz="1350" spc="-1" strike="noStrike">
                <a:solidFill>
                  <a:srgbClr val="000000"/>
                </a:solidFill>
                <a:latin typeface="Calibri"/>
                <a:ea typeface="Calibri"/>
              </a:rPr>
              <a:t>Une notification est créée dans la table notification</a:t>
            </a:r>
            <a:endParaRPr b="0" lang="fr-FR" sz="1350" spc="-1" strike="noStrike">
              <a:solidFill>
                <a:srgbClr val="000000"/>
              </a:solidFill>
              <a:latin typeface="Arial"/>
            </a:endParaRPr>
          </a:p>
        </p:txBody>
      </p:sp>
      <p:sp>
        <p:nvSpPr>
          <p:cNvPr id="281" name="Rect"/>
          <p:cNvSpPr/>
          <p:nvPr/>
        </p:nvSpPr>
        <p:spPr>
          <a:xfrm>
            <a:off x="6226200" y="4133880"/>
            <a:ext cx="5416560" cy="1598760"/>
          </a:xfrm>
          <a:prstGeom prst="roundRect">
            <a:avLst>
              <a:gd name="adj" fmla="val 6000"/>
            </a:avLst>
          </a:prstGeom>
          <a:solidFill>
            <a:srgbClr val="ffffff"/>
          </a:solidFill>
          <a:ln w="9525">
            <a:solidFill>
              <a:srgbClr val="d4d4d4"/>
            </a:solidFill>
            <a:round/>
          </a:ln>
          <a:effectLst>
            <a:outerShdw blurRad="90000" dir="5400000" dist="29880" rotWithShape="0">
              <a:srgbClr val="000000">
                <a:alpha val="18000"/>
              </a:srgbClr>
            </a:outerShdw>
          </a:effectLst>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82" name="Circle"/>
          <p:cNvSpPr/>
          <p:nvPr/>
        </p:nvSpPr>
        <p:spPr>
          <a:xfrm>
            <a:off x="6296400" y="4168080"/>
            <a:ext cx="438840" cy="438840"/>
          </a:xfrm>
          <a:prstGeom prst="ellipse">
            <a:avLst/>
          </a:prstGeom>
          <a:solidFill>
            <a:srgbClr val="1565c0"/>
          </a:solidFill>
          <a:ln w="0">
            <a:noFill/>
          </a:ln>
        </p:spPr>
        <p:style>
          <a:lnRef idx="0"/>
          <a:fillRef idx="0"/>
          <a:effectRef idx="0"/>
          <a:fontRef idx="minor"/>
        </p:style>
        <p:txBody>
          <a:bodyPr lIns="0" rIns="0" tIns="0" bIns="0" anchor="t">
            <a:noAutofit/>
          </a:bodyPr>
          <a:p>
            <a:pPr>
              <a:lnSpc>
                <a:spcPct val="100000"/>
              </a:lnSpc>
            </a:pPr>
            <a:endParaRPr b="0" lang="fr-FR" sz="1800" spc="-1" strike="noStrike">
              <a:solidFill>
                <a:srgbClr val="000000"/>
              </a:solidFill>
              <a:latin typeface="Calibri"/>
            </a:endParaRPr>
          </a:p>
        </p:txBody>
      </p:sp>
      <p:sp>
        <p:nvSpPr>
          <p:cNvPr id="283" name="Txt"/>
          <p:cNvSpPr/>
          <p:nvPr/>
        </p:nvSpPr>
        <p:spPr>
          <a:xfrm>
            <a:off x="6296400" y="4168080"/>
            <a:ext cx="438840" cy="438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1" lang="fr-FR" sz="1100" spc="-1" strike="noStrike">
                <a:solidFill>
                  <a:srgbClr val="ffffff"/>
                </a:solidFill>
                <a:latin typeface="Calibri"/>
                <a:ea typeface="Calibri"/>
              </a:rPr>
              <a:t>7</a:t>
            </a:r>
            <a:endParaRPr b="0" lang="fr-FR" sz="1100" spc="-1" strike="noStrike">
              <a:solidFill>
                <a:srgbClr val="000000"/>
              </a:solidFill>
              <a:latin typeface="Arial"/>
            </a:endParaRPr>
          </a:p>
        </p:txBody>
      </p:sp>
      <p:sp>
        <p:nvSpPr>
          <p:cNvPr id="284" name="Txt"/>
          <p:cNvSpPr/>
          <p:nvPr/>
        </p:nvSpPr>
        <p:spPr>
          <a:xfrm>
            <a:off x="6316200" y="4632120"/>
            <a:ext cx="5236560" cy="97884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139"/>
              </a:spcAft>
            </a:pPr>
            <a:r>
              <a:rPr b="1" lang="fr-FR" sz="1200" spc="-1" strike="noStrike">
                <a:solidFill>
                  <a:srgbClr val="1565c0"/>
                </a:solidFill>
                <a:latin typeface="Consolas"/>
                <a:ea typeface="Consolas"/>
              </a:rPr>
              <a:t>/user/{email}/queue/notifications</a:t>
            </a:r>
            <a:endParaRPr b="0" lang="fr-FR" sz="1200" spc="-1" strike="noStrike">
              <a:solidFill>
                <a:srgbClr val="000000"/>
              </a:solidFill>
              <a:latin typeface="Arial"/>
            </a:endParaRPr>
          </a:p>
          <a:p>
            <a:pPr defTabSz="914400">
              <a:lnSpc>
                <a:spcPct val="100000"/>
              </a:lnSpc>
            </a:pPr>
            <a:r>
              <a:rPr b="0" lang="fr-FR" sz="950" spc="-1" strike="noStrike">
                <a:solidFill>
                  <a:srgbClr val="444748"/>
                </a:solidFill>
                <a:latin typeface="Calibri"/>
                <a:ea typeface="Calibri"/>
              </a:rPr>
              <a:t>convertAndSendToUser() pour chaque destinataire : badge non-lu mis à jour et notification créée en base.</a:t>
            </a:r>
            <a:endParaRPr b="0" lang="fr-FR" sz="950" spc="-1" strike="noStrike">
              <a:solidFill>
                <a:srgbClr val="000000"/>
              </a:solidFill>
              <a:latin typeface="Arial"/>
            </a:endParaRPr>
          </a:p>
          <a:p>
            <a:pPr defTabSz="914400">
              <a:lnSpc>
                <a:spcPct val="100000"/>
              </a:lnSpc>
              <a:tabLst>
                <a:tab algn="l" pos="0"/>
              </a:tabLst>
            </a:pPr>
            <a:r>
              <a:rPr b="0" lang="en-US" sz="1350" spc="-1" strike="noStrike">
                <a:solidFill>
                  <a:srgbClr val="000000"/>
                </a:solidFill>
                <a:latin typeface="Calibri"/>
                <a:ea typeface="Calibri"/>
              </a:rPr>
              <a:t>Le destinataire voit le message et le compteur de non-lus</a:t>
            </a:r>
            <a:endParaRPr b="0" lang="fr-FR" sz="1350" spc="-1" strike="noStrike">
              <a:solidFill>
                <a:srgbClr val="000000"/>
              </a:solidFill>
              <a:latin typeface="Arial"/>
            </a:endParaRPr>
          </a:p>
        </p:txBody>
      </p:sp>
      <p:sp>
        <p:nvSpPr>
          <p:cNvPr id="285" name="Circle 1"/>
          <p:cNvSpPr/>
          <p:nvPr/>
        </p:nvSpPr>
        <p:spPr>
          <a:xfrm>
            <a:off x="3988800" y="3088800"/>
            <a:ext cx="438840" cy="438840"/>
          </a:xfrm>
          <a:prstGeom prst="ellipse">
            <a:avLst/>
          </a:prstGeom>
          <a:solidFill>
            <a:srgbClr val="1a237e"/>
          </a:solidFill>
          <a:ln w="0">
            <a:noFill/>
          </a:ln>
        </p:spPr>
        <p:style>
          <a:lnRef idx="0"/>
          <a:fillRef idx="0"/>
          <a:effectRef idx="0"/>
          <a:fontRef idx="minor"/>
        </p:style>
        <p:txBody>
          <a:bodyPr lIns="0" rIns="0" tIns="0" bIns="0" anchor="t">
            <a:noAutofit/>
          </a:bodyPr>
          <a:p>
            <a:pPr algn="ctr" defTabSz="914400">
              <a:lnSpc>
                <a:spcPct val="100000"/>
              </a:lnSpc>
            </a:pPr>
            <a:r>
              <a:rPr b="1" lang="fr-FR" sz="1100" spc="-1" strike="noStrike">
                <a:solidFill>
                  <a:srgbClr val="ffffff"/>
                </a:solidFill>
                <a:latin typeface="Calibri"/>
                <a:ea typeface="Calibri"/>
              </a:rPr>
              <a:t>5</a:t>
            </a:r>
            <a:endParaRPr b="0" lang="fr-FR"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6" name="Text 0"/>
          <p:cNvSpPr/>
          <p:nvPr/>
        </p:nvSpPr>
        <p:spPr>
          <a:xfrm>
            <a:off x="548640" y="384120"/>
            <a:ext cx="731340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86" strike="noStrike">
                <a:solidFill>
                  <a:srgbClr val="1a237e"/>
                </a:solidFill>
                <a:latin typeface="Calibri"/>
                <a:ea typeface="Calibri"/>
              </a:rPr>
              <a:t>AUTHENTIFICATION ET PROTECTION DES ACCÈS</a:t>
            </a:r>
            <a:endParaRPr b="0" lang="fr-FR" sz="1200" spc="-1" strike="noStrike">
              <a:solidFill>
                <a:srgbClr val="000000"/>
              </a:solidFill>
              <a:latin typeface="Arial"/>
            </a:endParaRPr>
          </a:p>
        </p:txBody>
      </p:sp>
      <p:sp>
        <p:nvSpPr>
          <p:cNvPr id="287" name="Text 1"/>
          <p:cNvSpPr/>
          <p:nvPr/>
        </p:nvSpPr>
        <p:spPr>
          <a:xfrm>
            <a:off x="548640" y="658440"/>
            <a:ext cx="10513800" cy="72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000000"/>
                </a:solidFill>
                <a:latin typeface="Cambria"/>
                <a:ea typeface="Cambria"/>
              </a:rPr>
              <a:t>Sécurité</a:t>
            </a:r>
            <a:endParaRPr b="0" lang="fr-FR" sz="3200" spc="-1" strike="noStrike">
              <a:solidFill>
                <a:srgbClr val="000000"/>
              </a:solidFill>
              <a:latin typeface="Arial"/>
            </a:endParaRPr>
          </a:p>
        </p:txBody>
      </p:sp>
      <p:sp>
        <p:nvSpPr>
          <p:cNvPr id="288" name="Text 2"/>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747878"/>
                </a:solidFill>
                <a:latin typeface="Calibri"/>
                <a:ea typeface="Calibri"/>
              </a:rPr>
              <a:t>11</a:t>
            </a:r>
            <a:endParaRPr b="0" lang="fr-FR" sz="1000" spc="-1" strike="noStrike">
              <a:solidFill>
                <a:srgbClr val="000000"/>
              </a:solidFill>
              <a:latin typeface="Arial"/>
            </a:endParaRPr>
          </a:p>
        </p:txBody>
      </p:sp>
      <p:sp>
        <p:nvSpPr>
          <p:cNvPr id="289" name="Shape 4"/>
          <p:cNvSpPr/>
          <p:nvPr/>
        </p:nvSpPr>
        <p:spPr>
          <a:xfrm>
            <a:off x="548640" y="1600200"/>
            <a:ext cx="11062440" cy="565200"/>
          </a:xfrm>
          <a:prstGeom prst="roundRect">
            <a:avLst>
              <a:gd name="adj" fmla="val 12903"/>
            </a:avLst>
          </a:prstGeom>
          <a:solidFill>
            <a:srgbClr val="1a237e"/>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290" name="Text 5"/>
          <p:cNvSpPr/>
          <p:nvPr/>
        </p:nvSpPr>
        <p:spPr>
          <a:xfrm>
            <a:off x="822960" y="1600200"/>
            <a:ext cx="10513800" cy="565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ffffff"/>
                </a:solidFill>
                <a:latin typeface="Calibri"/>
                <a:ea typeface="Calibri"/>
              </a:rPr>
              <a:t>🔐  </a:t>
            </a:r>
            <a:r>
              <a:rPr b="1" lang="en-US" sz="1250" spc="-1" strike="noStrike">
                <a:solidFill>
                  <a:srgbClr val="ffffff"/>
                </a:solidFill>
                <a:latin typeface="Calibri"/>
                <a:ea typeface="Calibri"/>
              </a:rPr>
              <a:t>Aucun mot de passe, jeton JWT ou clé Supabase n'est jamais affiché dans cette présentation ou en démonstration.</a:t>
            </a:r>
            <a:endParaRPr b="0" lang="fr-FR" sz="1250" spc="-1" strike="noStrike">
              <a:solidFill>
                <a:srgbClr val="000000"/>
              </a:solidFill>
              <a:latin typeface="Arial"/>
            </a:endParaRPr>
          </a:p>
        </p:txBody>
      </p:sp>
      <p:sp>
        <p:nvSpPr>
          <p:cNvPr id="291" name="Shape 6"/>
          <p:cNvSpPr/>
          <p:nvPr/>
        </p:nvSpPr>
        <p:spPr>
          <a:xfrm>
            <a:off x="548640" y="2377440"/>
            <a:ext cx="3518640" cy="1918440"/>
          </a:xfrm>
          <a:prstGeom prst="roundRect">
            <a:avLst>
              <a:gd name="adj" fmla="val 3810"/>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292" name="Shape 7"/>
          <p:cNvSpPr/>
          <p:nvPr/>
        </p:nvSpPr>
        <p:spPr>
          <a:xfrm>
            <a:off x="804600" y="2615040"/>
            <a:ext cx="510120" cy="51012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293" name="Text 8"/>
          <p:cNvSpPr/>
          <p:nvPr/>
        </p:nvSpPr>
        <p:spPr>
          <a:xfrm>
            <a:off x="804600" y="2597040"/>
            <a:ext cx="510120" cy="51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a:t>
            </a:r>
            <a:endParaRPr b="0" lang="fr-FR" sz="1400" spc="-1" strike="noStrike">
              <a:solidFill>
                <a:srgbClr val="000000"/>
              </a:solidFill>
              <a:latin typeface="Arial"/>
            </a:endParaRPr>
          </a:p>
        </p:txBody>
      </p:sp>
      <p:sp>
        <p:nvSpPr>
          <p:cNvPr id="294" name="Text 9"/>
          <p:cNvSpPr/>
          <p:nvPr/>
        </p:nvSpPr>
        <p:spPr>
          <a:xfrm>
            <a:off x="804600" y="3218760"/>
            <a:ext cx="3015720" cy="36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000000"/>
                </a:solidFill>
                <a:latin typeface="Cambria"/>
                <a:ea typeface="Cambria"/>
              </a:rPr>
              <a:t>Authentification JWT</a:t>
            </a:r>
            <a:endParaRPr b="0" lang="fr-FR" sz="1350" spc="-1" strike="noStrike">
              <a:solidFill>
                <a:srgbClr val="000000"/>
              </a:solidFill>
              <a:latin typeface="Arial"/>
            </a:endParaRPr>
          </a:p>
        </p:txBody>
      </p:sp>
      <p:sp>
        <p:nvSpPr>
          <p:cNvPr id="295" name="Text 10"/>
          <p:cNvSpPr/>
          <p:nvPr/>
        </p:nvSpPr>
        <p:spPr>
          <a:xfrm>
            <a:off x="804600" y="3566160"/>
            <a:ext cx="3015720" cy="59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050" spc="-1" strike="noStrike">
                <a:solidFill>
                  <a:srgbClr val="444748"/>
                </a:solidFill>
                <a:latin typeface="Calibri"/>
                <a:ea typeface="Calibri"/>
              </a:rPr>
              <a:t>Chaque utilisateur reçoit un jeton JWT après connexion, utilisé pour toutes ses requêtes.</a:t>
            </a:r>
            <a:endParaRPr b="0" lang="fr-FR" sz="1050" spc="-1" strike="noStrike">
              <a:solidFill>
                <a:srgbClr val="000000"/>
              </a:solidFill>
              <a:latin typeface="Arial"/>
            </a:endParaRPr>
          </a:p>
        </p:txBody>
      </p:sp>
      <p:sp>
        <p:nvSpPr>
          <p:cNvPr id="296" name="Shape 11"/>
          <p:cNvSpPr/>
          <p:nvPr/>
        </p:nvSpPr>
        <p:spPr>
          <a:xfrm>
            <a:off x="4297680" y="2377440"/>
            <a:ext cx="3518640" cy="1918440"/>
          </a:xfrm>
          <a:prstGeom prst="roundRect">
            <a:avLst>
              <a:gd name="adj" fmla="val 3810"/>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297" name="Shape 12"/>
          <p:cNvSpPr/>
          <p:nvPr/>
        </p:nvSpPr>
        <p:spPr>
          <a:xfrm>
            <a:off x="4553640" y="2615040"/>
            <a:ext cx="510120" cy="51012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298" name="Text 13"/>
          <p:cNvSpPr/>
          <p:nvPr/>
        </p:nvSpPr>
        <p:spPr>
          <a:xfrm>
            <a:off x="4553640" y="2597040"/>
            <a:ext cx="510120" cy="51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a:t>
            </a:r>
            <a:endParaRPr b="0" lang="fr-FR" sz="1400" spc="-1" strike="noStrike">
              <a:solidFill>
                <a:srgbClr val="000000"/>
              </a:solidFill>
              <a:latin typeface="Arial"/>
            </a:endParaRPr>
          </a:p>
        </p:txBody>
      </p:sp>
      <p:sp>
        <p:nvSpPr>
          <p:cNvPr id="299" name="Text 14"/>
          <p:cNvSpPr/>
          <p:nvPr/>
        </p:nvSpPr>
        <p:spPr>
          <a:xfrm>
            <a:off x="4553640" y="3218760"/>
            <a:ext cx="3015720" cy="36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000000"/>
                </a:solidFill>
                <a:latin typeface="Cambria"/>
                <a:ea typeface="Cambria"/>
              </a:rPr>
              <a:t>JwtAuthFilter</a:t>
            </a:r>
            <a:endParaRPr b="0" lang="fr-FR" sz="1350" spc="-1" strike="noStrike">
              <a:solidFill>
                <a:srgbClr val="000000"/>
              </a:solidFill>
              <a:latin typeface="Arial"/>
            </a:endParaRPr>
          </a:p>
        </p:txBody>
      </p:sp>
      <p:sp>
        <p:nvSpPr>
          <p:cNvPr id="300" name="Text 15"/>
          <p:cNvSpPr/>
          <p:nvPr/>
        </p:nvSpPr>
        <p:spPr>
          <a:xfrm>
            <a:off x="4553640" y="3566160"/>
            <a:ext cx="3015720" cy="59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050" spc="-1" strike="noStrike">
                <a:solidFill>
                  <a:srgbClr val="444748"/>
                </a:solidFill>
                <a:latin typeface="Calibri"/>
                <a:ea typeface="Calibri"/>
              </a:rPr>
              <a:t>Vérifie le token JWT sur chaque requête HTTP entrante avant d'autoriser l'accès.</a:t>
            </a:r>
            <a:endParaRPr b="0" lang="fr-FR" sz="1050" spc="-1" strike="noStrike">
              <a:solidFill>
                <a:srgbClr val="000000"/>
              </a:solidFill>
              <a:latin typeface="Arial"/>
            </a:endParaRPr>
          </a:p>
        </p:txBody>
      </p:sp>
      <p:sp>
        <p:nvSpPr>
          <p:cNvPr id="301" name="Shape 16"/>
          <p:cNvSpPr/>
          <p:nvPr/>
        </p:nvSpPr>
        <p:spPr>
          <a:xfrm>
            <a:off x="8046720" y="2377440"/>
            <a:ext cx="3518640" cy="1918440"/>
          </a:xfrm>
          <a:prstGeom prst="roundRect">
            <a:avLst>
              <a:gd name="adj" fmla="val 3810"/>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02" name="Shape 17"/>
          <p:cNvSpPr/>
          <p:nvPr/>
        </p:nvSpPr>
        <p:spPr>
          <a:xfrm>
            <a:off x="8302680" y="2615040"/>
            <a:ext cx="510120" cy="51012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03" name="Text 18"/>
          <p:cNvSpPr/>
          <p:nvPr/>
        </p:nvSpPr>
        <p:spPr>
          <a:xfrm>
            <a:off x="8302680" y="2597040"/>
            <a:ext cx="510120" cy="51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a:t>
            </a:r>
            <a:endParaRPr b="0" lang="fr-FR" sz="1400" spc="-1" strike="noStrike">
              <a:solidFill>
                <a:srgbClr val="000000"/>
              </a:solidFill>
              <a:latin typeface="Arial"/>
            </a:endParaRPr>
          </a:p>
        </p:txBody>
      </p:sp>
      <p:sp>
        <p:nvSpPr>
          <p:cNvPr id="304" name="Text 19"/>
          <p:cNvSpPr/>
          <p:nvPr/>
        </p:nvSpPr>
        <p:spPr>
          <a:xfrm>
            <a:off x="8302680" y="3218760"/>
            <a:ext cx="3015720" cy="36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000000"/>
                </a:solidFill>
                <a:latin typeface="Cambria"/>
                <a:ea typeface="Cambria"/>
              </a:rPr>
              <a:t>JwtChannelInterceptor</a:t>
            </a:r>
            <a:endParaRPr b="0" lang="fr-FR" sz="1350" spc="-1" strike="noStrike">
              <a:solidFill>
                <a:srgbClr val="000000"/>
              </a:solidFill>
              <a:latin typeface="Arial"/>
            </a:endParaRPr>
          </a:p>
        </p:txBody>
      </p:sp>
      <p:sp>
        <p:nvSpPr>
          <p:cNvPr id="305" name="Text 20"/>
          <p:cNvSpPr/>
          <p:nvPr/>
        </p:nvSpPr>
        <p:spPr>
          <a:xfrm>
            <a:off x="8302680" y="3566160"/>
            <a:ext cx="3015720" cy="59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050" spc="-1" strike="noStrike">
                <a:solidFill>
                  <a:srgbClr val="444748"/>
                </a:solidFill>
                <a:latin typeface="Calibri"/>
                <a:ea typeface="Calibri"/>
              </a:rPr>
              <a:t>Vérifie le token JWT lors de l'établissement des connexions WebSocket.</a:t>
            </a:r>
            <a:endParaRPr b="0" lang="fr-FR" sz="1050" spc="-1" strike="noStrike">
              <a:solidFill>
                <a:srgbClr val="000000"/>
              </a:solidFill>
              <a:latin typeface="Arial"/>
            </a:endParaRPr>
          </a:p>
        </p:txBody>
      </p:sp>
      <p:sp>
        <p:nvSpPr>
          <p:cNvPr id="306" name="Shape 21"/>
          <p:cNvSpPr/>
          <p:nvPr/>
        </p:nvSpPr>
        <p:spPr>
          <a:xfrm>
            <a:off x="548640" y="4526280"/>
            <a:ext cx="3518640" cy="1918440"/>
          </a:xfrm>
          <a:prstGeom prst="roundRect">
            <a:avLst>
              <a:gd name="adj" fmla="val 3810"/>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07" name="Shape 22"/>
          <p:cNvSpPr/>
          <p:nvPr/>
        </p:nvSpPr>
        <p:spPr>
          <a:xfrm>
            <a:off x="804600" y="4763880"/>
            <a:ext cx="510120" cy="51012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08" name="Text 23"/>
          <p:cNvSpPr/>
          <p:nvPr/>
        </p:nvSpPr>
        <p:spPr>
          <a:xfrm>
            <a:off x="804600" y="4745880"/>
            <a:ext cx="510120" cy="51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a:t>
            </a:r>
            <a:endParaRPr b="0" lang="fr-FR" sz="1400" spc="-1" strike="noStrike">
              <a:solidFill>
                <a:srgbClr val="000000"/>
              </a:solidFill>
              <a:latin typeface="Arial"/>
            </a:endParaRPr>
          </a:p>
        </p:txBody>
      </p:sp>
      <p:sp>
        <p:nvSpPr>
          <p:cNvPr id="309" name="Text 24"/>
          <p:cNvSpPr/>
          <p:nvPr/>
        </p:nvSpPr>
        <p:spPr>
          <a:xfrm>
            <a:off x="804600" y="5367600"/>
            <a:ext cx="3015720" cy="36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000000"/>
                </a:solidFill>
                <a:latin typeface="Cambria"/>
                <a:ea typeface="Cambria"/>
              </a:rPr>
              <a:t>Stockage sécurisé</a:t>
            </a:r>
            <a:endParaRPr b="0" lang="fr-FR" sz="1350" spc="-1" strike="noStrike">
              <a:solidFill>
                <a:srgbClr val="000000"/>
              </a:solidFill>
              <a:latin typeface="Arial"/>
            </a:endParaRPr>
          </a:p>
        </p:txBody>
      </p:sp>
      <p:sp>
        <p:nvSpPr>
          <p:cNvPr id="310" name="Text 25"/>
          <p:cNvSpPr/>
          <p:nvPr/>
        </p:nvSpPr>
        <p:spPr>
          <a:xfrm>
            <a:off x="804600" y="5715000"/>
            <a:ext cx="3015720" cy="59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050" spc="-1" strike="noStrike">
                <a:solidFill>
                  <a:srgbClr val="444748"/>
                </a:solidFill>
                <a:latin typeface="Calibri"/>
                <a:ea typeface="Calibri"/>
              </a:rPr>
              <a:t>Le token est conservé côté mobile avec Flutter Secure Storage, jamais en clair.</a:t>
            </a:r>
            <a:endParaRPr b="0" lang="fr-FR" sz="1050" spc="-1" strike="noStrike">
              <a:solidFill>
                <a:srgbClr val="000000"/>
              </a:solidFill>
              <a:latin typeface="Arial"/>
            </a:endParaRPr>
          </a:p>
        </p:txBody>
      </p:sp>
      <p:sp>
        <p:nvSpPr>
          <p:cNvPr id="311" name="Shape 26"/>
          <p:cNvSpPr/>
          <p:nvPr/>
        </p:nvSpPr>
        <p:spPr>
          <a:xfrm>
            <a:off x="4297680" y="4526280"/>
            <a:ext cx="3518640" cy="1918440"/>
          </a:xfrm>
          <a:prstGeom prst="roundRect">
            <a:avLst>
              <a:gd name="adj" fmla="val 3810"/>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12" name="Shape 27"/>
          <p:cNvSpPr/>
          <p:nvPr/>
        </p:nvSpPr>
        <p:spPr>
          <a:xfrm>
            <a:off x="4553640" y="4763880"/>
            <a:ext cx="510120" cy="51012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13" name="Text 28"/>
          <p:cNvSpPr/>
          <p:nvPr/>
        </p:nvSpPr>
        <p:spPr>
          <a:xfrm>
            <a:off x="4553640" y="4745880"/>
            <a:ext cx="510120" cy="510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a:t>
            </a:r>
            <a:endParaRPr b="0" lang="fr-FR" sz="1400" spc="-1" strike="noStrike">
              <a:solidFill>
                <a:srgbClr val="000000"/>
              </a:solidFill>
              <a:latin typeface="Arial"/>
            </a:endParaRPr>
          </a:p>
        </p:txBody>
      </p:sp>
      <p:sp>
        <p:nvSpPr>
          <p:cNvPr id="314" name="Text 29"/>
          <p:cNvSpPr/>
          <p:nvPr/>
        </p:nvSpPr>
        <p:spPr>
          <a:xfrm>
            <a:off x="4553640" y="5367600"/>
            <a:ext cx="3015720" cy="36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000000"/>
                </a:solidFill>
                <a:latin typeface="Cambria"/>
                <a:ea typeface="Cambria"/>
              </a:rPr>
              <a:t>Routes protégées</a:t>
            </a:r>
            <a:endParaRPr b="0" lang="fr-FR" sz="1350" spc="-1" strike="noStrike">
              <a:solidFill>
                <a:srgbClr val="000000"/>
              </a:solidFill>
              <a:latin typeface="Arial"/>
            </a:endParaRPr>
          </a:p>
        </p:txBody>
      </p:sp>
      <p:sp>
        <p:nvSpPr>
          <p:cNvPr id="315" name="Text 30"/>
          <p:cNvSpPr/>
          <p:nvPr/>
        </p:nvSpPr>
        <p:spPr>
          <a:xfrm>
            <a:off x="4553640" y="5715000"/>
            <a:ext cx="3015720" cy="59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050" spc="-1" strike="noStrike">
                <a:solidFill>
                  <a:srgbClr val="444748"/>
                </a:solidFill>
                <a:latin typeface="Calibri"/>
                <a:ea typeface="Calibri"/>
              </a:rPr>
              <a:t>Les endpoints REST et WebSocket sensibles sont protégés par Spring Security.</a:t>
            </a:r>
            <a:endParaRPr b="0" lang="fr-FR"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6" name="Text 0"/>
          <p:cNvSpPr/>
          <p:nvPr/>
        </p:nvSpPr>
        <p:spPr>
          <a:xfrm>
            <a:off x="548640" y="384120"/>
            <a:ext cx="731340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86" strike="noStrike">
                <a:solidFill>
                  <a:srgbClr val="1a237e"/>
                </a:solidFill>
                <a:latin typeface="Calibri"/>
                <a:ea typeface="Calibri"/>
              </a:rPr>
              <a:t>SCÉNARIO EN DIRECT — DEUX UTILISATEURS</a:t>
            </a:r>
            <a:endParaRPr b="0" lang="fr-FR" sz="1200" spc="-1" strike="noStrike">
              <a:solidFill>
                <a:srgbClr val="000000"/>
              </a:solidFill>
              <a:latin typeface="Arial"/>
            </a:endParaRPr>
          </a:p>
        </p:txBody>
      </p:sp>
      <p:sp>
        <p:nvSpPr>
          <p:cNvPr id="317" name="Text 1"/>
          <p:cNvSpPr/>
          <p:nvPr/>
        </p:nvSpPr>
        <p:spPr>
          <a:xfrm>
            <a:off x="548640" y="658440"/>
            <a:ext cx="10513800" cy="72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000000"/>
                </a:solidFill>
                <a:latin typeface="Cambria"/>
                <a:ea typeface="Cambria"/>
              </a:rPr>
              <a:t>Démonstration de l'application</a:t>
            </a:r>
            <a:endParaRPr b="0" lang="fr-FR" sz="3200" spc="-1" strike="noStrike">
              <a:solidFill>
                <a:srgbClr val="000000"/>
              </a:solidFill>
              <a:latin typeface="Arial"/>
            </a:endParaRPr>
          </a:p>
        </p:txBody>
      </p:sp>
      <p:sp>
        <p:nvSpPr>
          <p:cNvPr id="318" name="Text 2"/>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747878"/>
                </a:solidFill>
                <a:latin typeface="Calibri"/>
                <a:ea typeface="Calibri"/>
              </a:rPr>
              <a:t>13</a:t>
            </a:r>
            <a:endParaRPr b="0" lang="fr-FR" sz="1000" spc="-1" strike="noStrike">
              <a:solidFill>
                <a:srgbClr val="000000"/>
              </a:solidFill>
              <a:latin typeface="Arial"/>
            </a:endParaRPr>
          </a:p>
        </p:txBody>
      </p:sp>
      <p:sp>
        <p:nvSpPr>
          <p:cNvPr id="319" name="Shape 4"/>
          <p:cNvSpPr/>
          <p:nvPr/>
        </p:nvSpPr>
        <p:spPr>
          <a:xfrm>
            <a:off x="872640" y="1645920"/>
            <a:ext cx="3290040" cy="775440"/>
          </a:xfrm>
          <a:prstGeom prst="roundRect">
            <a:avLst>
              <a:gd name="adj" fmla="val 9412"/>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20" name="Text 5"/>
          <p:cNvSpPr/>
          <p:nvPr/>
        </p:nvSpPr>
        <p:spPr>
          <a:xfrm>
            <a:off x="1497240" y="1645920"/>
            <a:ext cx="2665440" cy="7754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1" lang="en-US" sz="1300" spc="-1" strike="noStrike">
                <a:solidFill>
                  <a:srgbClr val="ffffff"/>
                </a:solidFill>
                <a:latin typeface="Calibri"/>
                <a:ea typeface="Calibri"/>
              </a:rPr>
              <a:t> </a:t>
            </a:r>
            <a:r>
              <a:rPr b="1" lang="en-US" sz="1300" spc="-1" strike="noStrike">
                <a:solidFill>
                  <a:srgbClr val="ffffff"/>
                </a:solidFill>
                <a:latin typeface="Calibri"/>
                <a:ea typeface="Calibri"/>
              </a:rPr>
              <a:t>Amedé Rakotonandrasana</a:t>
            </a:r>
            <a:endParaRPr b="0" lang="fr-FR" sz="1300" spc="-1" strike="noStrike">
              <a:solidFill>
                <a:srgbClr val="000000"/>
              </a:solidFill>
              <a:latin typeface="Arial"/>
            </a:endParaRPr>
          </a:p>
          <a:p>
            <a:pPr defTabSz="914400">
              <a:lnSpc>
                <a:spcPct val="100000"/>
              </a:lnSpc>
              <a:tabLst>
                <a:tab algn="l" pos="0"/>
              </a:tabLst>
            </a:pPr>
            <a:r>
              <a:rPr b="0" lang="en-US" sz="1050" spc="-1" strike="noStrike">
                <a:solidFill>
                  <a:srgbClr val="1565c0"/>
                </a:solidFill>
                <a:latin typeface="Calibri"/>
                <a:ea typeface="Calibri"/>
              </a:rPr>
              <a:t>Utilisateur 1</a:t>
            </a:r>
            <a:endParaRPr b="0" lang="fr-FR" sz="1050" spc="-1" strike="noStrike">
              <a:solidFill>
                <a:srgbClr val="000000"/>
              </a:solidFill>
              <a:latin typeface="Arial"/>
            </a:endParaRPr>
          </a:p>
        </p:txBody>
      </p:sp>
      <p:sp>
        <p:nvSpPr>
          <p:cNvPr id="321" name="Shape 6"/>
          <p:cNvSpPr/>
          <p:nvPr/>
        </p:nvSpPr>
        <p:spPr>
          <a:xfrm>
            <a:off x="5986800" y="1645920"/>
            <a:ext cx="3290040" cy="775440"/>
          </a:xfrm>
          <a:prstGeom prst="roundRect">
            <a:avLst>
              <a:gd name="adj" fmla="val 9412"/>
            </a:avLst>
          </a:prstGeom>
          <a:solidFill>
            <a:srgbClr val="1a237e"/>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22" name="Text 7"/>
          <p:cNvSpPr/>
          <p:nvPr/>
        </p:nvSpPr>
        <p:spPr>
          <a:xfrm>
            <a:off x="6660000" y="1645920"/>
            <a:ext cx="2616840" cy="77544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1" lang="en-US" sz="1300" spc="-1" strike="noStrike">
                <a:solidFill>
                  <a:srgbClr val="ffffff"/>
                </a:solidFill>
                <a:latin typeface="Calibri"/>
                <a:ea typeface="Calibri"/>
              </a:rPr>
              <a:t> </a:t>
            </a:r>
            <a:r>
              <a:rPr b="1" lang="en-US" sz="1300" spc="-1" strike="noStrike">
                <a:solidFill>
                  <a:srgbClr val="ffffff"/>
                </a:solidFill>
                <a:latin typeface="Calibri"/>
                <a:ea typeface="Calibri"/>
              </a:rPr>
              <a:t>Bernard</a:t>
            </a:r>
            <a:endParaRPr b="0" lang="fr-FR" sz="1300" spc="-1" strike="noStrike">
              <a:solidFill>
                <a:srgbClr val="000000"/>
              </a:solidFill>
              <a:latin typeface="Arial"/>
            </a:endParaRPr>
          </a:p>
          <a:p>
            <a:pPr defTabSz="914400">
              <a:lnSpc>
                <a:spcPct val="100000"/>
              </a:lnSpc>
              <a:tabLst>
                <a:tab algn="l" pos="0"/>
              </a:tabLst>
            </a:pPr>
            <a:r>
              <a:rPr b="0" lang="en-US" sz="1050" spc="-1" strike="noStrike">
                <a:solidFill>
                  <a:srgbClr val="e3f2fd"/>
                </a:solidFill>
                <a:latin typeface="Calibri"/>
                <a:ea typeface="Calibri"/>
              </a:rPr>
              <a:t>Utilisateur 2</a:t>
            </a:r>
            <a:endParaRPr b="0" lang="fr-FR" sz="1050" spc="-1" strike="noStrike">
              <a:solidFill>
                <a:srgbClr val="000000"/>
              </a:solidFill>
              <a:latin typeface="Arial"/>
            </a:endParaRPr>
          </a:p>
        </p:txBody>
      </p:sp>
      <p:sp>
        <p:nvSpPr>
          <p:cNvPr id="323" name="Text 21"/>
          <p:cNvSpPr/>
          <p:nvPr/>
        </p:nvSpPr>
        <p:spPr>
          <a:xfrm>
            <a:off x="6080760" y="2633400"/>
            <a:ext cx="363960" cy="36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fr-FR" sz="1800" spc="-1" strike="noStrike">
              <a:solidFill>
                <a:srgbClr val="000000"/>
              </a:solidFill>
              <a:latin typeface="Arial"/>
            </a:endParaRPr>
          </a:p>
        </p:txBody>
      </p:sp>
      <p:pic>
        <p:nvPicPr>
          <p:cNvPr id="324" name="" descr=""/>
          <p:cNvPicPr/>
          <p:nvPr/>
        </p:nvPicPr>
        <p:blipFill>
          <a:blip r:embed="rId1"/>
          <a:stretch/>
        </p:blipFill>
        <p:spPr>
          <a:xfrm>
            <a:off x="1064520" y="1800000"/>
            <a:ext cx="339120" cy="334440"/>
          </a:xfrm>
          <a:prstGeom prst="rect">
            <a:avLst/>
          </a:prstGeom>
          <a:ln w="0">
            <a:noFill/>
          </a:ln>
        </p:spPr>
      </p:pic>
      <p:pic>
        <p:nvPicPr>
          <p:cNvPr id="325" name="" descr=""/>
          <p:cNvPicPr/>
          <p:nvPr/>
        </p:nvPicPr>
        <p:blipFill>
          <a:blip r:embed="rId2"/>
          <a:stretch/>
        </p:blipFill>
        <p:spPr>
          <a:xfrm>
            <a:off x="6130800" y="1800000"/>
            <a:ext cx="339120" cy="334440"/>
          </a:xfrm>
          <a:prstGeom prst="rect">
            <a:avLst/>
          </a:prstGeom>
          <a:ln w="0">
            <a:noFill/>
          </a:ln>
        </p:spPr>
      </p:pic>
      <p:pic>
        <p:nvPicPr>
          <p:cNvPr id="326" name="" descr=""/>
          <p:cNvPicPr/>
          <p:nvPr/>
        </p:nvPicPr>
        <p:blipFill>
          <a:blip r:embed="rId3"/>
          <a:stretch/>
        </p:blipFill>
        <p:spPr>
          <a:xfrm>
            <a:off x="2160000" y="2451240"/>
            <a:ext cx="1800000" cy="3992760"/>
          </a:xfrm>
          <a:prstGeom prst="rect">
            <a:avLst/>
          </a:prstGeom>
          <a:ln w="0">
            <a:noFill/>
          </a:ln>
        </p:spPr>
      </p:pic>
      <p:pic>
        <p:nvPicPr>
          <p:cNvPr id="327" name="" descr=""/>
          <p:cNvPicPr/>
          <p:nvPr/>
        </p:nvPicPr>
        <p:blipFill>
          <a:blip r:embed="rId4"/>
          <a:stretch/>
        </p:blipFill>
        <p:spPr>
          <a:xfrm>
            <a:off x="6593760" y="2412000"/>
            <a:ext cx="1752480" cy="3888000"/>
          </a:xfrm>
          <a:prstGeom prst="rect">
            <a:avLst/>
          </a:prstGeom>
          <a:ln w="0">
            <a:noFill/>
          </a:ln>
        </p:spPr>
      </p:pic>
      <p:sp>
        <p:nvSpPr>
          <p:cNvPr id="328" name="Shape 23"/>
          <p:cNvSpPr/>
          <p:nvPr/>
        </p:nvSpPr>
        <p:spPr>
          <a:xfrm>
            <a:off x="3960000" y="3600000"/>
            <a:ext cx="2633760" cy="0"/>
          </a:xfrm>
          <a:prstGeom prst="line">
            <a:avLst/>
          </a:prstGeom>
          <a:ln w="31750">
            <a:solidFill>
              <a:srgbClr val="1a237e"/>
            </a:solidFill>
            <a:round/>
            <a:tailEnd len="med" type="triangle" w="med"/>
          </a:ln>
        </p:spPr>
        <p:style>
          <a:lnRef idx="0"/>
          <a:fillRef idx="0"/>
          <a:effectRef idx="0"/>
          <a:fontRef idx="minor"/>
        </p:style>
        <p:txBody>
          <a:bodyPr lIns="90000" rIns="90000" tIns="-45000" bIns="-45000" anchor="t" anchorCtr="1">
            <a:noAutofit/>
          </a:bodyPr>
          <a:p>
            <a:endParaRPr b="0" lang="fr-FR" sz="1800" spc="-1" strike="noStrike">
              <a:solidFill>
                <a:srgbClr val="000000"/>
              </a:solidFill>
              <a:latin typeface="Arial"/>
            </a:endParaRPr>
          </a:p>
        </p:txBody>
      </p:sp>
      <p:sp>
        <p:nvSpPr>
          <p:cNvPr id="329" name="Shape 31"/>
          <p:cNvSpPr/>
          <p:nvPr/>
        </p:nvSpPr>
        <p:spPr>
          <a:xfrm flipH="1">
            <a:off x="3960000" y="4140000"/>
            <a:ext cx="2633760" cy="0"/>
          </a:xfrm>
          <a:prstGeom prst="line">
            <a:avLst/>
          </a:prstGeom>
          <a:ln w="31750">
            <a:solidFill>
              <a:srgbClr val="1a237e"/>
            </a:solidFill>
            <a:round/>
            <a:tailEnd len="med" type="triangle" w="med"/>
          </a:ln>
        </p:spPr>
        <p:style>
          <a:lnRef idx="0"/>
          <a:fillRef idx="0"/>
          <a:effectRef idx="0"/>
          <a:fontRef idx="minor"/>
        </p:style>
        <p:txBody>
          <a:bodyPr lIns="90000" rIns="90000" tIns="-45000" bIns="-45000" anchor="t" anchorCtr="1">
            <a:noAutofit/>
          </a:bodyPr>
          <a:p>
            <a:endParaRPr b="0" lang="fr-F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0" name="Text 0"/>
          <p:cNvSpPr/>
          <p:nvPr/>
        </p:nvSpPr>
        <p:spPr>
          <a:xfrm>
            <a:off x="548640" y="384120"/>
            <a:ext cx="731340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86" strike="noStrike">
                <a:solidFill>
                  <a:srgbClr val="1a237e"/>
                </a:solidFill>
                <a:latin typeface="Calibri"/>
                <a:ea typeface="Calibri"/>
              </a:rPr>
              <a:t>BILAN TECHNIQUE</a:t>
            </a:r>
            <a:endParaRPr b="0" lang="fr-FR" sz="1200" spc="-1" strike="noStrike">
              <a:solidFill>
                <a:srgbClr val="000000"/>
              </a:solidFill>
              <a:latin typeface="Arial"/>
            </a:endParaRPr>
          </a:p>
        </p:txBody>
      </p:sp>
      <p:sp>
        <p:nvSpPr>
          <p:cNvPr id="331" name="Text 1"/>
          <p:cNvSpPr/>
          <p:nvPr/>
        </p:nvSpPr>
        <p:spPr>
          <a:xfrm>
            <a:off x="548640" y="658440"/>
            <a:ext cx="10513800" cy="72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000000"/>
                </a:solidFill>
                <a:latin typeface="Cambria"/>
                <a:ea typeface="Cambria"/>
              </a:rPr>
              <a:t>Résultats obtenus</a:t>
            </a:r>
            <a:endParaRPr b="0" lang="fr-FR" sz="3200" spc="-1" strike="noStrike">
              <a:solidFill>
                <a:srgbClr val="000000"/>
              </a:solidFill>
              <a:latin typeface="Arial"/>
            </a:endParaRPr>
          </a:p>
        </p:txBody>
      </p:sp>
      <p:sp>
        <p:nvSpPr>
          <p:cNvPr id="332" name="Text 2"/>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747878"/>
                </a:solidFill>
                <a:latin typeface="Calibri"/>
                <a:ea typeface="Calibri"/>
              </a:rPr>
              <a:t>18</a:t>
            </a:r>
            <a:endParaRPr b="0" lang="fr-FR" sz="1000" spc="-1" strike="noStrike">
              <a:solidFill>
                <a:srgbClr val="000000"/>
              </a:solidFill>
              <a:latin typeface="Arial"/>
            </a:endParaRPr>
          </a:p>
        </p:txBody>
      </p:sp>
      <p:sp>
        <p:nvSpPr>
          <p:cNvPr id="333" name="Shape 4"/>
          <p:cNvSpPr/>
          <p:nvPr/>
        </p:nvSpPr>
        <p:spPr>
          <a:xfrm>
            <a:off x="548640" y="1737360"/>
            <a:ext cx="3610080" cy="1369800"/>
          </a:xfrm>
          <a:prstGeom prst="roundRect">
            <a:avLst>
              <a:gd name="adj" fmla="val 5333"/>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34" name="Shape 5"/>
          <p:cNvSpPr/>
          <p:nvPr/>
        </p:nvSpPr>
        <p:spPr>
          <a:xfrm>
            <a:off x="777240" y="196596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35" name="Text 6"/>
          <p:cNvSpPr/>
          <p:nvPr/>
        </p:nvSpPr>
        <p:spPr>
          <a:xfrm>
            <a:off x="777240" y="194760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336" name="Text 7"/>
          <p:cNvSpPr/>
          <p:nvPr/>
        </p:nvSpPr>
        <p:spPr>
          <a:xfrm>
            <a:off x="777240" y="251460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250" spc="-1" strike="noStrike">
                <a:solidFill>
                  <a:srgbClr val="000000"/>
                </a:solidFill>
                <a:latin typeface="Calibri"/>
                <a:ea typeface="Calibri"/>
              </a:rPr>
              <a:t>Communication instantanée fonctionnelle</a:t>
            </a:r>
            <a:endParaRPr b="0" lang="fr-FR" sz="1250" spc="-1" strike="noStrike">
              <a:solidFill>
                <a:srgbClr val="000000"/>
              </a:solidFill>
              <a:latin typeface="Arial"/>
            </a:endParaRPr>
          </a:p>
        </p:txBody>
      </p:sp>
      <p:sp>
        <p:nvSpPr>
          <p:cNvPr id="337" name="Shape 8"/>
          <p:cNvSpPr/>
          <p:nvPr/>
        </p:nvSpPr>
        <p:spPr>
          <a:xfrm>
            <a:off x="4343400" y="1737360"/>
            <a:ext cx="3610080" cy="1369800"/>
          </a:xfrm>
          <a:prstGeom prst="roundRect">
            <a:avLst>
              <a:gd name="adj" fmla="val 5333"/>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38" name="Shape 9"/>
          <p:cNvSpPr/>
          <p:nvPr/>
        </p:nvSpPr>
        <p:spPr>
          <a:xfrm>
            <a:off x="4572000" y="196596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39" name="Text 10"/>
          <p:cNvSpPr/>
          <p:nvPr/>
        </p:nvSpPr>
        <p:spPr>
          <a:xfrm>
            <a:off x="4572000" y="194760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340" name="Text 11"/>
          <p:cNvSpPr/>
          <p:nvPr/>
        </p:nvSpPr>
        <p:spPr>
          <a:xfrm>
            <a:off x="4572000" y="251460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250" spc="-1" strike="noStrike">
                <a:solidFill>
                  <a:srgbClr val="000000"/>
                </a:solidFill>
                <a:latin typeface="Calibri"/>
                <a:ea typeface="Calibri"/>
              </a:rPr>
              <a:t>Messages sauvegardés dans la base de données</a:t>
            </a:r>
            <a:endParaRPr b="0" lang="fr-FR" sz="1250" spc="-1" strike="noStrike">
              <a:solidFill>
                <a:srgbClr val="000000"/>
              </a:solidFill>
              <a:latin typeface="Arial"/>
            </a:endParaRPr>
          </a:p>
        </p:txBody>
      </p:sp>
      <p:sp>
        <p:nvSpPr>
          <p:cNvPr id="341" name="Shape 12"/>
          <p:cNvSpPr/>
          <p:nvPr/>
        </p:nvSpPr>
        <p:spPr>
          <a:xfrm>
            <a:off x="8138160" y="1737360"/>
            <a:ext cx="3610080" cy="1369800"/>
          </a:xfrm>
          <a:prstGeom prst="roundRect">
            <a:avLst>
              <a:gd name="adj" fmla="val 5333"/>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42" name="Shape 13"/>
          <p:cNvSpPr/>
          <p:nvPr/>
        </p:nvSpPr>
        <p:spPr>
          <a:xfrm>
            <a:off x="8366760" y="196596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43" name="Text 14"/>
          <p:cNvSpPr/>
          <p:nvPr/>
        </p:nvSpPr>
        <p:spPr>
          <a:xfrm>
            <a:off x="8366760" y="194760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344" name="Text 15"/>
          <p:cNvSpPr/>
          <p:nvPr/>
        </p:nvSpPr>
        <p:spPr>
          <a:xfrm>
            <a:off x="8366760" y="251460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250" spc="-1" strike="noStrike">
                <a:solidFill>
                  <a:srgbClr val="000000"/>
                </a:solidFill>
                <a:latin typeface="Calibri"/>
                <a:ea typeface="Calibri"/>
              </a:rPr>
              <a:t>Notifications persistantes</a:t>
            </a:r>
            <a:endParaRPr b="0" lang="fr-FR" sz="1250" spc="-1" strike="noStrike">
              <a:solidFill>
                <a:srgbClr val="000000"/>
              </a:solidFill>
              <a:latin typeface="Arial"/>
            </a:endParaRPr>
          </a:p>
        </p:txBody>
      </p:sp>
      <p:sp>
        <p:nvSpPr>
          <p:cNvPr id="345" name="Shape 16"/>
          <p:cNvSpPr/>
          <p:nvPr/>
        </p:nvSpPr>
        <p:spPr>
          <a:xfrm>
            <a:off x="548640" y="3291840"/>
            <a:ext cx="3610080" cy="1369800"/>
          </a:xfrm>
          <a:prstGeom prst="roundRect">
            <a:avLst>
              <a:gd name="adj" fmla="val 5333"/>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46" name="Shape 17"/>
          <p:cNvSpPr/>
          <p:nvPr/>
        </p:nvSpPr>
        <p:spPr>
          <a:xfrm>
            <a:off x="777240" y="352044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47" name="Text 18"/>
          <p:cNvSpPr/>
          <p:nvPr/>
        </p:nvSpPr>
        <p:spPr>
          <a:xfrm>
            <a:off x="777240" y="350208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348" name="Text 19"/>
          <p:cNvSpPr/>
          <p:nvPr/>
        </p:nvSpPr>
        <p:spPr>
          <a:xfrm>
            <a:off x="777240" y="406908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250" spc="-1" strike="noStrike">
                <a:solidFill>
                  <a:srgbClr val="000000"/>
                </a:solidFill>
                <a:latin typeface="Calibri"/>
                <a:ea typeface="Calibri"/>
              </a:rPr>
              <a:t>Interface mobile fonctionnelle</a:t>
            </a:r>
            <a:endParaRPr b="0" lang="fr-FR" sz="1250" spc="-1" strike="noStrike">
              <a:solidFill>
                <a:srgbClr val="000000"/>
              </a:solidFill>
              <a:latin typeface="Arial"/>
            </a:endParaRPr>
          </a:p>
        </p:txBody>
      </p:sp>
      <p:sp>
        <p:nvSpPr>
          <p:cNvPr id="349" name="Shape 20"/>
          <p:cNvSpPr/>
          <p:nvPr/>
        </p:nvSpPr>
        <p:spPr>
          <a:xfrm>
            <a:off x="4343400" y="3291840"/>
            <a:ext cx="3610080" cy="1369800"/>
          </a:xfrm>
          <a:prstGeom prst="roundRect">
            <a:avLst>
              <a:gd name="adj" fmla="val 5333"/>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50" name="Shape 21"/>
          <p:cNvSpPr/>
          <p:nvPr/>
        </p:nvSpPr>
        <p:spPr>
          <a:xfrm>
            <a:off x="4572000" y="352044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51" name="Text 22"/>
          <p:cNvSpPr/>
          <p:nvPr/>
        </p:nvSpPr>
        <p:spPr>
          <a:xfrm>
            <a:off x="4572000" y="350208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352" name="Text 23"/>
          <p:cNvSpPr/>
          <p:nvPr/>
        </p:nvSpPr>
        <p:spPr>
          <a:xfrm>
            <a:off x="4572000" y="406908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250" spc="-1" strike="noStrike">
                <a:solidFill>
                  <a:srgbClr val="000000"/>
                </a:solidFill>
                <a:latin typeface="Calibri"/>
                <a:ea typeface="Calibri"/>
              </a:rPr>
              <a:t>Affichage correct des noms et photos</a:t>
            </a:r>
            <a:endParaRPr b="0" lang="fr-FR" sz="1250" spc="-1" strike="noStrike">
              <a:solidFill>
                <a:srgbClr val="000000"/>
              </a:solidFill>
              <a:latin typeface="Arial"/>
            </a:endParaRPr>
          </a:p>
        </p:txBody>
      </p:sp>
      <p:sp>
        <p:nvSpPr>
          <p:cNvPr id="353" name="Shape 24"/>
          <p:cNvSpPr/>
          <p:nvPr/>
        </p:nvSpPr>
        <p:spPr>
          <a:xfrm>
            <a:off x="8138160" y="3291840"/>
            <a:ext cx="3610080" cy="1369800"/>
          </a:xfrm>
          <a:prstGeom prst="roundRect">
            <a:avLst>
              <a:gd name="adj" fmla="val 5333"/>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54" name="Shape 25"/>
          <p:cNvSpPr/>
          <p:nvPr/>
        </p:nvSpPr>
        <p:spPr>
          <a:xfrm>
            <a:off x="8366760" y="352044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55" name="Text 26"/>
          <p:cNvSpPr/>
          <p:nvPr/>
        </p:nvSpPr>
        <p:spPr>
          <a:xfrm>
            <a:off x="8366760" y="350208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356" name="Text 27"/>
          <p:cNvSpPr/>
          <p:nvPr/>
        </p:nvSpPr>
        <p:spPr>
          <a:xfrm>
            <a:off x="8366760" y="406908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250" spc="-1" strike="noStrike">
                <a:solidFill>
                  <a:srgbClr val="000000"/>
                </a:solidFill>
                <a:latin typeface="Calibri"/>
                <a:ea typeface="Calibri"/>
              </a:rPr>
              <a:t>Gestion de la présence utilisateur</a:t>
            </a:r>
            <a:endParaRPr b="0" lang="fr-FR" sz="1250" spc="-1" strike="noStrike">
              <a:solidFill>
                <a:srgbClr val="000000"/>
              </a:solidFill>
              <a:latin typeface="Arial"/>
            </a:endParaRPr>
          </a:p>
        </p:txBody>
      </p:sp>
      <p:sp>
        <p:nvSpPr>
          <p:cNvPr id="357" name="Shape 28"/>
          <p:cNvSpPr/>
          <p:nvPr/>
        </p:nvSpPr>
        <p:spPr>
          <a:xfrm>
            <a:off x="548640" y="4846320"/>
            <a:ext cx="3610080" cy="1369800"/>
          </a:xfrm>
          <a:prstGeom prst="roundRect">
            <a:avLst>
              <a:gd name="adj" fmla="val 5333"/>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58" name="Shape 29"/>
          <p:cNvSpPr/>
          <p:nvPr/>
        </p:nvSpPr>
        <p:spPr>
          <a:xfrm>
            <a:off x="777240" y="507492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59" name="Text 30"/>
          <p:cNvSpPr/>
          <p:nvPr/>
        </p:nvSpPr>
        <p:spPr>
          <a:xfrm>
            <a:off x="777240" y="505656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360" name="Text 31"/>
          <p:cNvSpPr/>
          <p:nvPr/>
        </p:nvSpPr>
        <p:spPr>
          <a:xfrm>
            <a:off x="777240" y="562356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250" spc="-1" strike="noStrike">
                <a:solidFill>
                  <a:srgbClr val="000000"/>
                </a:solidFill>
                <a:latin typeface="Calibri"/>
                <a:ea typeface="Calibri"/>
              </a:rPr>
              <a:t>Envoi de fichiers et de messages audio</a:t>
            </a:r>
            <a:endParaRPr b="0" lang="fr-FR" sz="1250" spc="-1" strike="noStrike">
              <a:solidFill>
                <a:srgbClr val="000000"/>
              </a:solidFill>
              <a:latin typeface="Arial"/>
            </a:endParaRPr>
          </a:p>
        </p:txBody>
      </p:sp>
      <p:sp>
        <p:nvSpPr>
          <p:cNvPr id="361" name="Shape 32"/>
          <p:cNvSpPr/>
          <p:nvPr/>
        </p:nvSpPr>
        <p:spPr>
          <a:xfrm>
            <a:off x="4343400" y="4846320"/>
            <a:ext cx="3610080" cy="1369800"/>
          </a:xfrm>
          <a:prstGeom prst="roundRect">
            <a:avLst>
              <a:gd name="adj" fmla="val 5333"/>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62" name="Shape 33"/>
          <p:cNvSpPr/>
          <p:nvPr/>
        </p:nvSpPr>
        <p:spPr>
          <a:xfrm>
            <a:off x="4572000" y="507492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63" name="Text 34"/>
          <p:cNvSpPr/>
          <p:nvPr/>
        </p:nvSpPr>
        <p:spPr>
          <a:xfrm>
            <a:off x="4572000" y="505656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364" name="Text 35"/>
          <p:cNvSpPr/>
          <p:nvPr/>
        </p:nvSpPr>
        <p:spPr>
          <a:xfrm>
            <a:off x="4572000" y="562356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250" spc="-1" strike="noStrike">
                <a:solidFill>
                  <a:srgbClr val="000000"/>
                </a:solidFill>
                <a:latin typeface="Calibri"/>
                <a:ea typeface="Calibri"/>
              </a:rPr>
              <a:t>Assistant Bot intégré</a:t>
            </a:r>
            <a:endParaRPr b="0" lang="fr-FR" sz="1250" spc="-1" strike="noStrike">
              <a:solidFill>
                <a:srgbClr val="000000"/>
              </a:solidFill>
              <a:latin typeface="Arial"/>
            </a:endParaRPr>
          </a:p>
        </p:txBody>
      </p:sp>
      <p:sp>
        <p:nvSpPr>
          <p:cNvPr id="365" name="Shape 36"/>
          <p:cNvSpPr/>
          <p:nvPr/>
        </p:nvSpPr>
        <p:spPr>
          <a:xfrm>
            <a:off x="8138160" y="4846320"/>
            <a:ext cx="3610080" cy="1369800"/>
          </a:xfrm>
          <a:prstGeom prst="roundRect">
            <a:avLst>
              <a:gd name="adj" fmla="val 5333"/>
            </a:avLst>
          </a:prstGeom>
          <a:solidFill>
            <a:srgbClr val="ffffff"/>
          </a:solidFill>
          <a:ln w="12700">
            <a:solidFill>
              <a:srgbClr val="e4e4e4"/>
            </a:solidFill>
            <a:round/>
          </a:ln>
          <a:effectLst>
            <a:outerShdw algn="bl" blurRad="101520" dir="5400000" dist="38160" kx="0" ky="0" rotWithShape="0" sx="100000" sy="100000">
              <a:srgbClr val="666666">
                <a:alpha val="18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66" name="Shape 37"/>
          <p:cNvSpPr/>
          <p:nvPr/>
        </p:nvSpPr>
        <p:spPr>
          <a:xfrm>
            <a:off x="8366760" y="5074920"/>
            <a:ext cx="455400" cy="45540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67" name="Text 38"/>
          <p:cNvSpPr/>
          <p:nvPr/>
        </p:nvSpPr>
        <p:spPr>
          <a:xfrm>
            <a:off x="8366760" y="5056560"/>
            <a:ext cx="455400" cy="45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000000"/>
              </a:solidFill>
              <a:latin typeface="Arial"/>
            </a:endParaRPr>
          </a:p>
        </p:txBody>
      </p:sp>
      <p:sp>
        <p:nvSpPr>
          <p:cNvPr id="368" name="Text 39"/>
          <p:cNvSpPr/>
          <p:nvPr/>
        </p:nvSpPr>
        <p:spPr>
          <a:xfrm>
            <a:off x="8366760" y="5623560"/>
            <a:ext cx="3152880" cy="546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1250" spc="-1" strike="noStrike">
                <a:solidFill>
                  <a:srgbClr val="000000"/>
                </a:solidFill>
                <a:latin typeface="Calibri"/>
                <a:ea typeface="Calibri"/>
              </a:rPr>
              <a:t>Architecture séparée et maintenable</a:t>
            </a:r>
            <a:endParaRPr b="0" lang="fr-FR"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9" name="Text 0"/>
          <p:cNvSpPr/>
          <p:nvPr/>
        </p:nvSpPr>
        <p:spPr>
          <a:xfrm>
            <a:off x="548640" y="384120"/>
            <a:ext cx="7313400" cy="27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86" strike="noStrike">
                <a:solidFill>
                  <a:srgbClr val="1a237e"/>
                </a:solidFill>
                <a:latin typeface="Calibri"/>
                <a:ea typeface="Calibri"/>
              </a:rPr>
              <a:t>PERSPECTIVES D'ÉVOLUTION</a:t>
            </a:r>
            <a:endParaRPr b="0" lang="fr-FR" sz="1200" spc="-1" strike="noStrike">
              <a:solidFill>
                <a:srgbClr val="000000"/>
              </a:solidFill>
              <a:latin typeface="Arial"/>
            </a:endParaRPr>
          </a:p>
        </p:txBody>
      </p:sp>
      <p:sp>
        <p:nvSpPr>
          <p:cNvPr id="370" name="Text 1"/>
          <p:cNvSpPr/>
          <p:nvPr/>
        </p:nvSpPr>
        <p:spPr>
          <a:xfrm>
            <a:off x="548640" y="658440"/>
            <a:ext cx="10513800" cy="729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pc="-1" strike="noStrike">
                <a:solidFill>
                  <a:srgbClr val="000000"/>
                </a:solidFill>
                <a:latin typeface="Cambria"/>
                <a:ea typeface="Cambria"/>
              </a:rPr>
              <a:t>Limites et améliorations futures</a:t>
            </a:r>
            <a:endParaRPr b="0" lang="fr-FR" sz="3200" spc="-1" strike="noStrike">
              <a:solidFill>
                <a:srgbClr val="000000"/>
              </a:solidFill>
              <a:latin typeface="Arial"/>
            </a:endParaRPr>
          </a:p>
        </p:txBody>
      </p:sp>
      <p:sp>
        <p:nvSpPr>
          <p:cNvPr id="371" name="Text 2"/>
          <p:cNvSpPr/>
          <p:nvPr/>
        </p:nvSpPr>
        <p:spPr>
          <a:xfrm>
            <a:off x="11548800" y="6446520"/>
            <a:ext cx="455400" cy="27252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747878"/>
                </a:solidFill>
                <a:latin typeface="Calibri"/>
                <a:ea typeface="Calibri"/>
              </a:rPr>
              <a:t>19</a:t>
            </a:r>
            <a:endParaRPr b="0" lang="fr-FR" sz="1000" spc="-1" strike="noStrike">
              <a:solidFill>
                <a:srgbClr val="000000"/>
              </a:solidFill>
              <a:latin typeface="Arial"/>
            </a:endParaRPr>
          </a:p>
        </p:txBody>
      </p:sp>
      <p:sp>
        <p:nvSpPr>
          <p:cNvPr id="372" name="Shape 4"/>
          <p:cNvSpPr/>
          <p:nvPr/>
        </p:nvSpPr>
        <p:spPr>
          <a:xfrm>
            <a:off x="777240" y="1737360"/>
            <a:ext cx="363960" cy="36396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73" name="Text 5"/>
          <p:cNvSpPr/>
          <p:nvPr/>
        </p:nvSpPr>
        <p:spPr>
          <a:xfrm>
            <a:off x="777240" y="1719000"/>
            <a:ext cx="363960" cy="36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a:t>
            </a:r>
            <a:endParaRPr b="0" lang="fr-FR" sz="1400" spc="-1" strike="noStrike">
              <a:solidFill>
                <a:srgbClr val="000000"/>
              </a:solidFill>
              <a:latin typeface="Arial"/>
            </a:endParaRPr>
          </a:p>
        </p:txBody>
      </p:sp>
      <p:sp>
        <p:nvSpPr>
          <p:cNvPr id="374" name="Text 6"/>
          <p:cNvSpPr/>
          <p:nvPr/>
        </p:nvSpPr>
        <p:spPr>
          <a:xfrm>
            <a:off x="1371600" y="1592280"/>
            <a:ext cx="9873720" cy="656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00" spc="-1" strike="noStrike">
                <a:solidFill>
                  <a:srgbClr val="000000"/>
                </a:solidFill>
                <a:latin typeface="Calibri"/>
                <a:ea typeface="Calibri"/>
              </a:rPr>
              <a:t>Ajout de notifications push natives</a:t>
            </a:r>
            <a:endParaRPr b="0" lang="fr-FR" sz="1500" spc="-1" strike="noStrike">
              <a:solidFill>
                <a:srgbClr val="000000"/>
              </a:solidFill>
              <a:latin typeface="Arial"/>
            </a:endParaRPr>
          </a:p>
        </p:txBody>
      </p:sp>
      <p:sp>
        <p:nvSpPr>
          <p:cNvPr id="375" name="Shape 7"/>
          <p:cNvSpPr/>
          <p:nvPr/>
        </p:nvSpPr>
        <p:spPr>
          <a:xfrm>
            <a:off x="777240" y="2487240"/>
            <a:ext cx="363960" cy="36396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76" name="Text 8"/>
          <p:cNvSpPr/>
          <p:nvPr/>
        </p:nvSpPr>
        <p:spPr>
          <a:xfrm>
            <a:off x="777240" y="2468880"/>
            <a:ext cx="363960" cy="36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a:t>
            </a:r>
            <a:endParaRPr b="0" lang="fr-FR" sz="1400" spc="-1" strike="noStrike">
              <a:solidFill>
                <a:srgbClr val="000000"/>
              </a:solidFill>
              <a:latin typeface="Arial"/>
            </a:endParaRPr>
          </a:p>
        </p:txBody>
      </p:sp>
      <p:sp>
        <p:nvSpPr>
          <p:cNvPr id="377" name="Text 9"/>
          <p:cNvSpPr/>
          <p:nvPr/>
        </p:nvSpPr>
        <p:spPr>
          <a:xfrm>
            <a:off x="1371600" y="2414160"/>
            <a:ext cx="9873720" cy="656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00" spc="-1" strike="noStrike">
                <a:solidFill>
                  <a:srgbClr val="000000"/>
                </a:solidFill>
                <a:latin typeface="Calibri"/>
                <a:ea typeface="Calibri"/>
              </a:rPr>
              <a:t>Amélioration de la synchronisation hors ligne</a:t>
            </a:r>
            <a:endParaRPr b="0" lang="fr-FR" sz="1500" spc="-1" strike="noStrike">
              <a:solidFill>
                <a:srgbClr val="000000"/>
              </a:solidFill>
              <a:latin typeface="Arial"/>
            </a:endParaRPr>
          </a:p>
        </p:txBody>
      </p:sp>
      <p:sp>
        <p:nvSpPr>
          <p:cNvPr id="378" name="Shape 10"/>
          <p:cNvSpPr/>
          <p:nvPr/>
        </p:nvSpPr>
        <p:spPr>
          <a:xfrm>
            <a:off x="777240" y="3237120"/>
            <a:ext cx="363960" cy="36396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79" name="Text 11"/>
          <p:cNvSpPr/>
          <p:nvPr/>
        </p:nvSpPr>
        <p:spPr>
          <a:xfrm>
            <a:off x="777240" y="3218760"/>
            <a:ext cx="363960" cy="36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a:t>
            </a:r>
            <a:endParaRPr b="0" lang="fr-FR" sz="1400" spc="-1" strike="noStrike">
              <a:solidFill>
                <a:srgbClr val="000000"/>
              </a:solidFill>
              <a:latin typeface="Arial"/>
            </a:endParaRPr>
          </a:p>
        </p:txBody>
      </p:sp>
      <p:sp>
        <p:nvSpPr>
          <p:cNvPr id="380" name="Text 12"/>
          <p:cNvSpPr/>
          <p:nvPr/>
        </p:nvSpPr>
        <p:spPr>
          <a:xfrm>
            <a:off x="1371600" y="3163680"/>
            <a:ext cx="9873720" cy="656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00" spc="-1" strike="noStrike">
                <a:solidFill>
                  <a:srgbClr val="000000"/>
                </a:solidFill>
                <a:latin typeface="Calibri"/>
                <a:ea typeface="Calibri"/>
              </a:rPr>
              <a:t>Ajout du chiffrement de bout en bout</a:t>
            </a:r>
            <a:endParaRPr b="0" lang="fr-FR" sz="1500" spc="-1" strike="noStrike">
              <a:solidFill>
                <a:srgbClr val="000000"/>
              </a:solidFill>
              <a:latin typeface="Arial"/>
            </a:endParaRPr>
          </a:p>
        </p:txBody>
      </p:sp>
      <p:sp>
        <p:nvSpPr>
          <p:cNvPr id="381" name="Shape 22"/>
          <p:cNvSpPr/>
          <p:nvPr/>
        </p:nvSpPr>
        <p:spPr>
          <a:xfrm>
            <a:off x="777240" y="4148280"/>
            <a:ext cx="363960" cy="363960"/>
          </a:xfrm>
          <a:prstGeom prst="ellipse">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82" name="Text 23"/>
          <p:cNvSpPr/>
          <p:nvPr/>
        </p:nvSpPr>
        <p:spPr>
          <a:xfrm>
            <a:off x="777240" y="4129920"/>
            <a:ext cx="363960" cy="36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1565c0"/>
                </a:solidFill>
                <a:latin typeface="Calibri"/>
                <a:ea typeface="Calibri"/>
              </a:rPr>
              <a:t>→</a:t>
            </a:r>
            <a:endParaRPr b="0" lang="fr-FR" sz="1400" spc="-1" strike="noStrike">
              <a:solidFill>
                <a:srgbClr val="000000"/>
              </a:solidFill>
              <a:latin typeface="Arial"/>
            </a:endParaRPr>
          </a:p>
        </p:txBody>
      </p:sp>
      <p:sp>
        <p:nvSpPr>
          <p:cNvPr id="383" name="Text 24"/>
          <p:cNvSpPr/>
          <p:nvPr/>
        </p:nvSpPr>
        <p:spPr>
          <a:xfrm>
            <a:off x="1371600" y="4003200"/>
            <a:ext cx="9873720" cy="656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500" spc="-1" strike="noStrike">
                <a:solidFill>
                  <a:srgbClr val="000000"/>
                </a:solidFill>
                <a:latin typeface="Calibri"/>
                <a:ea typeface="Calibri"/>
              </a:rPr>
              <a:t>Amélioration de l'interface d'administration</a:t>
            </a:r>
            <a:endParaRPr b="0" lang="fr-FR"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84" name="Shape 0"/>
          <p:cNvSpPr/>
          <p:nvPr/>
        </p:nvSpPr>
        <p:spPr>
          <a:xfrm>
            <a:off x="-2286000" y="3657600"/>
            <a:ext cx="6399000" cy="6399000"/>
          </a:xfrm>
          <a:prstGeom prst="ellipse">
            <a:avLst/>
          </a:prstGeom>
          <a:solidFill>
            <a:srgbClr val="1a237e">
              <a:alpha val="45000"/>
            </a:srgbClr>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85" name="Text 1"/>
          <p:cNvSpPr/>
          <p:nvPr/>
        </p:nvSpPr>
        <p:spPr>
          <a:xfrm>
            <a:off x="731520" y="685800"/>
            <a:ext cx="5484600" cy="36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88" strike="noStrike">
                <a:solidFill>
                  <a:srgbClr val="1565c0"/>
                </a:solidFill>
                <a:latin typeface="Calibri"/>
                <a:ea typeface="Calibri"/>
              </a:rPr>
              <a:t>CONCLUSION</a:t>
            </a:r>
            <a:endParaRPr b="0" lang="fr-FR" sz="1300" spc="-1" strike="noStrike">
              <a:solidFill>
                <a:srgbClr val="ffffff"/>
              </a:solidFill>
              <a:latin typeface="Arial"/>
            </a:endParaRPr>
          </a:p>
        </p:txBody>
      </p:sp>
      <p:sp>
        <p:nvSpPr>
          <p:cNvPr id="386" name="Text 2"/>
          <p:cNvSpPr/>
          <p:nvPr/>
        </p:nvSpPr>
        <p:spPr>
          <a:xfrm>
            <a:off x="731520" y="1097280"/>
            <a:ext cx="7770600" cy="136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5000"/>
              </a:lnSpc>
              <a:tabLst>
                <a:tab algn="l" pos="0"/>
              </a:tabLst>
            </a:pPr>
            <a:r>
              <a:rPr b="1" lang="en-US" sz="3000" spc="-1" strike="noStrike">
                <a:solidFill>
                  <a:srgbClr val="ffffff"/>
                </a:solidFill>
                <a:latin typeface="Cambria"/>
                <a:ea typeface="Cambria"/>
              </a:rPr>
              <a:t>Un réseau social universitaire</a:t>
            </a:r>
            <a:endParaRPr b="0" lang="fr-FR" sz="3000" spc="-1" strike="noStrike">
              <a:solidFill>
                <a:srgbClr val="ffffff"/>
              </a:solidFill>
              <a:latin typeface="Arial"/>
            </a:endParaRPr>
          </a:p>
          <a:p>
            <a:pPr defTabSz="914400">
              <a:lnSpc>
                <a:spcPct val="105000"/>
              </a:lnSpc>
              <a:tabLst>
                <a:tab algn="l" pos="0"/>
              </a:tabLst>
            </a:pPr>
            <a:r>
              <a:rPr b="1" lang="en-US" sz="3000" spc="-1" strike="noStrike">
                <a:solidFill>
                  <a:srgbClr val="ffffff"/>
                </a:solidFill>
                <a:latin typeface="Cambria"/>
                <a:ea typeface="Cambria"/>
              </a:rPr>
              <a:t>connecté et en temps réel</a:t>
            </a:r>
            <a:endParaRPr b="0" lang="fr-FR" sz="3000" spc="-1" strike="noStrike">
              <a:solidFill>
                <a:srgbClr val="ffffff"/>
              </a:solidFill>
              <a:latin typeface="Arial"/>
            </a:endParaRPr>
          </a:p>
        </p:txBody>
      </p:sp>
      <p:sp>
        <p:nvSpPr>
          <p:cNvPr id="387" name="Shape 3"/>
          <p:cNvSpPr/>
          <p:nvPr/>
        </p:nvSpPr>
        <p:spPr>
          <a:xfrm>
            <a:off x="731520" y="2788920"/>
            <a:ext cx="363960" cy="36396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88" name="Text 4"/>
          <p:cNvSpPr/>
          <p:nvPr/>
        </p:nvSpPr>
        <p:spPr>
          <a:xfrm>
            <a:off x="731520" y="2770560"/>
            <a:ext cx="363960" cy="36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ffffff"/>
              </a:solidFill>
              <a:latin typeface="Arial"/>
            </a:endParaRPr>
          </a:p>
        </p:txBody>
      </p:sp>
      <p:sp>
        <p:nvSpPr>
          <p:cNvPr id="389" name="Text 5"/>
          <p:cNvSpPr/>
          <p:nvPr/>
        </p:nvSpPr>
        <p:spPr>
          <a:xfrm>
            <a:off x="1325880" y="2734200"/>
            <a:ext cx="9599400" cy="50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pc="-1" strike="noStrike">
                <a:solidFill>
                  <a:srgbClr val="ffffff"/>
                </a:solidFill>
                <a:latin typeface="Calibri"/>
                <a:ea typeface="Calibri"/>
              </a:rPr>
              <a:t>Répond aux besoins de communication du réseau universitaire de l'ENI</a:t>
            </a:r>
            <a:endParaRPr b="0" lang="fr-FR" sz="1400" spc="-1" strike="noStrike">
              <a:solidFill>
                <a:srgbClr val="ffffff"/>
              </a:solidFill>
              <a:latin typeface="Arial"/>
            </a:endParaRPr>
          </a:p>
        </p:txBody>
      </p:sp>
      <p:sp>
        <p:nvSpPr>
          <p:cNvPr id="390" name="Shape 6"/>
          <p:cNvSpPr/>
          <p:nvPr/>
        </p:nvSpPr>
        <p:spPr>
          <a:xfrm>
            <a:off x="731520" y="3383280"/>
            <a:ext cx="363960" cy="36396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91" name="Text 7"/>
          <p:cNvSpPr/>
          <p:nvPr/>
        </p:nvSpPr>
        <p:spPr>
          <a:xfrm>
            <a:off x="731520" y="3364920"/>
            <a:ext cx="363960" cy="36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ffffff"/>
              </a:solidFill>
              <a:latin typeface="Arial"/>
            </a:endParaRPr>
          </a:p>
        </p:txBody>
      </p:sp>
      <p:sp>
        <p:nvSpPr>
          <p:cNvPr id="392" name="Text 8"/>
          <p:cNvSpPr/>
          <p:nvPr/>
        </p:nvSpPr>
        <p:spPr>
          <a:xfrm>
            <a:off x="1325880" y="3328560"/>
            <a:ext cx="9599400" cy="50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pc="-1" strike="noStrike">
                <a:solidFill>
                  <a:srgbClr val="ffffff"/>
                </a:solidFill>
                <a:latin typeface="Calibri"/>
                <a:ea typeface="Calibri"/>
              </a:rPr>
              <a:t>Architecture claire séparant frontend, backend et base de données</a:t>
            </a:r>
            <a:endParaRPr b="0" lang="fr-FR" sz="1400" spc="-1" strike="noStrike">
              <a:solidFill>
                <a:srgbClr val="ffffff"/>
              </a:solidFill>
              <a:latin typeface="Arial"/>
            </a:endParaRPr>
          </a:p>
        </p:txBody>
      </p:sp>
      <p:sp>
        <p:nvSpPr>
          <p:cNvPr id="393" name="Shape 9"/>
          <p:cNvSpPr/>
          <p:nvPr/>
        </p:nvSpPr>
        <p:spPr>
          <a:xfrm>
            <a:off x="731520" y="3977640"/>
            <a:ext cx="363960" cy="36396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94" name="Text 10"/>
          <p:cNvSpPr/>
          <p:nvPr/>
        </p:nvSpPr>
        <p:spPr>
          <a:xfrm>
            <a:off x="731520" y="3959280"/>
            <a:ext cx="363960" cy="36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ffffff"/>
              </a:solidFill>
              <a:latin typeface="Arial"/>
            </a:endParaRPr>
          </a:p>
        </p:txBody>
      </p:sp>
      <p:sp>
        <p:nvSpPr>
          <p:cNvPr id="395" name="Text 11"/>
          <p:cNvSpPr/>
          <p:nvPr/>
        </p:nvSpPr>
        <p:spPr>
          <a:xfrm>
            <a:off x="1325880" y="3922920"/>
            <a:ext cx="9599400" cy="50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pc="-1" strike="noStrike">
                <a:solidFill>
                  <a:srgbClr val="ffffff"/>
                </a:solidFill>
                <a:latin typeface="Calibri"/>
                <a:ea typeface="Calibri"/>
              </a:rPr>
              <a:t>WebSocket / STOMP pour une communication réellement en temps réel</a:t>
            </a:r>
            <a:endParaRPr b="0" lang="fr-FR" sz="1400" spc="-1" strike="noStrike">
              <a:solidFill>
                <a:srgbClr val="ffffff"/>
              </a:solidFill>
              <a:latin typeface="Arial"/>
            </a:endParaRPr>
          </a:p>
        </p:txBody>
      </p:sp>
      <p:sp>
        <p:nvSpPr>
          <p:cNvPr id="396" name="Shape 12"/>
          <p:cNvSpPr/>
          <p:nvPr/>
        </p:nvSpPr>
        <p:spPr>
          <a:xfrm>
            <a:off x="731520" y="4572000"/>
            <a:ext cx="363960" cy="36396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97" name="Text 13"/>
          <p:cNvSpPr/>
          <p:nvPr/>
        </p:nvSpPr>
        <p:spPr>
          <a:xfrm>
            <a:off x="731520" y="4553640"/>
            <a:ext cx="363960" cy="36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ffffff"/>
              </a:solidFill>
              <a:latin typeface="Arial"/>
            </a:endParaRPr>
          </a:p>
        </p:txBody>
      </p:sp>
      <p:sp>
        <p:nvSpPr>
          <p:cNvPr id="398" name="Text 14"/>
          <p:cNvSpPr/>
          <p:nvPr/>
        </p:nvSpPr>
        <p:spPr>
          <a:xfrm>
            <a:off x="1325880" y="4517280"/>
            <a:ext cx="9599400" cy="50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pc="-1" strike="noStrike">
                <a:solidFill>
                  <a:srgbClr val="ffffff"/>
                </a:solidFill>
                <a:latin typeface="Calibri"/>
                <a:ea typeface="Calibri"/>
              </a:rPr>
              <a:t>Spring Boot assure la sécurité et la logique métier</a:t>
            </a:r>
            <a:endParaRPr b="0" lang="fr-FR" sz="1400" spc="-1" strike="noStrike">
              <a:solidFill>
                <a:srgbClr val="ffffff"/>
              </a:solidFill>
              <a:latin typeface="Arial"/>
            </a:endParaRPr>
          </a:p>
        </p:txBody>
      </p:sp>
      <p:sp>
        <p:nvSpPr>
          <p:cNvPr id="399" name="Shape 15"/>
          <p:cNvSpPr/>
          <p:nvPr/>
        </p:nvSpPr>
        <p:spPr>
          <a:xfrm>
            <a:off x="731520" y="5166360"/>
            <a:ext cx="363960" cy="363960"/>
          </a:xfrm>
          <a:prstGeom prst="ellipse">
            <a:avLst/>
          </a:prstGeom>
          <a:solidFill>
            <a:srgbClr val="1565c0"/>
          </a:solidFill>
          <a:ln w="0">
            <a:noFill/>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400" name="Text 16"/>
          <p:cNvSpPr/>
          <p:nvPr/>
        </p:nvSpPr>
        <p:spPr>
          <a:xfrm>
            <a:off x="731520" y="5148000"/>
            <a:ext cx="363960" cy="36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pc="-1" strike="noStrike">
                <a:solidFill>
                  <a:srgbClr val="000000"/>
                </a:solidFill>
                <a:latin typeface="Calibri"/>
                <a:ea typeface="Calibri"/>
              </a:rPr>
              <a:t>✓</a:t>
            </a:r>
            <a:endParaRPr b="0" lang="fr-FR" sz="1400" spc="-1" strike="noStrike">
              <a:solidFill>
                <a:srgbClr val="ffffff"/>
              </a:solidFill>
              <a:latin typeface="Arial"/>
            </a:endParaRPr>
          </a:p>
        </p:txBody>
      </p:sp>
      <p:sp>
        <p:nvSpPr>
          <p:cNvPr id="401" name="Text 17"/>
          <p:cNvSpPr/>
          <p:nvPr/>
        </p:nvSpPr>
        <p:spPr>
          <a:xfrm>
            <a:off x="1325880" y="5111640"/>
            <a:ext cx="9599400" cy="501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pc="-1" strike="noStrike">
                <a:solidFill>
                  <a:srgbClr val="ffffff"/>
                </a:solidFill>
                <a:latin typeface="Calibri"/>
                <a:ea typeface="Calibri"/>
              </a:rPr>
              <a:t>Flutter offre une interface mobile moderne et multiplateforme</a:t>
            </a:r>
            <a:endParaRPr b="0" lang="fr-FR" sz="1400" spc="-1" strike="noStrike">
              <a:solidFill>
                <a:srgbClr val="ffffff"/>
              </a:solidFill>
              <a:latin typeface="Arial"/>
            </a:endParaRPr>
          </a:p>
        </p:txBody>
      </p:sp>
      <p:sp>
        <p:nvSpPr>
          <p:cNvPr id="402" name="Text 18"/>
          <p:cNvSpPr/>
          <p:nvPr/>
        </p:nvSpPr>
        <p:spPr>
          <a:xfrm>
            <a:off x="731520" y="5943600"/>
            <a:ext cx="10056600" cy="63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i="1" lang="en-US" sz="2400" spc="-1" strike="noStrike">
                <a:solidFill>
                  <a:srgbClr val="1565c0"/>
                </a:solidFill>
                <a:latin typeface="Cambria"/>
                <a:ea typeface="Cambria"/>
              </a:rPr>
              <a:t>Merci pour votre attention — Questions ?</a:t>
            </a:r>
            <a:endParaRPr b="0" lang="fr-FR" sz="2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125</TotalTime>
  <Application>LibreOffice/24.2.7.2$Linux_X86_64 LibreOffice_project/420$Build-2</Application>
  <AppVersion>15.0000</AppVersion>
  <Words>0</Words>
  <Paragraphs>0</Paragraphs>
  <Company>ENI</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2026-08-30T10:10:45Z</dcterms:created>
  <dc:creator>Amedé Rakotonandrasana</dc:creator>
  <dc:description/>
  <dc:language>fr-FR</dc:language>
  <cp:lastModifiedBy/>
  <dcterms:modified xsi:type="dcterms:W3CDTF">2026-08-31T17:35:26Z</dcterms:modified>
  <cp:revision>34</cp:revision>
  <dc:subject>PptxGenJS Presentation</dc:subject>
  <dc:title>Messagerie Bot - Réseau Social Universitaire ENI</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22</vt:i4>
  </property>
  <property fmtid="{D5CDD505-2E9C-101B-9397-08002B2CF9AE}" pid="3" name="PresentationFormat">
    <vt:lpwstr>On-screen Show (16:9)</vt:lpwstr>
  </property>
  <property fmtid="{D5CDD505-2E9C-101B-9397-08002B2CF9AE}" pid="4" name="Slides">
    <vt:i4>22</vt:i4>
  </property>
</Properties>
</file>